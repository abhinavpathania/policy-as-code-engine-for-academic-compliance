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showSpecialPlsOnTitleSld="0">
  <p:sldMasterIdLst>
    <p:sldMasterId id="2147483648" r:id="rId5"/>
    <p:sldMasterId id="214748365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6858000" cx="9144000"/>
  <p:notesSz cx="9942500" cy="6761150"/>
  <p:embeddedFontLst>
    <p:embeddedFont>
      <p:font typeface="Tahoma"/>
      <p:regular r:id="rId48"/>
      <p:bold r:id="rId49"/>
    </p:embeddedFont>
    <p:embeddedFont>
      <p:font typeface="Helvetica Neue"/>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A4A3A4"/>
          </p15:clr>
        </p15:guide>
        <p15:guide id="2" pos="521">
          <p15:clr>
            <a:srgbClr val="A4A3A4"/>
          </p15:clr>
        </p15:guide>
      </p15:sldGuideLst>
    </p:ext>
    <p:ext uri="{2D200454-40CA-4A62-9FC3-DE9A4176ACB9}">
      <p15:notesGuideLst>
        <p15:guide id="1" orient="horz" pos="2130">
          <p15:clr>
            <a:srgbClr val="A4A3A4"/>
          </p15:clr>
        </p15:guide>
        <p15:guide id="2" pos="3133">
          <p15:clr>
            <a:srgbClr val="A4A3A4"/>
          </p15:clr>
        </p15:guide>
      </p15:notesGuideLst>
    </p:ext>
    <p:ext uri="GoogleSlidesCustomDataVersion2">
      <go:slidesCustomData xmlns:go="http://customooxmlschemas.google.com/" r:id="rId54" roundtripDataSignature="AMtx7mjI2z+BXCETj8TAXztNymxPjy5m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8F8B75-1C41-4D90-AD48-C5B47D00A216}">
  <a:tblStyle styleId="{898F8B75-1C41-4D90-AD48-C5B47D00A216}" styleName="Table_0">
    <a:wholeTbl>
      <a:tcTxStyle b="off" i="off">
        <a:font>
          <a:latin typeface="Helvetica"/>
          <a:ea typeface="Helvetica"/>
          <a:cs typeface="Helvetic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font>
          <a:latin typeface="Helvetica"/>
          <a:ea typeface="Helvetica"/>
          <a:cs typeface="Helvetica"/>
        </a:font>
        <a:schemeClr val="lt1"/>
      </a:tcTxStyle>
      <a:tcStyle>
        <a:fill>
          <a:solidFill>
            <a:schemeClr val="accent4"/>
          </a:solidFill>
        </a:fill>
      </a:tcStyle>
    </a:lastCol>
    <a:firstCol>
      <a:tcTxStyle b="on" i="off">
        <a:font>
          <a:latin typeface="Helvetica"/>
          <a:ea typeface="Helvetica"/>
          <a:cs typeface="Helvetica"/>
        </a:font>
        <a:schemeClr val="lt1"/>
      </a:tcTxStyle>
      <a:tcStyle>
        <a:fill>
          <a:solidFill>
            <a:schemeClr val="accent4"/>
          </a:solidFill>
        </a:fill>
      </a:tcStyle>
    </a:firstCol>
    <a:lastRow>
      <a:tcTxStyle b="on" i="off">
        <a:font>
          <a:latin typeface="Helvetica"/>
          <a:ea typeface="Helvetica"/>
          <a:cs typeface="Helvetica"/>
        </a:font>
        <a:schemeClr val="lt1"/>
      </a:tcTxStyle>
      <a:tcStyle>
        <a:tcBdr>
          <a:top>
            <a:ln cap="flat" cmpd="sng" w="38100">
              <a:solidFill>
                <a:schemeClr val="lt1"/>
              </a:solidFill>
              <a:prstDash val="solid"/>
              <a:round/>
              <a:headEnd len="sm" w="sm" type="none"/>
              <a:tailEnd len="sm" w="sm" type="none"/>
            </a:ln>
          </a:top>
        </a:tcBdr>
        <a:fill>
          <a:solidFill>
            <a:schemeClr val="accent4"/>
          </a:solidFill>
        </a:fill>
      </a:tcStyle>
    </a:lastRow>
    <a:seCell>
      <a:tcTxStyle/>
    </a:seCell>
    <a:swCell>
      <a:tcTxStyle/>
    </a:swCell>
    <a:firstRow>
      <a:tcTxStyle b="on" i="off">
        <a:font>
          <a:latin typeface="Helvetica"/>
          <a:ea typeface="Helvetica"/>
          <a:cs typeface="Helvetica"/>
        </a:font>
        <a:schemeClr val="lt1"/>
      </a:tcTxStyle>
      <a:tcStyle>
        <a:tcBdr>
          <a:bottom>
            <a:ln cap="flat" cmpd="sng" w="38100">
              <a:solidFill>
                <a:schemeClr val="lt1"/>
              </a:solidFill>
              <a:prstDash val="solid"/>
              <a:round/>
              <a:headEnd len="sm" w="sm" type="none"/>
              <a:tailEnd len="sm" w="sm" type="none"/>
            </a:ln>
          </a:bottom>
        </a:tcBdr>
        <a:fill>
          <a:solidFill>
            <a:schemeClr val="accent4"/>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521"/>
      </p:guideLst>
    </p:cSldViewPr>
  </p:slideViewPr>
  <p:notesViewPr>
    <p:cSldViewPr snapToGrid="0">
      <p:cViewPr varScale="1">
        <p:scale>
          <a:sx n="100" d="100"/>
          <a:sy n="100" d="100"/>
        </p:scale>
        <p:origin x="0" y="0"/>
      </p:cViewPr>
      <p:guideLst>
        <p:guide pos="2130" orient="horz"/>
        <p:guide pos="3133"/>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Tahoma-regular.fntdata"/><Relationship Id="rId47" Type="http://schemas.openxmlformats.org/officeDocument/2006/relationships/slide" Target="slides/slide40.xml"/><Relationship Id="rId49" Type="http://schemas.openxmlformats.org/officeDocument/2006/relationships/font" Target="fonts/Tahoma-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HelveticaNeue-bold.fntdata"/><Relationship Id="rId50" Type="http://schemas.openxmlformats.org/officeDocument/2006/relationships/font" Target="fonts/HelveticaNeue-regular.fntdata"/><Relationship Id="rId53" Type="http://schemas.openxmlformats.org/officeDocument/2006/relationships/font" Target="fonts/HelveticaNeue-boldItalic.fntdata"/><Relationship Id="rId52" Type="http://schemas.openxmlformats.org/officeDocument/2006/relationships/font" Target="fonts/HelveticaNeue-italic.fntdata"/><Relationship Id="rId11" Type="http://schemas.openxmlformats.org/officeDocument/2006/relationships/slide" Target="slides/slide4.xml"/><Relationship Id="rId10" Type="http://schemas.openxmlformats.org/officeDocument/2006/relationships/slide" Target="slides/slide3.xml"/><Relationship Id="rId54" Type="http://customschemas.google.com/relationships/presentationmetadata" Target="meta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332288" cy="33337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5635625" y="0"/>
            <a:ext cx="4333875" cy="33337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1300163" y="3221038"/>
            <a:ext cx="7369175" cy="3051175"/>
          </a:xfrm>
          <a:prstGeom prst="rect">
            <a:avLst/>
          </a:prstGeom>
          <a:noFill/>
          <a:ln>
            <a:noFill/>
          </a:ln>
        </p:spPr>
        <p:txBody>
          <a:bodyPr anchorCtr="0" anchor="ctr" bIns="45700" lIns="91425" spcFirstLastPara="1" rIns="91425" wrap="square" tIns="45700">
            <a:noAutofit/>
          </a:bodyPr>
          <a:lstStyle>
            <a:lvl1pPr indent="-228600" lvl="0" marL="457200" marR="0" rtl="0" algn="l">
              <a:spcBef>
                <a:spcPts val="300"/>
              </a:spcBef>
              <a:spcAft>
                <a:spcPts val="0"/>
              </a:spcAft>
              <a:buSzPts val="1400"/>
              <a:buNone/>
              <a:defRPr b="0" i="0" sz="1000" u="none" cap="none" strike="noStrike">
                <a:solidFill>
                  <a:srgbClr val="E36C0A"/>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438900"/>
            <a:ext cx="4332288" cy="3333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5635625" y="6438900"/>
            <a:ext cx="4333875" cy="3333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1: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1:notes"/>
          <p:cNvSpPr txBox="1"/>
          <p:nvPr>
            <p:ph idx="1" type="body"/>
          </p:nvPr>
        </p:nvSpPr>
        <p:spPr>
          <a:xfrm>
            <a:off x="1300163" y="3221038"/>
            <a:ext cx="7369175" cy="30511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1" name="Google Shape;51;p2:notes"/>
          <p:cNvSpPr txBox="1"/>
          <p:nvPr>
            <p:ph idx="1" type="body"/>
          </p:nvPr>
        </p:nvSpPr>
        <p:spPr>
          <a:xfrm>
            <a:off x="1300163" y="3221038"/>
            <a:ext cx="7369175" cy="30511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2:notes"/>
          <p:cNvSpPr txBox="1"/>
          <p:nvPr>
            <p:ph idx="12" type="sldNum"/>
          </p:nvPr>
        </p:nvSpPr>
        <p:spPr>
          <a:xfrm>
            <a:off x="5635625" y="6438900"/>
            <a:ext cx="4333875" cy="3333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59" name="Google Shape;59;p3: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65" name="Google Shape;65;p4: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5: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71" name="Google Shape;71;p5: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e280144eb_0_29: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e280144eb_0_29: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78" name="Google Shape;78;g3ae280144eb_0_29:notes"/>
          <p:cNvSpPr txBox="1"/>
          <p:nvPr>
            <p:ph idx="12" type="sldNum"/>
          </p:nvPr>
        </p:nvSpPr>
        <p:spPr>
          <a:xfrm>
            <a:off x="5635625" y="6438900"/>
            <a:ext cx="4333800" cy="3333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e280144eb_0_52: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e280144eb_0_52: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88" name="Google Shape;88;g3ae280144eb_0_52:notes"/>
          <p:cNvSpPr txBox="1"/>
          <p:nvPr>
            <p:ph idx="12" type="sldNum"/>
          </p:nvPr>
        </p:nvSpPr>
        <p:spPr>
          <a:xfrm>
            <a:off x="5635625" y="6438900"/>
            <a:ext cx="4333800" cy="3333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e280144eb_0_96: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96" name="Google Shape;96;g3ae280144eb_0_96: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e280144eb_0_140: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e280144eb_0_140: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04" name="Google Shape;104;g3ae280144eb_0_140:notes"/>
          <p:cNvSpPr txBox="1"/>
          <p:nvPr>
            <p:ph idx="12" type="sldNum"/>
          </p:nvPr>
        </p:nvSpPr>
        <p:spPr>
          <a:xfrm>
            <a:off x="5635625" y="6438900"/>
            <a:ext cx="4333800" cy="3333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e280144eb_0_187: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e280144eb_0_187: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15" name="Google Shape;115;g3ae280144eb_0_187:notes"/>
          <p:cNvSpPr txBox="1"/>
          <p:nvPr>
            <p:ph idx="12" type="sldNum"/>
          </p:nvPr>
        </p:nvSpPr>
        <p:spPr>
          <a:xfrm>
            <a:off x="5635625" y="6438900"/>
            <a:ext cx="4333800" cy="3333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e280144eb_0_212: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e280144eb_0_212: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25" name="Google Shape;125;g3ae280144eb_0_212:notes"/>
          <p:cNvSpPr txBox="1"/>
          <p:nvPr>
            <p:ph idx="12" type="sldNum"/>
          </p:nvPr>
        </p:nvSpPr>
        <p:spPr>
          <a:xfrm>
            <a:off x="5635625" y="6438900"/>
            <a:ext cx="4333800" cy="3333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e280144eb_0_234: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e280144eb_0_234: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34" name="Google Shape;134;g3ae280144eb_0_234:notes"/>
          <p:cNvSpPr txBox="1"/>
          <p:nvPr>
            <p:ph idx="12" type="sldNum"/>
          </p:nvPr>
        </p:nvSpPr>
        <p:spPr>
          <a:xfrm>
            <a:off x="5635625" y="6438900"/>
            <a:ext cx="4333800" cy="3333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e280144eb_0_259: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44" name="Google Shape;144;g3ae280144eb_0_259: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e280144eb_0_279: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51" name="Google Shape;151;g3ae280144eb_0_279: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e280144eb_0_299: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e280144eb_0_299: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59" name="Google Shape;159;g3ae280144eb_0_299:notes"/>
          <p:cNvSpPr txBox="1"/>
          <p:nvPr>
            <p:ph idx="12" type="sldNum"/>
          </p:nvPr>
        </p:nvSpPr>
        <p:spPr>
          <a:xfrm>
            <a:off x="5635625" y="6438900"/>
            <a:ext cx="4333800" cy="3333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67" name="Google Shape;167;p11: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73" name="Google Shape;173;p12: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3: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81" name="Google Shape;181;p13: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4: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89" name="Google Shape;189;p14: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97" name="Google Shape;197;p15: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6: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03" name="Google Shape;203;p16: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7: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09" name="Google Shape;209;p17: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8: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15" name="Google Shape;215;p18: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9: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21" name="Google Shape;221;p19: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0: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31" name="Google Shape;231;p20: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e1340ba12_2_21: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39" name="Google Shape;239;g3ae1340ba12_2_21: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1: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47" name="Google Shape;247;p21: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2: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56" name="Google Shape;256;p22: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3: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65" name="Google Shape;265;p23: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4: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73" name="Google Shape;273;p24: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5: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79" name="Google Shape;279;p25: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e280144eb_0_341: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86" name="Google Shape;286;g3ae280144eb_0_341: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7: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93" name="Google Shape;293;p27: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ae280144eb_0_361: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300" name="Google Shape;300;g3ae280144eb_0_361: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8: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307" name="Google Shape;307;p28: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9: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313" name="Google Shape;313;p29: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e280144eb_0_386: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320" name="Google Shape;320;g3ae280144eb_0_386: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ae280144eb_0_405: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326" name="Google Shape;326;g3ae280144eb_0_405: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ae280144eb_0_424: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332" name="Google Shape;332;g3ae280144eb_0_424: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3: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338" name="Google Shape;338;p33: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7" name="Shape 17"/>
        <p:cNvGrpSpPr/>
        <p:nvPr/>
      </p:nvGrpSpPr>
      <p:grpSpPr>
        <a:xfrm>
          <a:off x="0" y="0"/>
          <a:ext cx="0" cy="0"/>
          <a:chOff x="0" y="0"/>
          <a:chExt cx="0" cy="0"/>
        </a:xfrm>
      </p:grpSpPr>
      <p:sp>
        <p:nvSpPr>
          <p:cNvPr id="18" name="Google Shape;18;p35"/>
          <p:cNvSpPr txBox="1"/>
          <p:nvPr>
            <p:ph type="ctrTitle"/>
          </p:nvPr>
        </p:nvSpPr>
        <p:spPr>
          <a:xfrm>
            <a:off x="755373" y="685800"/>
            <a:ext cx="7901609" cy="1615966"/>
          </a:xfrm>
          <a:prstGeom prst="rect">
            <a:avLst/>
          </a:prstGeom>
          <a:solidFill>
            <a:srgbClr val="D2691E"/>
          </a:solidFill>
          <a:ln cap="flat" cmpd="sng" w="9525">
            <a:solidFill>
              <a:srgbClr val="D2691E"/>
            </a:solidFill>
            <a:prstDash val="solid"/>
            <a:round/>
            <a:headEnd len="sm" w="sm" type="none"/>
            <a:tailEnd len="sm" w="sm" type="none"/>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 name="Shape 19"/>
        <p:cNvGrpSpPr/>
        <p:nvPr/>
      </p:nvGrpSpPr>
      <p:grpSpPr>
        <a:xfrm>
          <a:off x="0" y="0"/>
          <a:ext cx="0" cy="0"/>
          <a:chOff x="0" y="0"/>
          <a:chExt cx="0" cy="0"/>
        </a:xfrm>
      </p:grpSpPr>
      <p:sp>
        <p:nvSpPr>
          <p:cNvPr id="20" name="Google Shape;20;p36"/>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36"/>
          <p:cNvSpPr txBox="1"/>
          <p:nvPr>
            <p:ph idx="1" type="body"/>
          </p:nvPr>
        </p:nvSpPr>
        <p:spPr>
          <a:xfrm>
            <a:off x="86197" y="782321"/>
            <a:ext cx="8953500" cy="5976288"/>
          </a:xfrm>
          <a:prstGeom prst="rect">
            <a:avLst/>
          </a:prstGeom>
          <a:noFill/>
          <a:ln>
            <a:noFill/>
          </a:ln>
        </p:spPr>
        <p:txBody>
          <a:bodyPr anchorCtr="0" anchor="t" bIns="45700" lIns="91425" spcFirstLastPara="1" rIns="91425" wrap="square" tIns="45700">
            <a:noAutofit/>
          </a:bodyPr>
          <a:lstStyle>
            <a:lvl1pPr indent="-371475" lvl="0" marL="457200" algn="just">
              <a:lnSpc>
                <a:spcPct val="150000"/>
              </a:lnSpc>
              <a:spcBef>
                <a:spcPts val="630"/>
              </a:spcBef>
              <a:spcAft>
                <a:spcPts val="0"/>
              </a:spcAft>
              <a:buSzPts val="2250"/>
              <a:buChar char="•"/>
              <a:defRPr sz="1800">
                <a:latin typeface="Helvetica Neue"/>
                <a:ea typeface="Helvetica Neue"/>
                <a:cs typeface="Helvetica Neue"/>
                <a:sym typeface="Helvetica Neue"/>
              </a:defRPr>
            </a:lvl1pPr>
            <a:lvl2pPr indent="-330200" lvl="1" marL="914400" algn="just">
              <a:lnSpc>
                <a:spcPct val="150000"/>
              </a:lnSpc>
              <a:spcBef>
                <a:spcPts val="560"/>
              </a:spcBef>
              <a:spcAft>
                <a:spcPts val="0"/>
              </a:spcAft>
              <a:buSzPts val="1600"/>
              <a:buChar char="o"/>
              <a:defRPr sz="1600">
                <a:latin typeface="Helvetica Neue"/>
                <a:ea typeface="Helvetica Neue"/>
                <a:cs typeface="Helvetica Neue"/>
                <a:sym typeface="Helvetica Neue"/>
              </a:defRPr>
            </a:lvl2pPr>
            <a:lvl3pPr indent="-304800" lvl="2" marL="1371600" algn="just">
              <a:lnSpc>
                <a:spcPct val="150000"/>
              </a:lnSpc>
              <a:spcBef>
                <a:spcPts val="560"/>
              </a:spcBef>
              <a:spcAft>
                <a:spcPts val="0"/>
              </a:spcAft>
              <a:buSzPts val="1200"/>
              <a:buChar char="4"/>
              <a:defRPr sz="1600">
                <a:latin typeface="Helvetica Neue"/>
                <a:ea typeface="Helvetica Neue"/>
                <a:cs typeface="Helvetica Neue"/>
                <a:sym typeface="Helvetica Neue"/>
              </a:defRPr>
            </a:lvl3pPr>
            <a:lvl4pPr indent="-304800" lvl="3" marL="18288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4pPr>
            <a:lvl5pPr indent="-304800" lvl="4" marL="22860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cxnSp>
        <p:nvCxnSpPr>
          <p:cNvPr id="22" name="Google Shape;22;p36"/>
          <p:cNvCxnSpPr/>
          <p:nvPr/>
        </p:nvCxnSpPr>
        <p:spPr>
          <a:xfrm>
            <a:off x="579120" y="6658235"/>
            <a:ext cx="7934960" cy="0"/>
          </a:xfrm>
          <a:prstGeom prst="straightConnector1">
            <a:avLst/>
          </a:prstGeom>
          <a:solidFill>
            <a:schemeClr val="accent1"/>
          </a:solidFill>
          <a:ln cap="flat" cmpd="sng" w="9525">
            <a:solidFill>
              <a:srgbClr val="005493"/>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1" name="Shape 31"/>
        <p:cNvGrpSpPr/>
        <p:nvPr/>
      </p:nvGrpSpPr>
      <p:grpSpPr>
        <a:xfrm>
          <a:off x="0" y="0"/>
          <a:ext cx="0" cy="0"/>
          <a:chOff x="0" y="0"/>
          <a:chExt cx="0" cy="0"/>
        </a:xfrm>
      </p:grpSpPr>
      <p:sp>
        <p:nvSpPr>
          <p:cNvPr id="32" name="Google Shape;32;g3ae280144eb_0_399"/>
          <p:cNvSpPr txBox="1"/>
          <p:nvPr>
            <p:ph type="ctrTitle"/>
          </p:nvPr>
        </p:nvSpPr>
        <p:spPr>
          <a:xfrm>
            <a:off x="755373" y="685800"/>
            <a:ext cx="7901700" cy="1616100"/>
          </a:xfrm>
          <a:prstGeom prst="rect">
            <a:avLst/>
          </a:prstGeom>
          <a:solidFill>
            <a:srgbClr val="D2691E"/>
          </a:solidFill>
          <a:ln cap="flat" cmpd="sng" w="9525">
            <a:solidFill>
              <a:srgbClr val="D2691E"/>
            </a:solidFill>
            <a:prstDash val="solid"/>
            <a:round/>
            <a:headEnd len="sm" w="sm" type="none"/>
            <a:tailEnd len="sm" w="sm" type="none"/>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3" name="Shape 33"/>
        <p:cNvGrpSpPr/>
        <p:nvPr/>
      </p:nvGrpSpPr>
      <p:grpSpPr>
        <a:xfrm>
          <a:off x="0" y="0"/>
          <a:ext cx="0" cy="0"/>
          <a:chOff x="0" y="0"/>
          <a:chExt cx="0" cy="0"/>
        </a:xfrm>
      </p:grpSpPr>
      <p:sp>
        <p:nvSpPr>
          <p:cNvPr id="34" name="Google Shape;34;g3ae280144eb_0_401"/>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g3ae280144eb_0_401"/>
          <p:cNvSpPr txBox="1"/>
          <p:nvPr>
            <p:ph idx="1" type="body"/>
          </p:nvPr>
        </p:nvSpPr>
        <p:spPr>
          <a:xfrm>
            <a:off x="86197" y="782321"/>
            <a:ext cx="8953500" cy="5976300"/>
          </a:xfrm>
          <a:prstGeom prst="rect">
            <a:avLst/>
          </a:prstGeom>
          <a:noFill/>
          <a:ln>
            <a:noFill/>
          </a:ln>
        </p:spPr>
        <p:txBody>
          <a:bodyPr anchorCtr="0" anchor="t" bIns="45700" lIns="91425" spcFirstLastPara="1" rIns="91425" wrap="square" tIns="45700">
            <a:noAutofit/>
          </a:bodyPr>
          <a:lstStyle>
            <a:lvl1pPr indent="-371475" lvl="0" marL="457200" algn="just">
              <a:lnSpc>
                <a:spcPct val="150000"/>
              </a:lnSpc>
              <a:spcBef>
                <a:spcPts val="630"/>
              </a:spcBef>
              <a:spcAft>
                <a:spcPts val="0"/>
              </a:spcAft>
              <a:buSzPts val="2250"/>
              <a:buChar char="•"/>
              <a:defRPr sz="1800">
                <a:latin typeface="Helvetica Neue"/>
                <a:ea typeface="Helvetica Neue"/>
                <a:cs typeface="Helvetica Neue"/>
                <a:sym typeface="Helvetica Neue"/>
              </a:defRPr>
            </a:lvl1pPr>
            <a:lvl2pPr indent="-330200" lvl="1" marL="914400" algn="just">
              <a:lnSpc>
                <a:spcPct val="150000"/>
              </a:lnSpc>
              <a:spcBef>
                <a:spcPts val="560"/>
              </a:spcBef>
              <a:spcAft>
                <a:spcPts val="0"/>
              </a:spcAft>
              <a:buSzPts val="1600"/>
              <a:buChar char="o"/>
              <a:defRPr sz="1600">
                <a:latin typeface="Helvetica Neue"/>
                <a:ea typeface="Helvetica Neue"/>
                <a:cs typeface="Helvetica Neue"/>
                <a:sym typeface="Helvetica Neue"/>
              </a:defRPr>
            </a:lvl2pPr>
            <a:lvl3pPr indent="-304800" lvl="2" marL="1371600" algn="just">
              <a:lnSpc>
                <a:spcPct val="150000"/>
              </a:lnSpc>
              <a:spcBef>
                <a:spcPts val="560"/>
              </a:spcBef>
              <a:spcAft>
                <a:spcPts val="0"/>
              </a:spcAft>
              <a:buSzPts val="1200"/>
              <a:buChar char="4"/>
              <a:defRPr sz="1600">
                <a:latin typeface="Helvetica Neue"/>
                <a:ea typeface="Helvetica Neue"/>
                <a:cs typeface="Helvetica Neue"/>
                <a:sym typeface="Helvetica Neue"/>
              </a:defRPr>
            </a:lvl3pPr>
            <a:lvl4pPr indent="-304800" lvl="3" marL="18288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4pPr>
            <a:lvl5pPr indent="-304800" lvl="4" marL="22860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cxnSp>
        <p:nvCxnSpPr>
          <p:cNvPr id="36" name="Google Shape;36;g3ae280144eb_0_401"/>
          <p:cNvCxnSpPr/>
          <p:nvPr/>
        </p:nvCxnSpPr>
        <p:spPr>
          <a:xfrm>
            <a:off x="579120" y="6658235"/>
            <a:ext cx="7935000" cy="0"/>
          </a:xfrm>
          <a:prstGeom prst="straightConnector1">
            <a:avLst/>
          </a:prstGeom>
          <a:solidFill>
            <a:schemeClr val="accent1"/>
          </a:solidFill>
          <a:ln cap="flat" cmpd="sng" w="9525">
            <a:solidFill>
              <a:srgbClr val="005493"/>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4"/>
          <p:cNvSpPr txBox="1"/>
          <p:nvPr>
            <p:ph type="title"/>
          </p:nvPr>
        </p:nvSpPr>
        <p:spPr>
          <a:xfrm>
            <a:off x="30480" y="27846"/>
            <a:ext cx="8328751"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lvl1pPr lvl="0" marR="0" rtl="0" algn="l">
              <a:spcBef>
                <a:spcPts val="0"/>
              </a:spcBef>
              <a:spcAft>
                <a:spcPts val="0"/>
              </a:spcAft>
              <a:buSzPts val="1400"/>
              <a:buNone/>
              <a:defRPr b="1" i="0" sz="2400" u="none" cap="none" strike="noStrike">
                <a:solidFill>
                  <a:schemeClr val="lt1"/>
                </a:solidFill>
                <a:latin typeface="Helvetica Neue"/>
                <a:ea typeface="Helvetica Neue"/>
                <a:cs typeface="Helvetica Neue"/>
                <a:sym typeface="Helvetica Neue"/>
              </a:defRPr>
            </a:lvl1pPr>
            <a:lvl2pPr lvl="1"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2pPr>
            <a:lvl3pPr lvl="2"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3pPr>
            <a:lvl4pPr lvl="3"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4pPr>
            <a:lvl5pPr lvl="4"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5pPr>
            <a:lvl6pPr lvl="5"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11" name="Google Shape;11;p34"/>
          <p:cNvSpPr txBox="1"/>
          <p:nvPr>
            <p:ph idx="1" type="body"/>
          </p:nvPr>
        </p:nvSpPr>
        <p:spPr>
          <a:xfrm>
            <a:off x="86197" y="782321"/>
            <a:ext cx="8953500" cy="5831590"/>
          </a:xfrm>
          <a:prstGeom prst="rect">
            <a:avLst/>
          </a:prstGeom>
          <a:noFill/>
          <a:ln>
            <a:noFill/>
          </a:ln>
        </p:spPr>
        <p:txBody>
          <a:bodyPr anchorCtr="0" anchor="t" bIns="45700" lIns="91425" spcFirstLastPara="1" rIns="91425" wrap="square" tIns="45700">
            <a:noAutofit/>
          </a:bodyPr>
          <a:lstStyle>
            <a:lvl1pPr indent="-371475" lvl="0" marL="457200" marR="0" rtl="0" algn="just">
              <a:lnSpc>
                <a:spcPct val="150000"/>
              </a:lnSpc>
              <a:spcBef>
                <a:spcPts val="630"/>
              </a:spcBef>
              <a:spcAft>
                <a:spcPts val="0"/>
              </a:spcAft>
              <a:buClr>
                <a:schemeClr val="dk1"/>
              </a:buClr>
              <a:buSzPts val="2250"/>
              <a:buFont typeface="Arial"/>
              <a:buChar char="•"/>
              <a:defRPr b="0" i="0" sz="1800" u="none" cap="none" strike="noStrike">
                <a:solidFill>
                  <a:schemeClr val="dk1"/>
                </a:solidFill>
                <a:latin typeface="Helvetica Neue"/>
                <a:ea typeface="Helvetica Neue"/>
                <a:cs typeface="Helvetica Neue"/>
                <a:sym typeface="Helvetica Neue"/>
              </a:defRPr>
            </a:lvl1pPr>
            <a:lvl2pPr indent="-330200" lvl="1" marL="914400" marR="0" rtl="0" algn="just">
              <a:lnSpc>
                <a:spcPct val="150000"/>
              </a:lnSpc>
              <a:spcBef>
                <a:spcPts val="560"/>
              </a:spcBef>
              <a:spcAft>
                <a:spcPts val="0"/>
              </a:spcAft>
              <a:buClr>
                <a:schemeClr val="dk1"/>
              </a:buClr>
              <a:buSzPts val="1600"/>
              <a:buFont typeface="Courier New"/>
              <a:buChar char="o"/>
              <a:defRPr b="0" i="0" sz="1600" u="none" cap="none" strike="noStrike">
                <a:solidFill>
                  <a:schemeClr val="dk1"/>
                </a:solidFill>
                <a:latin typeface="Helvetica Neue"/>
                <a:ea typeface="Helvetica Neue"/>
                <a:cs typeface="Helvetica Neue"/>
                <a:sym typeface="Helvetica Neue"/>
              </a:defRPr>
            </a:lvl2pPr>
            <a:lvl3pPr indent="-304800" lvl="2" marL="1371600" marR="0" rtl="0" algn="just">
              <a:lnSpc>
                <a:spcPct val="150000"/>
              </a:lnSpc>
              <a:spcBef>
                <a:spcPts val="560"/>
              </a:spcBef>
              <a:spcAft>
                <a:spcPts val="0"/>
              </a:spcAft>
              <a:buClr>
                <a:srgbClr val="009900"/>
              </a:buClr>
              <a:buSzPts val="1200"/>
              <a:buFont typeface="Arimo"/>
              <a:buChar char="4"/>
              <a:defRPr b="0" i="0" sz="1600" u="none" cap="none" strike="noStrike">
                <a:solidFill>
                  <a:schemeClr val="dk1"/>
                </a:solidFill>
                <a:latin typeface="Helvetica Neue"/>
                <a:ea typeface="Helvetica Neue"/>
                <a:cs typeface="Helvetica Neue"/>
                <a:sym typeface="Helvetica Neue"/>
              </a:defRPr>
            </a:lvl3pPr>
            <a:lvl4pPr indent="-304800" lvl="3" marL="1828800" marR="0" rtl="0" algn="just">
              <a:lnSpc>
                <a:spcPct val="150000"/>
              </a:lnSpc>
              <a:spcBef>
                <a:spcPts val="560"/>
              </a:spcBef>
              <a:spcAft>
                <a:spcPts val="0"/>
              </a:spcAft>
              <a:buClr>
                <a:schemeClr val="hlink"/>
              </a:buClr>
              <a:buSzPts val="1200"/>
              <a:buFont typeface="Helvetica Neue"/>
              <a:buChar char="–"/>
              <a:defRPr b="0" i="0" sz="1600" u="none" cap="none" strike="noStrike">
                <a:solidFill>
                  <a:schemeClr val="dk1"/>
                </a:solidFill>
                <a:latin typeface="Helvetica Neue"/>
                <a:ea typeface="Helvetica Neue"/>
                <a:cs typeface="Helvetica Neue"/>
                <a:sym typeface="Helvetica Neue"/>
              </a:defRPr>
            </a:lvl4pPr>
            <a:lvl5pPr indent="-304800" lvl="4" marL="2286000" marR="0" rtl="0" algn="just">
              <a:lnSpc>
                <a:spcPct val="150000"/>
              </a:lnSpc>
              <a:spcBef>
                <a:spcPts val="560"/>
              </a:spcBef>
              <a:spcAft>
                <a:spcPts val="0"/>
              </a:spcAft>
              <a:buClr>
                <a:srgbClr val="FF0066"/>
              </a:buClr>
              <a:buSzPts val="1200"/>
              <a:buFont typeface="Helvetica Neue"/>
              <a:buChar char="»"/>
              <a:defRPr b="0" i="0" sz="16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2" name="Google Shape;12;p34"/>
          <p:cNvSpPr txBox="1"/>
          <p:nvPr/>
        </p:nvSpPr>
        <p:spPr>
          <a:xfrm>
            <a:off x="4259263" y="6126163"/>
            <a:ext cx="1928812" cy="2460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chemeClr val="lt1"/>
                </a:solidFill>
                <a:latin typeface="Helvetica Neue"/>
                <a:ea typeface="Helvetica Neue"/>
                <a:cs typeface="Helvetica Neue"/>
                <a:sym typeface="Helvetica Neue"/>
              </a:rPr>
              <a:t>Wednesday, November 12, 2025</a:t>
            </a:r>
            <a:endParaRPr b="1" i="0" sz="1000" u="none" cap="none" strike="noStrike">
              <a:solidFill>
                <a:schemeClr val="lt1"/>
              </a:solidFill>
              <a:latin typeface="Helvetica Neue"/>
              <a:ea typeface="Helvetica Neue"/>
              <a:cs typeface="Helvetica Neue"/>
              <a:sym typeface="Helvetica Neue"/>
            </a:endParaRPr>
          </a:p>
        </p:txBody>
      </p:sp>
      <p:pic>
        <p:nvPicPr>
          <p:cNvPr descr="JUIT Office Photos | Glassdoor" id="13" name="Google Shape;13;p34"/>
          <p:cNvPicPr preferRelativeResize="0"/>
          <p:nvPr/>
        </p:nvPicPr>
        <p:blipFill rotWithShape="1">
          <a:blip r:embed="rId1">
            <a:alphaModFix/>
          </a:blip>
          <a:srcRect b="0" l="0" r="0" t="0"/>
          <a:stretch/>
        </p:blipFill>
        <p:spPr>
          <a:xfrm>
            <a:off x="8349072" y="42901"/>
            <a:ext cx="815248" cy="679009"/>
          </a:xfrm>
          <a:prstGeom prst="rect">
            <a:avLst/>
          </a:prstGeom>
          <a:noFill/>
          <a:ln>
            <a:noFill/>
          </a:ln>
        </p:spPr>
      </p:pic>
      <p:sp>
        <p:nvSpPr>
          <p:cNvPr id="14" name="Google Shape;14;p34"/>
          <p:cNvSpPr txBox="1"/>
          <p:nvPr/>
        </p:nvSpPr>
        <p:spPr>
          <a:xfrm>
            <a:off x="123673" y="6687228"/>
            <a:ext cx="8694256" cy="195391"/>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0" i="0" lang="en-US" sz="950" u="none" cap="none" strike="noStrike">
                <a:solidFill>
                  <a:srgbClr val="002060"/>
                </a:solidFill>
                <a:latin typeface="Palatino"/>
                <a:ea typeface="Palatino"/>
                <a:cs typeface="Palatino"/>
                <a:sym typeface="Palatino"/>
              </a:rPr>
              <a:t>       </a:t>
            </a:r>
            <a:r>
              <a:rPr b="0" i="0" lang="en-US" sz="900" u="none" cap="none" strike="noStrike">
                <a:solidFill>
                  <a:srgbClr val="002060"/>
                </a:solidFill>
                <a:latin typeface="Palatino"/>
                <a:ea typeface="Palatino"/>
                <a:cs typeface="Palatino"/>
                <a:sym typeface="Palatino"/>
              </a:rPr>
              <a:t>Major Project – I (18B19CI791) End-Term Evaluation (ETE) | Department of CSE &amp; IT | AY 2025-26. </a:t>
            </a:r>
            <a:endParaRPr/>
          </a:p>
        </p:txBody>
      </p:sp>
      <p:sp>
        <p:nvSpPr>
          <p:cNvPr id="15" name="Google Shape;15;p34"/>
          <p:cNvSpPr txBox="1"/>
          <p:nvPr/>
        </p:nvSpPr>
        <p:spPr>
          <a:xfrm>
            <a:off x="8798560" y="6613912"/>
            <a:ext cx="259243" cy="246062"/>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950" u="none" cap="none" strike="noStrike">
              <a:solidFill>
                <a:srgbClr val="002060"/>
              </a:solidFill>
              <a:latin typeface="Palatino"/>
              <a:ea typeface="Palatino"/>
              <a:cs typeface="Palatino"/>
              <a:sym typeface="Palatino"/>
            </a:endParaRPr>
          </a:p>
        </p:txBody>
      </p:sp>
      <p:sp>
        <p:nvSpPr>
          <p:cNvPr id="16" name="Google Shape;16;p34"/>
          <p:cNvSpPr txBox="1"/>
          <p:nvPr/>
        </p:nvSpPr>
        <p:spPr>
          <a:xfrm>
            <a:off x="8798560" y="6644391"/>
            <a:ext cx="3657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n-US" sz="900" u="none" cap="none" strike="noStrike">
                <a:solidFill>
                  <a:srgbClr val="005493"/>
                </a:solidFill>
                <a:latin typeface="Palatino"/>
                <a:ea typeface="Palatino"/>
                <a:cs typeface="Palatino"/>
                <a:sym typeface="Palatino"/>
              </a:rPr>
              <a:t>‹#›</a:t>
            </a:fld>
            <a:r>
              <a:rPr b="0" i="0" lang="en-US" sz="900" u="none" cap="none" strike="noStrike">
                <a:solidFill>
                  <a:srgbClr val="005493"/>
                </a:solidFill>
                <a:latin typeface="Palatino"/>
                <a:ea typeface="Palatino"/>
                <a:cs typeface="Palatino"/>
                <a:sym typeface="Palatino"/>
              </a:rPr>
              <a:t>.</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 name="Shape 23"/>
        <p:cNvGrpSpPr/>
        <p:nvPr/>
      </p:nvGrpSpPr>
      <p:grpSpPr>
        <a:xfrm>
          <a:off x="0" y="0"/>
          <a:ext cx="0" cy="0"/>
          <a:chOff x="0" y="0"/>
          <a:chExt cx="0" cy="0"/>
        </a:xfrm>
      </p:grpSpPr>
      <p:sp>
        <p:nvSpPr>
          <p:cNvPr id="24" name="Google Shape;24;g3ae280144eb_0_391"/>
          <p:cNvSpPr txBox="1"/>
          <p:nvPr>
            <p:ph type="title"/>
          </p:nvPr>
        </p:nvSpPr>
        <p:spPr>
          <a:xfrm>
            <a:off x="30480" y="27846"/>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lvl1pPr lvl="0" marR="0" algn="l">
              <a:spcBef>
                <a:spcPts val="0"/>
              </a:spcBef>
              <a:spcAft>
                <a:spcPts val="0"/>
              </a:spcAft>
              <a:buSzPts val="1400"/>
              <a:buNone/>
              <a:defRPr b="1" i="0" sz="2400" u="none" cap="none" strike="noStrike">
                <a:solidFill>
                  <a:schemeClr val="lt1"/>
                </a:solidFill>
                <a:latin typeface="Helvetica Neue"/>
                <a:ea typeface="Helvetica Neue"/>
                <a:cs typeface="Helvetica Neue"/>
                <a:sym typeface="Helvetica Neue"/>
              </a:defRPr>
            </a:lvl1pPr>
            <a:lvl2pPr lvl="1" marR="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2pPr>
            <a:lvl3pPr lvl="2" marR="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3pPr>
            <a:lvl4pPr lvl="3" marR="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4pPr>
            <a:lvl5pPr lvl="4" marR="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5pPr>
            <a:lvl6pPr lvl="5" marR="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25" name="Google Shape;25;g3ae280144eb_0_391"/>
          <p:cNvSpPr txBox="1"/>
          <p:nvPr>
            <p:ph idx="1" type="body"/>
          </p:nvPr>
        </p:nvSpPr>
        <p:spPr>
          <a:xfrm>
            <a:off x="86197" y="782321"/>
            <a:ext cx="8953500" cy="5831700"/>
          </a:xfrm>
          <a:prstGeom prst="rect">
            <a:avLst/>
          </a:prstGeom>
          <a:noFill/>
          <a:ln>
            <a:noFill/>
          </a:ln>
        </p:spPr>
        <p:txBody>
          <a:bodyPr anchorCtr="0" anchor="t" bIns="45700" lIns="91425" spcFirstLastPara="1" rIns="91425" wrap="square" tIns="45700">
            <a:noAutofit/>
          </a:bodyPr>
          <a:lstStyle>
            <a:lvl1pPr indent="-371475" lvl="0" marL="457200" marR="0" algn="just">
              <a:lnSpc>
                <a:spcPct val="150000"/>
              </a:lnSpc>
              <a:spcBef>
                <a:spcPts val="630"/>
              </a:spcBef>
              <a:spcAft>
                <a:spcPts val="0"/>
              </a:spcAft>
              <a:buClr>
                <a:schemeClr val="dk1"/>
              </a:buClr>
              <a:buSzPts val="2250"/>
              <a:buFont typeface="Arial"/>
              <a:buChar char="•"/>
              <a:defRPr b="0" i="0" sz="1800" u="none" cap="none" strike="noStrike">
                <a:solidFill>
                  <a:schemeClr val="dk1"/>
                </a:solidFill>
                <a:latin typeface="Helvetica Neue"/>
                <a:ea typeface="Helvetica Neue"/>
                <a:cs typeface="Helvetica Neue"/>
                <a:sym typeface="Helvetica Neue"/>
              </a:defRPr>
            </a:lvl1pPr>
            <a:lvl2pPr indent="-330200" lvl="1" marL="914400" marR="0" algn="just">
              <a:lnSpc>
                <a:spcPct val="150000"/>
              </a:lnSpc>
              <a:spcBef>
                <a:spcPts val="560"/>
              </a:spcBef>
              <a:spcAft>
                <a:spcPts val="0"/>
              </a:spcAft>
              <a:buClr>
                <a:schemeClr val="dk1"/>
              </a:buClr>
              <a:buSzPts val="1600"/>
              <a:buFont typeface="Courier New"/>
              <a:buChar char="o"/>
              <a:defRPr b="0" i="0" sz="1600" u="none" cap="none" strike="noStrike">
                <a:solidFill>
                  <a:schemeClr val="dk1"/>
                </a:solidFill>
                <a:latin typeface="Helvetica Neue"/>
                <a:ea typeface="Helvetica Neue"/>
                <a:cs typeface="Helvetica Neue"/>
                <a:sym typeface="Helvetica Neue"/>
              </a:defRPr>
            </a:lvl2pPr>
            <a:lvl3pPr indent="-304800" lvl="2" marL="1371600" marR="0" algn="just">
              <a:lnSpc>
                <a:spcPct val="150000"/>
              </a:lnSpc>
              <a:spcBef>
                <a:spcPts val="560"/>
              </a:spcBef>
              <a:spcAft>
                <a:spcPts val="0"/>
              </a:spcAft>
              <a:buClr>
                <a:srgbClr val="009900"/>
              </a:buClr>
              <a:buSzPts val="1200"/>
              <a:buFont typeface="Arimo"/>
              <a:buChar char="4"/>
              <a:defRPr b="0" i="0" sz="1600" u="none" cap="none" strike="noStrike">
                <a:solidFill>
                  <a:schemeClr val="dk1"/>
                </a:solidFill>
                <a:latin typeface="Helvetica Neue"/>
                <a:ea typeface="Helvetica Neue"/>
                <a:cs typeface="Helvetica Neue"/>
                <a:sym typeface="Helvetica Neue"/>
              </a:defRPr>
            </a:lvl3pPr>
            <a:lvl4pPr indent="-304800" lvl="3" marL="1828800" marR="0" algn="just">
              <a:lnSpc>
                <a:spcPct val="150000"/>
              </a:lnSpc>
              <a:spcBef>
                <a:spcPts val="560"/>
              </a:spcBef>
              <a:spcAft>
                <a:spcPts val="0"/>
              </a:spcAft>
              <a:buClr>
                <a:schemeClr val="hlink"/>
              </a:buClr>
              <a:buSzPts val="1200"/>
              <a:buFont typeface="Helvetica Neue"/>
              <a:buChar char="–"/>
              <a:defRPr b="0" i="0" sz="1600" u="none" cap="none" strike="noStrike">
                <a:solidFill>
                  <a:schemeClr val="dk1"/>
                </a:solidFill>
                <a:latin typeface="Helvetica Neue"/>
                <a:ea typeface="Helvetica Neue"/>
                <a:cs typeface="Helvetica Neue"/>
                <a:sym typeface="Helvetica Neue"/>
              </a:defRPr>
            </a:lvl4pPr>
            <a:lvl5pPr indent="-304800" lvl="4" marL="2286000" marR="0" algn="just">
              <a:lnSpc>
                <a:spcPct val="150000"/>
              </a:lnSpc>
              <a:spcBef>
                <a:spcPts val="560"/>
              </a:spcBef>
              <a:spcAft>
                <a:spcPts val="0"/>
              </a:spcAft>
              <a:buClr>
                <a:srgbClr val="FF0066"/>
              </a:buClr>
              <a:buSzPts val="1200"/>
              <a:buFont typeface="Helvetica Neue"/>
              <a:buChar char="»"/>
              <a:defRPr b="0" i="0" sz="1600" u="none" cap="none" strike="noStrike">
                <a:solidFill>
                  <a:schemeClr val="dk1"/>
                </a:solidFill>
                <a:latin typeface="Helvetica Neue"/>
                <a:ea typeface="Helvetica Neue"/>
                <a:cs typeface="Helvetica Neue"/>
                <a:sym typeface="Helvetica Neue"/>
              </a:defRPr>
            </a:lvl5pPr>
            <a:lvl6pPr indent="-314325" lvl="5" marL="2743200" marR="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26" name="Google Shape;26;g3ae280144eb_0_391"/>
          <p:cNvSpPr txBox="1"/>
          <p:nvPr/>
        </p:nvSpPr>
        <p:spPr>
          <a:xfrm>
            <a:off x="4259263" y="6126163"/>
            <a:ext cx="19287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chemeClr val="lt1"/>
                </a:solidFill>
                <a:latin typeface="Helvetica Neue"/>
                <a:ea typeface="Helvetica Neue"/>
                <a:cs typeface="Helvetica Neue"/>
                <a:sym typeface="Helvetica Neue"/>
              </a:rPr>
              <a:t>Monday, September 8, 2025</a:t>
            </a:r>
            <a:endParaRPr b="1" i="0" sz="1000" u="none" cap="none" strike="noStrike">
              <a:solidFill>
                <a:schemeClr val="lt1"/>
              </a:solidFill>
              <a:latin typeface="Helvetica Neue"/>
              <a:ea typeface="Helvetica Neue"/>
              <a:cs typeface="Helvetica Neue"/>
              <a:sym typeface="Helvetica Neue"/>
            </a:endParaRPr>
          </a:p>
        </p:txBody>
      </p:sp>
      <p:pic>
        <p:nvPicPr>
          <p:cNvPr descr="JUIT Office Photos | Glassdoor" id="27" name="Google Shape;27;g3ae280144eb_0_391"/>
          <p:cNvPicPr preferRelativeResize="0"/>
          <p:nvPr/>
        </p:nvPicPr>
        <p:blipFill rotWithShape="1">
          <a:blip r:embed="rId1">
            <a:alphaModFix/>
          </a:blip>
          <a:srcRect b="0" l="0" r="0" t="0"/>
          <a:stretch/>
        </p:blipFill>
        <p:spPr>
          <a:xfrm>
            <a:off x="8349072" y="42901"/>
            <a:ext cx="815248" cy="679009"/>
          </a:xfrm>
          <a:prstGeom prst="rect">
            <a:avLst/>
          </a:prstGeom>
          <a:noFill/>
          <a:ln>
            <a:noFill/>
          </a:ln>
        </p:spPr>
      </p:pic>
      <p:sp>
        <p:nvSpPr>
          <p:cNvPr id="28" name="Google Shape;28;g3ae280144eb_0_391"/>
          <p:cNvSpPr txBox="1"/>
          <p:nvPr/>
        </p:nvSpPr>
        <p:spPr>
          <a:xfrm>
            <a:off x="123673" y="6687228"/>
            <a:ext cx="8694300" cy="1953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0" i="0" lang="en-US" sz="950" u="none" cap="none" strike="noStrike">
                <a:solidFill>
                  <a:srgbClr val="002060"/>
                </a:solidFill>
                <a:latin typeface="Palatino"/>
                <a:ea typeface="Palatino"/>
                <a:cs typeface="Palatino"/>
                <a:sym typeface="Palatino"/>
              </a:rPr>
              <a:t>       </a:t>
            </a:r>
            <a:r>
              <a:rPr b="0" i="0" lang="en-US" sz="900" u="none" cap="none" strike="noStrike">
                <a:solidFill>
                  <a:srgbClr val="002060"/>
                </a:solidFill>
                <a:latin typeface="Palatino"/>
                <a:ea typeface="Palatino"/>
                <a:cs typeface="Palatino"/>
                <a:sym typeface="Palatino"/>
              </a:rPr>
              <a:t>Major Project – I (18B19CI791) Mid-Term Evaluation | Department of CSE &amp; IT | AY 2025-26. </a:t>
            </a:r>
            <a:endParaRPr/>
          </a:p>
        </p:txBody>
      </p:sp>
      <p:sp>
        <p:nvSpPr>
          <p:cNvPr id="29" name="Google Shape;29;g3ae280144eb_0_391"/>
          <p:cNvSpPr txBox="1"/>
          <p:nvPr/>
        </p:nvSpPr>
        <p:spPr>
          <a:xfrm>
            <a:off x="8798560" y="6613912"/>
            <a:ext cx="259200" cy="2460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950" u="none" cap="none" strike="noStrike">
              <a:solidFill>
                <a:srgbClr val="002060"/>
              </a:solidFill>
              <a:latin typeface="Palatino"/>
              <a:ea typeface="Palatino"/>
              <a:cs typeface="Palatino"/>
              <a:sym typeface="Palatino"/>
            </a:endParaRPr>
          </a:p>
        </p:txBody>
      </p:sp>
      <p:sp>
        <p:nvSpPr>
          <p:cNvPr id="30" name="Google Shape;30;g3ae280144eb_0_391"/>
          <p:cNvSpPr txBox="1"/>
          <p:nvPr/>
        </p:nvSpPr>
        <p:spPr>
          <a:xfrm>
            <a:off x="8798560" y="6644391"/>
            <a:ext cx="365700" cy="230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n-US" sz="900" u="none" cap="none" strike="noStrike">
                <a:solidFill>
                  <a:srgbClr val="005493"/>
                </a:solidFill>
                <a:latin typeface="Palatino"/>
                <a:ea typeface="Palatino"/>
                <a:cs typeface="Palatino"/>
                <a:sym typeface="Palatino"/>
              </a:rPr>
              <a:t>‹#›</a:t>
            </a:fld>
            <a:r>
              <a:rPr b="0" i="0" lang="en-US" sz="900" u="none" cap="none" strike="noStrike">
                <a:solidFill>
                  <a:srgbClr val="005493"/>
                </a:solidFill>
                <a:latin typeface="Palatino"/>
                <a:ea typeface="Palatino"/>
                <a:cs typeface="Palatino"/>
                <a:sym typeface="Palatino"/>
              </a:rPr>
              <a:t>.</a:t>
            </a:r>
            <a:endParaRPr/>
          </a:p>
        </p:txBody>
      </p:sp>
    </p:spTree>
  </p:cSld>
  <p:clrMap accent1="accent1" accent2="accent2" accent3="accent3" accent4="accent4" accent5="accent5" accent6="accent6" bg1="lt1" bg2="dk2" tx1="dk1" tx2="lt2" folHlink="folHlink" hlink="hlink"/>
  <p:sldLayoutIdLst>
    <p:sldLayoutId id="2147483652" r:id="rId2"/>
    <p:sldLayoutId id="2147483653"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www.preprints.org/manuscript/202507.1665/v1?utm_source=chatgpt.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hyperlink" Target="https://arxiv.org/abs/2205.04754" TargetMode="External"/><Relationship Id="rId4" Type="http://schemas.openxmlformats.org/officeDocument/2006/relationships/hyperlink" Target="https://arxiv.org/abs/2205.04754" TargetMode="External"/><Relationship Id="rId5" Type="http://schemas.openxmlformats.org/officeDocument/2006/relationships/hyperlink" Target="https://arxiv.org/abs/2501.03847" TargetMode="External"/><Relationship Id="rId6" Type="http://schemas.openxmlformats.org/officeDocument/2006/relationships/hyperlink" Target="https://arxiv.org/abs/2501.03847"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1"/>
          <p:cNvSpPr txBox="1"/>
          <p:nvPr>
            <p:ph type="ctrTitle"/>
          </p:nvPr>
        </p:nvSpPr>
        <p:spPr>
          <a:xfrm>
            <a:off x="0" y="3163172"/>
            <a:ext cx="9144000" cy="1307700"/>
          </a:xfrm>
          <a:prstGeom prst="rect">
            <a:avLst/>
          </a:prstGeom>
          <a:solidFill>
            <a:srgbClr val="0037A4"/>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150000"/>
              </a:lnSpc>
              <a:spcBef>
                <a:spcPts val="0"/>
              </a:spcBef>
              <a:spcAft>
                <a:spcPts val="0"/>
              </a:spcAft>
              <a:buNone/>
            </a:pPr>
            <a:r>
              <a:rPr lang="en-US" sz="2100"/>
              <a:t>Policy-as-Code Engine for Academic Compliance using Retrieval-Augmented Generation for UGC, AICTE, and College Bylaws</a:t>
            </a:r>
            <a:endParaRPr b="1" sz="700"/>
          </a:p>
        </p:txBody>
      </p:sp>
      <p:sp>
        <p:nvSpPr>
          <p:cNvPr id="42" name="Google Shape;42;p1"/>
          <p:cNvSpPr/>
          <p:nvPr/>
        </p:nvSpPr>
        <p:spPr>
          <a:xfrm>
            <a:off x="1457427" y="2108091"/>
            <a:ext cx="6229141" cy="106952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i="0" lang="en-US" sz="2400" u="none" cap="none" strike="noStrike">
                <a:solidFill>
                  <a:schemeClr val="dk1"/>
                </a:solidFill>
                <a:latin typeface="Palatino"/>
                <a:ea typeface="Palatino"/>
                <a:cs typeface="Palatino"/>
                <a:sym typeface="Palatino"/>
              </a:rPr>
              <a:t>Major Project - I (18B19CI791) | AY 2025-26</a:t>
            </a:r>
            <a:endParaRPr/>
          </a:p>
          <a:p>
            <a:pPr indent="0" lvl="0" marL="0" marR="0" rtl="0" algn="ctr">
              <a:lnSpc>
                <a:spcPct val="150000"/>
              </a:lnSpc>
              <a:spcBef>
                <a:spcPts val="0"/>
              </a:spcBef>
              <a:spcAft>
                <a:spcPts val="0"/>
              </a:spcAft>
              <a:buNone/>
            </a:pPr>
            <a:r>
              <a:rPr b="1" i="0" lang="en-US" sz="2000" u="none" cap="none" strike="noStrike">
                <a:solidFill>
                  <a:schemeClr val="dk1"/>
                </a:solidFill>
                <a:latin typeface="Palatino"/>
                <a:ea typeface="Palatino"/>
                <a:cs typeface="Palatino"/>
                <a:sym typeface="Palatino"/>
              </a:rPr>
              <a:t>End-Term Evaluation | December 2025.</a:t>
            </a:r>
            <a:endParaRPr/>
          </a:p>
        </p:txBody>
      </p:sp>
      <p:sp>
        <p:nvSpPr>
          <p:cNvPr id="43" name="Google Shape;43;p1"/>
          <p:cNvSpPr txBox="1"/>
          <p:nvPr/>
        </p:nvSpPr>
        <p:spPr>
          <a:xfrm>
            <a:off x="517798" y="4498606"/>
            <a:ext cx="3620700" cy="245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Helvetica Neue"/>
                <a:ea typeface="Helvetica Neue"/>
                <a:cs typeface="Helvetica Neue"/>
                <a:sym typeface="Helvetica Neue"/>
              </a:rPr>
              <a:t>Group No.: 31</a:t>
            </a:r>
            <a:endParaRPr/>
          </a:p>
          <a:p>
            <a:pPr indent="0" lvl="0" marL="0" marR="0" rtl="0" algn="l">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0" lvl="0" marL="0" marR="0" rtl="0" algn="l">
              <a:lnSpc>
                <a:spcPct val="114000"/>
              </a:lnSpc>
              <a:spcBef>
                <a:spcPts val="0"/>
              </a:spcBef>
              <a:spcAft>
                <a:spcPts val="0"/>
              </a:spcAft>
              <a:buNone/>
            </a:pPr>
            <a:r>
              <a:rPr b="1" lang="en-US" sz="1600">
                <a:solidFill>
                  <a:schemeClr val="dk1"/>
                </a:solidFill>
                <a:latin typeface="Helvetica Neue"/>
                <a:ea typeface="Helvetica Neue"/>
                <a:cs typeface="Helvetica Neue"/>
                <a:sym typeface="Helvetica Neue"/>
              </a:rPr>
              <a:t>Team Member (s)</a:t>
            </a:r>
            <a:endParaRPr b="1" sz="1600">
              <a:solidFill>
                <a:schemeClr val="dk1"/>
              </a:solidFill>
              <a:latin typeface="Helvetica Neue"/>
              <a:ea typeface="Helvetica Neue"/>
              <a:cs typeface="Helvetica Neue"/>
              <a:sym typeface="Helvetica Neue"/>
            </a:endParaRPr>
          </a:p>
          <a:p>
            <a:pPr indent="-285750" lvl="0" marL="285750" marR="0" rtl="0" algn="l">
              <a:lnSpc>
                <a:spcPct val="125000"/>
              </a:lnSpc>
              <a:spcBef>
                <a:spcPts val="1200"/>
              </a:spcBef>
              <a:spcAft>
                <a:spcPts val="0"/>
              </a:spcAft>
              <a:buClr>
                <a:schemeClr val="dk1"/>
              </a:buClr>
              <a:buSzPts val="1500"/>
              <a:buFont typeface="Arial"/>
              <a:buChar char="•"/>
            </a:pPr>
            <a:r>
              <a:rPr lang="en-US" sz="1500">
                <a:solidFill>
                  <a:schemeClr val="dk1"/>
                </a:solidFill>
                <a:latin typeface="Tahoma"/>
                <a:ea typeface="Tahoma"/>
                <a:cs typeface="Tahoma"/>
                <a:sym typeface="Tahoma"/>
              </a:rPr>
              <a:t>Srishti Srivastava (221030346)  </a:t>
            </a:r>
            <a:endParaRPr/>
          </a:p>
          <a:p>
            <a:pPr indent="-285750" lvl="0" marL="285750" marR="0" rtl="0" algn="l">
              <a:lnSpc>
                <a:spcPct val="125000"/>
              </a:lnSpc>
              <a:spcBef>
                <a:spcPts val="0"/>
              </a:spcBef>
              <a:spcAft>
                <a:spcPts val="0"/>
              </a:spcAft>
              <a:buClr>
                <a:schemeClr val="dk1"/>
              </a:buClr>
              <a:buSzPts val="1500"/>
              <a:buFont typeface="Arial"/>
              <a:buChar char="•"/>
            </a:pPr>
            <a:r>
              <a:rPr lang="en-US" sz="1500">
                <a:solidFill>
                  <a:schemeClr val="dk1"/>
                </a:solidFill>
                <a:latin typeface="Tahoma"/>
                <a:ea typeface="Tahoma"/>
                <a:cs typeface="Tahoma"/>
                <a:sym typeface="Tahoma"/>
              </a:rPr>
              <a:t>Abhinav Pathania (221030171)</a:t>
            </a:r>
            <a:endParaRPr sz="1500">
              <a:solidFill>
                <a:schemeClr val="dk1"/>
              </a:solidFill>
              <a:latin typeface="Tahoma"/>
              <a:ea typeface="Tahoma"/>
              <a:cs typeface="Tahoma"/>
              <a:sym typeface="Tahoma"/>
            </a:endParaRPr>
          </a:p>
          <a:p>
            <a:pPr indent="-285750" lvl="0" marL="285750" marR="0" rtl="0" algn="l">
              <a:lnSpc>
                <a:spcPct val="125000"/>
              </a:lnSpc>
              <a:spcBef>
                <a:spcPts val="0"/>
              </a:spcBef>
              <a:spcAft>
                <a:spcPts val="0"/>
              </a:spcAft>
              <a:buClr>
                <a:schemeClr val="dk1"/>
              </a:buClr>
              <a:buSzPts val="1500"/>
              <a:buFont typeface="Arial"/>
              <a:buChar char="•"/>
            </a:pPr>
            <a:r>
              <a:rPr lang="en-US" sz="1500">
                <a:solidFill>
                  <a:schemeClr val="dk1"/>
                </a:solidFill>
                <a:latin typeface="Tahoma"/>
                <a:ea typeface="Tahoma"/>
                <a:cs typeface="Tahoma"/>
                <a:sym typeface="Tahoma"/>
              </a:rPr>
              <a:t>Pranav Sharma (221030196)</a:t>
            </a:r>
            <a:endParaRPr sz="1500">
              <a:solidFill>
                <a:schemeClr val="dk1"/>
              </a:solidFill>
              <a:latin typeface="Tahoma"/>
              <a:ea typeface="Tahoma"/>
              <a:cs typeface="Tahoma"/>
              <a:sym typeface="Tahoma"/>
            </a:endParaRPr>
          </a:p>
          <a:p>
            <a:pPr indent="-285750" lvl="0" marL="285750" marR="0" rtl="0" algn="l">
              <a:lnSpc>
                <a:spcPct val="125000"/>
              </a:lnSpc>
              <a:spcBef>
                <a:spcPts val="0"/>
              </a:spcBef>
              <a:spcAft>
                <a:spcPts val="0"/>
              </a:spcAft>
              <a:buClr>
                <a:schemeClr val="dk1"/>
              </a:buClr>
              <a:buSzPts val="1500"/>
              <a:buFont typeface="Arial"/>
              <a:buChar char="•"/>
            </a:pPr>
            <a:r>
              <a:rPr lang="en-US" sz="1500">
                <a:solidFill>
                  <a:schemeClr val="dk1"/>
                </a:solidFill>
                <a:latin typeface="Tahoma"/>
                <a:ea typeface="Tahoma"/>
                <a:cs typeface="Tahoma"/>
                <a:sym typeface="Tahoma"/>
              </a:rPr>
              <a:t>Kunal Bhan (221030439)</a:t>
            </a:r>
            <a:endParaRPr sz="1500">
              <a:solidFill>
                <a:schemeClr val="dk1"/>
              </a:solidFill>
              <a:latin typeface="Tahoma"/>
              <a:ea typeface="Tahoma"/>
              <a:cs typeface="Tahoma"/>
              <a:sym typeface="Tahoma"/>
            </a:endParaRPr>
          </a:p>
          <a:p>
            <a:pPr indent="0" lvl="0" marL="0" marR="0" rtl="0" algn="ctr">
              <a:spcBef>
                <a:spcPts val="0"/>
              </a:spcBef>
              <a:spcAft>
                <a:spcPts val="0"/>
              </a:spcAft>
              <a:buNone/>
            </a:pPr>
            <a:r>
              <a:t/>
            </a:r>
            <a:endParaRPr sz="1600">
              <a:solidFill>
                <a:schemeClr val="dk1"/>
              </a:solidFill>
              <a:latin typeface="Helvetica Neue"/>
              <a:ea typeface="Helvetica Neue"/>
              <a:cs typeface="Helvetica Neue"/>
              <a:sym typeface="Helvetica Neue"/>
            </a:endParaRPr>
          </a:p>
        </p:txBody>
      </p:sp>
      <p:sp>
        <p:nvSpPr>
          <p:cNvPr id="44" name="Google Shape;44;p1"/>
          <p:cNvSpPr txBox="1"/>
          <p:nvPr/>
        </p:nvSpPr>
        <p:spPr>
          <a:xfrm>
            <a:off x="4871438" y="5041029"/>
            <a:ext cx="4118400" cy="101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Helvetica Neue"/>
                <a:ea typeface="Helvetica Neue"/>
                <a:cs typeface="Helvetica Neue"/>
                <a:sym typeface="Helvetica Neue"/>
              </a:rPr>
              <a:t>Supervisor</a:t>
            </a:r>
            <a:endParaRPr/>
          </a:p>
          <a:p>
            <a:pPr indent="-342900" lvl="0" marL="342900" marR="0" rtl="0" algn="l">
              <a:lnSpc>
                <a:spcPct val="125000"/>
              </a:lnSpc>
              <a:spcBef>
                <a:spcPts val="1200"/>
              </a:spcBef>
              <a:spcAft>
                <a:spcPts val="0"/>
              </a:spcAft>
              <a:buClr>
                <a:schemeClr val="dk1"/>
              </a:buClr>
              <a:buSzPts val="1500"/>
              <a:buFont typeface="Arial"/>
              <a:buChar char="•"/>
            </a:pPr>
            <a:r>
              <a:rPr lang="en-US" sz="1500">
                <a:solidFill>
                  <a:schemeClr val="dk1"/>
                </a:solidFill>
                <a:latin typeface="Tahoma"/>
                <a:ea typeface="Tahoma"/>
                <a:cs typeface="Tahoma"/>
                <a:sym typeface="Tahoma"/>
              </a:rPr>
              <a:t>Name: Mr. Sandeep Kumar Patel</a:t>
            </a:r>
            <a:endParaRPr/>
          </a:p>
          <a:p>
            <a:pPr indent="0" lvl="0" marL="357188" marR="0" rtl="0" algn="l">
              <a:lnSpc>
                <a:spcPct val="125000"/>
              </a:lnSpc>
              <a:spcBef>
                <a:spcPts val="0"/>
              </a:spcBef>
              <a:spcAft>
                <a:spcPts val="0"/>
              </a:spcAft>
              <a:buNone/>
            </a:pPr>
            <a:r>
              <a:rPr lang="en-US" sz="1500">
                <a:solidFill>
                  <a:schemeClr val="dk1"/>
                </a:solidFill>
                <a:latin typeface="Tahoma"/>
                <a:ea typeface="Tahoma"/>
                <a:cs typeface="Tahoma"/>
                <a:sym typeface="Tahoma"/>
              </a:rPr>
              <a:t>Designation: Assistant Professor (Grade-I)</a:t>
            </a:r>
            <a:endParaRPr/>
          </a:p>
        </p:txBody>
      </p:sp>
      <p:pic>
        <p:nvPicPr>
          <p:cNvPr id="45" name="Google Shape;45;p1"/>
          <p:cNvPicPr preferRelativeResize="0"/>
          <p:nvPr/>
        </p:nvPicPr>
        <p:blipFill rotWithShape="1">
          <a:blip r:embed="rId3">
            <a:alphaModFix/>
          </a:blip>
          <a:srcRect b="0" l="0" r="0" t="0"/>
          <a:stretch/>
        </p:blipFill>
        <p:spPr>
          <a:xfrm>
            <a:off x="6852492" y="-165253"/>
            <a:ext cx="1178805" cy="895833"/>
          </a:xfrm>
          <a:prstGeom prst="rect">
            <a:avLst/>
          </a:prstGeom>
          <a:noFill/>
          <a:ln>
            <a:noFill/>
          </a:ln>
        </p:spPr>
      </p:pic>
      <p:pic>
        <p:nvPicPr>
          <p:cNvPr id="46" name="Google Shape;46;p1"/>
          <p:cNvPicPr preferRelativeResize="0"/>
          <p:nvPr/>
        </p:nvPicPr>
        <p:blipFill rotWithShape="1">
          <a:blip r:embed="rId4">
            <a:alphaModFix/>
          </a:blip>
          <a:srcRect b="0" l="0" r="0" t="0"/>
          <a:stretch/>
        </p:blipFill>
        <p:spPr>
          <a:xfrm>
            <a:off x="8054901" y="160424"/>
            <a:ext cx="1015707" cy="345492"/>
          </a:xfrm>
          <a:prstGeom prst="rect">
            <a:avLst/>
          </a:prstGeom>
          <a:noFill/>
          <a:ln>
            <a:noFill/>
          </a:ln>
        </p:spPr>
      </p:pic>
      <p:pic>
        <p:nvPicPr>
          <p:cNvPr descr="JUIT Office Photos | Glassdoor" id="47" name="Google Shape;47;p1"/>
          <p:cNvPicPr preferRelativeResize="0"/>
          <p:nvPr/>
        </p:nvPicPr>
        <p:blipFill rotWithShape="1">
          <a:blip r:embed="rId5">
            <a:alphaModFix/>
          </a:blip>
          <a:srcRect b="0" l="0" r="0" t="0"/>
          <a:stretch/>
        </p:blipFill>
        <p:spPr>
          <a:xfrm>
            <a:off x="11017" y="93342"/>
            <a:ext cx="815248" cy="679009"/>
          </a:xfrm>
          <a:prstGeom prst="rect">
            <a:avLst/>
          </a:prstGeom>
          <a:noFill/>
          <a:ln>
            <a:noFill/>
          </a:ln>
        </p:spPr>
      </p:pic>
      <p:sp>
        <p:nvSpPr>
          <p:cNvPr id="48" name="Google Shape;48;p1"/>
          <p:cNvSpPr txBox="1"/>
          <p:nvPr/>
        </p:nvSpPr>
        <p:spPr>
          <a:xfrm>
            <a:off x="-2" y="601361"/>
            <a:ext cx="9144000" cy="1411285"/>
          </a:xfrm>
          <a:prstGeom prst="rect">
            <a:avLst/>
          </a:prstGeom>
          <a:noFill/>
          <a:ln>
            <a:noFill/>
          </a:ln>
        </p:spPr>
        <p:txBody>
          <a:bodyPr anchorCtr="0" anchor="b" bIns="45700" lIns="91425" spcFirstLastPara="1" rIns="91425" wrap="square" tIns="45700">
            <a:noAutofit/>
          </a:bodyPr>
          <a:lstStyle/>
          <a:p>
            <a:pPr indent="0" lvl="0" marL="0" marR="0" rtl="0" algn="ctr">
              <a:lnSpc>
                <a:spcPct val="121428"/>
              </a:lnSpc>
              <a:spcBef>
                <a:spcPts val="0"/>
              </a:spcBef>
              <a:spcAft>
                <a:spcPts val="0"/>
              </a:spcAft>
              <a:buNone/>
            </a:pPr>
            <a:r>
              <a:rPr b="1" i="0" lang="en-US" sz="2800" u="none" strike="noStrike">
                <a:solidFill>
                  <a:srgbClr val="000099"/>
                </a:solidFill>
                <a:latin typeface="Palatino"/>
                <a:ea typeface="Palatino"/>
                <a:cs typeface="Palatino"/>
                <a:sym typeface="Palatino"/>
              </a:rPr>
              <a:t>Jaypee University of Information Technology</a:t>
            </a:r>
            <a:endParaRPr/>
          </a:p>
          <a:p>
            <a:pPr indent="0" lvl="0" marL="0" marR="0" rtl="0" algn="ctr">
              <a:lnSpc>
                <a:spcPct val="130769"/>
              </a:lnSpc>
              <a:spcBef>
                <a:spcPts val="0"/>
              </a:spcBef>
              <a:spcAft>
                <a:spcPts val="0"/>
              </a:spcAft>
              <a:buClr>
                <a:srgbClr val="000099"/>
              </a:buClr>
              <a:buSzPts val="2600"/>
              <a:buFont typeface="Palatino"/>
              <a:buNone/>
            </a:pPr>
            <a:r>
              <a:rPr b="1" i="0" lang="en-US" sz="2600" u="none" strike="noStrike">
                <a:solidFill>
                  <a:srgbClr val="000099"/>
                </a:solidFill>
                <a:latin typeface="Palatino"/>
                <a:ea typeface="Palatino"/>
                <a:cs typeface="Palatino"/>
                <a:sym typeface="Palatino"/>
              </a:rPr>
              <a:t>Department of Computer Science and Engineering and Information Technology</a:t>
            </a:r>
            <a:endParaRPr b="1" i="0" sz="2600" u="none" strike="noStrike">
              <a:solidFill>
                <a:srgbClr val="002060"/>
              </a:solidFill>
              <a:latin typeface="Palatino"/>
              <a:ea typeface="Palatino"/>
              <a:cs typeface="Palatino"/>
              <a:sym typeface="Palati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a:t>Outline</a:t>
            </a:r>
            <a:endParaRPr/>
          </a:p>
        </p:txBody>
      </p:sp>
      <p:sp>
        <p:nvSpPr>
          <p:cNvPr id="55" name="Google Shape;55;p2"/>
          <p:cNvSpPr txBox="1"/>
          <p:nvPr/>
        </p:nvSpPr>
        <p:spPr>
          <a:xfrm>
            <a:off x="77118" y="804231"/>
            <a:ext cx="4153359" cy="5794873"/>
          </a:xfrm>
          <a:prstGeom prst="rect">
            <a:avLst/>
          </a:prstGeom>
          <a:noFill/>
          <a:ln>
            <a:noFill/>
          </a:ln>
        </p:spPr>
        <p:txBody>
          <a:bodyPr anchorCtr="0" anchor="t" bIns="45700" lIns="91425" spcFirstLastPara="1" rIns="91425" wrap="square" tIns="45700">
            <a:noAutofit/>
          </a:bodyPr>
          <a:lstStyle/>
          <a:p>
            <a:pPr indent="-239712" lvl="0" marL="357187" marR="0" rtl="0" algn="just">
              <a:lnSpc>
                <a:spcPct val="140000"/>
              </a:lnSpc>
              <a:spcBef>
                <a:spcPts val="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Introduction</a:t>
            </a:r>
            <a:endParaRPr sz="1650">
              <a:latin typeface="Helvetica Neue"/>
              <a:ea typeface="Helvetica Neue"/>
              <a:cs typeface="Helvetica Neue"/>
              <a:sym typeface="Helvetica Neue"/>
            </a:endParaRPr>
          </a:p>
          <a:p>
            <a:pPr indent="-239712" lvl="0" marL="357187"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Problem Statement</a:t>
            </a:r>
            <a:endParaRPr sz="1650">
              <a:latin typeface="Helvetica Neue"/>
              <a:ea typeface="Helvetica Neue"/>
              <a:cs typeface="Helvetica Neue"/>
              <a:sym typeface="Helvetica Neue"/>
            </a:endParaRPr>
          </a:p>
          <a:p>
            <a:pPr indent="-239712" lvl="0" marL="357187"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Objectives</a:t>
            </a:r>
            <a:endParaRPr sz="1650">
              <a:latin typeface="Helvetica Neue"/>
              <a:ea typeface="Helvetica Neue"/>
              <a:cs typeface="Helvetica Neue"/>
              <a:sym typeface="Helvetica Neue"/>
            </a:endParaRPr>
          </a:p>
          <a:p>
            <a:pPr indent="-239712" lvl="0" marL="357187"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Literature Review</a:t>
            </a:r>
            <a:endParaRPr sz="1650">
              <a:latin typeface="Helvetica Neue"/>
              <a:ea typeface="Helvetica Neue"/>
              <a:cs typeface="Helvetica Neue"/>
              <a:sym typeface="Helvetica Neue"/>
            </a:endParaRPr>
          </a:p>
          <a:p>
            <a:pPr indent="-239712" lvl="0" marL="357187"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Work Done (after Mid-Term Evaluation)</a:t>
            </a:r>
            <a:endParaRPr sz="1650">
              <a:latin typeface="Helvetica Neue"/>
              <a:ea typeface="Helvetica Neue"/>
              <a:cs typeface="Helvetica Neue"/>
              <a:sym typeface="Helvetica Neue"/>
            </a:endParaRPr>
          </a:p>
          <a:p>
            <a:pPr indent="-239712" lvl="0" marL="357187"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Project Design</a:t>
            </a:r>
            <a:endParaRPr sz="1650">
              <a:latin typeface="Helvetica Neue"/>
              <a:ea typeface="Helvetica Neue"/>
              <a:cs typeface="Helvetica Neue"/>
              <a:sym typeface="Helvetica Neue"/>
            </a:endParaRPr>
          </a:p>
          <a:p>
            <a:pPr indent="-239712" lvl="0" marL="357187"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Tools, Technologies and Languages</a:t>
            </a:r>
            <a:endParaRPr sz="1650">
              <a:latin typeface="Helvetica Neue"/>
              <a:ea typeface="Helvetica Neue"/>
              <a:cs typeface="Helvetica Neue"/>
              <a:sym typeface="Helvetica Neue"/>
            </a:endParaRPr>
          </a:p>
          <a:p>
            <a:pPr indent="-239712" lvl="0" marL="357187"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Dataset</a:t>
            </a:r>
            <a:endParaRPr sz="1650">
              <a:latin typeface="Helvetica Neue"/>
              <a:ea typeface="Helvetica Neue"/>
              <a:cs typeface="Helvetica Neue"/>
              <a:sym typeface="Helvetica Neue"/>
            </a:endParaRPr>
          </a:p>
          <a:p>
            <a:pPr indent="-239712" lvl="0" marL="357187"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Implementation</a:t>
            </a:r>
            <a:endParaRPr sz="1650">
              <a:latin typeface="Helvetica Neue"/>
              <a:ea typeface="Helvetica Neue"/>
              <a:cs typeface="Helvetica Neue"/>
              <a:sym typeface="Helvetica Neue"/>
            </a:endParaRPr>
          </a:p>
          <a:p>
            <a:pPr indent="-239712" lvl="0" marL="357187"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Experimental Results and Evaluation</a:t>
            </a:r>
            <a:endParaRPr sz="1650">
              <a:latin typeface="Helvetica Neue"/>
              <a:ea typeface="Helvetica Neue"/>
              <a:cs typeface="Helvetica Neue"/>
              <a:sym typeface="Helvetica Neue"/>
            </a:endParaRPr>
          </a:p>
          <a:p>
            <a:pPr indent="-239712" lvl="0" marL="357187"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Key Learnings</a:t>
            </a:r>
            <a:endParaRPr sz="1650">
              <a:latin typeface="Helvetica Neue"/>
              <a:ea typeface="Helvetica Neue"/>
              <a:cs typeface="Helvetica Neue"/>
              <a:sym typeface="Helvetica Neue"/>
            </a:endParaRPr>
          </a:p>
          <a:p>
            <a:pPr indent="-239712" lvl="0" marL="357187"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Work Contribution and Attendance</a:t>
            </a:r>
            <a:endParaRPr sz="1650">
              <a:latin typeface="Helvetica Neue"/>
              <a:ea typeface="Helvetica Neue"/>
              <a:cs typeface="Helvetica Neue"/>
              <a:sym typeface="Helvetica Neue"/>
            </a:endParaRPr>
          </a:p>
          <a:p>
            <a:pPr indent="-239712" lvl="0" marL="357187"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Supervisor Interactions</a:t>
            </a:r>
            <a:endParaRPr sz="1650">
              <a:solidFill>
                <a:schemeClr val="dk1"/>
              </a:solidFill>
              <a:latin typeface="Helvetica Neue"/>
              <a:ea typeface="Helvetica Neue"/>
              <a:cs typeface="Helvetica Neue"/>
              <a:sym typeface="Helvetica Neue"/>
            </a:endParaRPr>
          </a:p>
        </p:txBody>
      </p:sp>
      <p:sp>
        <p:nvSpPr>
          <p:cNvPr id="56" name="Google Shape;56;p2"/>
          <p:cNvSpPr txBox="1"/>
          <p:nvPr/>
        </p:nvSpPr>
        <p:spPr>
          <a:xfrm>
            <a:off x="5233012" y="804231"/>
            <a:ext cx="3833872" cy="5794873"/>
          </a:xfrm>
          <a:prstGeom prst="rect">
            <a:avLst/>
          </a:prstGeom>
          <a:noFill/>
          <a:ln>
            <a:noFill/>
          </a:ln>
        </p:spPr>
        <p:txBody>
          <a:bodyPr anchorCtr="0" anchor="t" bIns="45700" lIns="91425" spcFirstLastPara="1" rIns="91425" wrap="square" tIns="45700">
            <a:noAutofit/>
          </a:bodyPr>
          <a:lstStyle/>
          <a:p>
            <a:pPr indent="-239713" lvl="0" marL="357188" marR="0" rtl="0" algn="just">
              <a:lnSpc>
                <a:spcPct val="140000"/>
              </a:lnSpc>
              <a:spcBef>
                <a:spcPts val="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Future Work</a:t>
            </a:r>
            <a:endParaRPr sz="1650">
              <a:latin typeface="Helvetica Neue"/>
              <a:ea typeface="Helvetica Neue"/>
              <a:cs typeface="Helvetica Neue"/>
              <a:sym typeface="Helvetica Neue"/>
            </a:endParaRPr>
          </a:p>
          <a:p>
            <a:pPr indent="-239713" lvl="0" marL="357188"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Project Plan</a:t>
            </a:r>
            <a:endParaRPr sz="1650">
              <a:latin typeface="Helvetica Neue"/>
              <a:ea typeface="Helvetica Neue"/>
              <a:cs typeface="Helvetica Neue"/>
              <a:sym typeface="Helvetica Neue"/>
            </a:endParaRPr>
          </a:p>
          <a:p>
            <a:pPr indent="-239713" lvl="0" marL="357188" marR="0" rtl="0" algn="just">
              <a:lnSpc>
                <a:spcPct val="140000"/>
              </a:lnSpc>
              <a:spcBef>
                <a:spcPts val="560"/>
              </a:spcBef>
              <a:spcAft>
                <a:spcPts val="0"/>
              </a:spcAft>
              <a:buClr>
                <a:schemeClr val="dk1"/>
              </a:buClr>
              <a:buSzPts val="1650"/>
              <a:buFont typeface="Helvetica Neue"/>
              <a:buChar char="•"/>
            </a:pPr>
            <a:r>
              <a:rPr lang="en-US" sz="1650">
                <a:solidFill>
                  <a:schemeClr val="dk1"/>
                </a:solidFill>
                <a:latin typeface="Helvetica Neue"/>
                <a:ea typeface="Helvetica Neue"/>
                <a:cs typeface="Helvetica Neue"/>
                <a:sym typeface="Helvetica Neue"/>
              </a:rPr>
              <a:t>References</a:t>
            </a:r>
            <a:endParaRPr sz="1650">
              <a:latin typeface="Helvetica Neue"/>
              <a:ea typeface="Helvetica Neue"/>
              <a:cs typeface="Helvetica Neue"/>
              <a:sym typeface="Helvetica Neue"/>
            </a:endParaRPr>
          </a:p>
          <a:p>
            <a:pPr indent="0" lvl="0" marL="0" marR="0" rtl="0" algn="just">
              <a:lnSpc>
                <a:spcPct val="150000"/>
              </a:lnSpc>
              <a:spcBef>
                <a:spcPts val="560"/>
              </a:spcBef>
              <a:spcAft>
                <a:spcPts val="0"/>
              </a:spcAft>
              <a:buClr>
                <a:schemeClr val="dk1"/>
              </a:buClr>
              <a:buSzPts val="2000"/>
              <a:buFont typeface="Arial"/>
              <a:buNone/>
            </a:pPr>
            <a:r>
              <a:t/>
            </a:r>
            <a:endParaRPr sz="1600">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3"/>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a:t>Introduction</a:t>
            </a:r>
            <a:endParaRPr/>
          </a:p>
        </p:txBody>
      </p:sp>
      <p:sp>
        <p:nvSpPr>
          <p:cNvPr id="62" name="Google Shape;62;p3"/>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342900" lvl="0" marL="457200" rtl="0" algn="just">
              <a:lnSpc>
                <a:spcPct val="150000"/>
              </a:lnSpc>
              <a:spcBef>
                <a:spcPts val="0"/>
              </a:spcBef>
              <a:spcAft>
                <a:spcPts val="0"/>
              </a:spcAft>
              <a:buClr>
                <a:schemeClr val="dk1"/>
              </a:buClr>
              <a:buSzPts val="1800"/>
              <a:buFont typeface="Times New Roman"/>
              <a:buChar char="●"/>
            </a:pPr>
            <a:r>
              <a:rPr b="1" lang="en-US" sz="1800">
                <a:solidFill>
                  <a:schemeClr val="dk1"/>
                </a:solidFill>
                <a:latin typeface="Helvetica Neue"/>
                <a:ea typeface="Helvetica Neue"/>
                <a:cs typeface="Helvetica Neue"/>
                <a:sym typeface="Helvetica Neue"/>
              </a:rPr>
              <a:t>The Challenge:</a:t>
            </a:r>
            <a:r>
              <a:rPr lang="en-US" sz="1800">
                <a:solidFill>
                  <a:schemeClr val="dk1"/>
                </a:solidFill>
                <a:latin typeface="Helvetica Neue"/>
                <a:ea typeface="Helvetica Neue"/>
                <a:cs typeface="Helvetica Neue"/>
                <a:sym typeface="Helvetica Neue"/>
              </a:rPr>
              <a:t> Higher education institutions in India operate under complex, evolving regulations from UGC, AICTE, and internal bylaws</a:t>
            </a:r>
            <a:endParaRPr sz="1800">
              <a:solidFill>
                <a:schemeClr val="dk1"/>
              </a:solidFill>
              <a:latin typeface="Helvetica Neue"/>
              <a:ea typeface="Helvetica Neue"/>
              <a:cs typeface="Helvetica Neue"/>
              <a:sym typeface="Helvetica Neue"/>
            </a:endParaRPr>
          </a:p>
          <a:p>
            <a:pPr indent="-342900" lvl="0" marL="457200" rtl="0" algn="just">
              <a:lnSpc>
                <a:spcPct val="150000"/>
              </a:lnSpc>
              <a:spcBef>
                <a:spcPts val="0"/>
              </a:spcBef>
              <a:spcAft>
                <a:spcPts val="0"/>
              </a:spcAft>
              <a:buClr>
                <a:schemeClr val="dk1"/>
              </a:buClr>
              <a:buSzPts val="1800"/>
              <a:buFont typeface="Times New Roman"/>
              <a:buChar char="●"/>
            </a:pPr>
            <a:r>
              <a:rPr b="1" lang="en-US" sz="1800">
                <a:solidFill>
                  <a:schemeClr val="dk1"/>
                </a:solidFill>
                <a:latin typeface="Helvetica Neue"/>
                <a:ea typeface="Helvetica Neue"/>
                <a:cs typeface="Helvetica Neue"/>
                <a:sym typeface="Helvetica Neue"/>
              </a:rPr>
              <a:t>The Problem:</a:t>
            </a:r>
            <a:r>
              <a:rPr lang="en-US" sz="1800">
                <a:solidFill>
                  <a:schemeClr val="dk1"/>
                </a:solidFill>
                <a:latin typeface="Helvetica Neue"/>
                <a:ea typeface="Helvetica Neue"/>
                <a:cs typeface="Helvetica Neue"/>
                <a:sym typeface="Helvetica Neue"/>
              </a:rPr>
              <a:t> Regulations are published as lengthy PDFs (many scanned), making manual search, interpretation, and version tracking difficult and error-prone</a:t>
            </a:r>
            <a:endParaRPr sz="1800">
              <a:solidFill>
                <a:schemeClr val="dk1"/>
              </a:solidFill>
              <a:latin typeface="Helvetica Neue"/>
              <a:ea typeface="Helvetica Neue"/>
              <a:cs typeface="Helvetica Neue"/>
              <a:sym typeface="Helvetica Neue"/>
            </a:endParaRPr>
          </a:p>
          <a:p>
            <a:pPr indent="-342900" lvl="0" marL="457200" rtl="0" algn="just">
              <a:lnSpc>
                <a:spcPct val="150000"/>
              </a:lnSpc>
              <a:spcBef>
                <a:spcPts val="0"/>
              </a:spcBef>
              <a:spcAft>
                <a:spcPts val="0"/>
              </a:spcAft>
              <a:buClr>
                <a:schemeClr val="dk1"/>
              </a:buClr>
              <a:buSzPts val="1800"/>
              <a:buFont typeface="Times New Roman"/>
              <a:buChar char="●"/>
            </a:pPr>
            <a:r>
              <a:rPr b="1" lang="en-US" sz="1800">
                <a:solidFill>
                  <a:schemeClr val="dk1"/>
                </a:solidFill>
                <a:latin typeface="Helvetica Neue"/>
                <a:ea typeface="Helvetica Neue"/>
                <a:cs typeface="Helvetica Neue"/>
                <a:sym typeface="Helvetica Neue"/>
              </a:rPr>
              <a:t>Our Solution:</a:t>
            </a:r>
            <a:r>
              <a:rPr lang="en-US" sz="1800">
                <a:solidFill>
                  <a:schemeClr val="dk1"/>
                </a:solidFill>
                <a:latin typeface="Helvetica Neue"/>
                <a:ea typeface="Helvetica Neue"/>
                <a:cs typeface="Helvetica Neue"/>
                <a:sym typeface="Helvetica Neue"/>
              </a:rPr>
              <a:t> A prototype AI-assisted compliance engine that combines:</a:t>
            </a:r>
            <a:endParaRPr sz="1800">
              <a:solidFill>
                <a:schemeClr val="dk1"/>
              </a:solidFill>
              <a:latin typeface="Helvetica Neue"/>
              <a:ea typeface="Helvetica Neue"/>
              <a:cs typeface="Helvetica Neue"/>
              <a:sym typeface="Helvetica Neue"/>
            </a:endParaRPr>
          </a:p>
          <a:p>
            <a:pPr indent="-342900" lvl="1" marL="914400" rtl="0" algn="just">
              <a:lnSpc>
                <a:spcPct val="150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Retrieval-Augmented Generation (RAG) for intelligent document search</a:t>
            </a:r>
            <a:endParaRPr sz="1800">
              <a:solidFill>
                <a:schemeClr val="dk1"/>
              </a:solidFill>
              <a:latin typeface="Helvetica Neue"/>
              <a:ea typeface="Helvetica Neue"/>
              <a:cs typeface="Helvetica Neue"/>
              <a:sym typeface="Helvetica Neue"/>
            </a:endParaRPr>
          </a:p>
          <a:p>
            <a:pPr indent="-342900" lvl="1" marL="914400" rtl="0" algn="just">
              <a:lnSpc>
                <a:spcPct val="150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Policy-as-Code layer for automated rule-based reasoning</a:t>
            </a:r>
            <a:endParaRPr sz="1800">
              <a:solidFill>
                <a:schemeClr val="dk1"/>
              </a:solidFill>
              <a:latin typeface="Helvetica Neue"/>
              <a:ea typeface="Helvetica Neue"/>
              <a:cs typeface="Helvetica Neue"/>
              <a:sym typeface="Helvetica Neue"/>
            </a:endParaRPr>
          </a:p>
          <a:p>
            <a:pPr indent="-342900" lvl="1" marL="914400" rtl="0" algn="just">
              <a:lnSpc>
                <a:spcPct val="150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Fully local, open-source stack for privacy and cost-efficiency</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4"/>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a:t>Problem Statement</a:t>
            </a:r>
            <a:endParaRPr/>
          </a:p>
        </p:txBody>
      </p:sp>
      <p:sp>
        <p:nvSpPr>
          <p:cNvPr id="68" name="Google Shape;68;p4"/>
          <p:cNvSpPr txBox="1"/>
          <p:nvPr/>
        </p:nvSpPr>
        <p:spPr>
          <a:xfrm>
            <a:off x="77118" y="804232"/>
            <a:ext cx="8956714" cy="5761822"/>
          </a:xfrm>
          <a:prstGeom prst="rect">
            <a:avLst/>
          </a:prstGeom>
          <a:noFill/>
          <a:ln>
            <a:noFill/>
          </a:ln>
        </p:spPr>
        <p:txBody>
          <a:bodyPr anchorCtr="0" anchor="t" bIns="45700" lIns="91425" spcFirstLastPara="1" rIns="91425" wrap="square" tIns="45700">
            <a:noAutofit/>
          </a:bodyPr>
          <a:lstStyle/>
          <a:p>
            <a:pPr indent="-342900" lvl="0" marL="457200" rtl="0" algn="just">
              <a:lnSpc>
                <a:spcPct val="115000"/>
              </a:lnSpc>
              <a:spcBef>
                <a:spcPts val="0"/>
              </a:spcBef>
              <a:spcAft>
                <a:spcPts val="0"/>
              </a:spcAft>
              <a:buClr>
                <a:schemeClr val="dk1"/>
              </a:buClr>
              <a:buSzPts val="1800"/>
              <a:buFont typeface="Helvetica Neue"/>
              <a:buChar char="●"/>
            </a:pPr>
            <a:r>
              <a:rPr b="1" lang="en-US" sz="1800">
                <a:solidFill>
                  <a:schemeClr val="dk1"/>
                </a:solidFill>
                <a:latin typeface="Helvetica Neue"/>
                <a:ea typeface="Helvetica Neue"/>
                <a:cs typeface="Helvetica Neue"/>
                <a:sym typeface="Helvetica Neue"/>
              </a:rPr>
              <a:t>Document Proliferation &amp; Quality Issues</a:t>
            </a:r>
            <a:endParaRPr b="1" sz="1800">
              <a:solidFill>
                <a:schemeClr val="dk1"/>
              </a:solidFill>
              <a:latin typeface="Helvetica Neue"/>
              <a:ea typeface="Helvetica Neue"/>
              <a:cs typeface="Helvetica Neue"/>
              <a:sym typeface="Helvetica Neue"/>
            </a:endParaRPr>
          </a:p>
          <a:p>
            <a:pPr indent="-342900" lvl="1" marL="914400" rtl="0" algn="just">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Regulations scattered across  PDFs from multiple authorities</a:t>
            </a:r>
            <a:endParaRPr sz="1800">
              <a:solidFill>
                <a:schemeClr val="dk1"/>
              </a:solidFill>
              <a:latin typeface="Helvetica Neue"/>
              <a:ea typeface="Helvetica Neue"/>
              <a:cs typeface="Helvetica Neue"/>
              <a:sym typeface="Helvetica Neue"/>
            </a:endParaRPr>
          </a:p>
          <a:p>
            <a:pPr indent="-342900" lvl="1" marL="914400" rtl="0" algn="just">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Many are scanned documents with varying formats</a:t>
            </a:r>
            <a:endParaRPr sz="1800">
              <a:solidFill>
                <a:schemeClr val="dk1"/>
              </a:solidFill>
              <a:latin typeface="Helvetica Neue"/>
              <a:ea typeface="Helvetica Neue"/>
              <a:cs typeface="Helvetica Neue"/>
              <a:sym typeface="Helvetica Neue"/>
            </a:endParaRPr>
          </a:p>
          <a:p>
            <a:pPr indent="-342900" lvl="1" marL="914400" rtl="0" algn="just">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No centralized, searchable repository</a:t>
            </a:r>
            <a:endParaRPr sz="1800">
              <a:solidFill>
                <a:schemeClr val="dk1"/>
              </a:solidFill>
              <a:latin typeface="Helvetica Neue"/>
              <a:ea typeface="Helvetica Neue"/>
              <a:cs typeface="Helvetica Neue"/>
              <a:sym typeface="Helvetica Neue"/>
            </a:endParaRPr>
          </a:p>
          <a:p>
            <a:pPr indent="-342900" lvl="1" marL="914400" rtl="0" algn="just">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Version tracking is manual and error-prone</a:t>
            </a:r>
            <a:endParaRPr sz="1800">
              <a:solidFill>
                <a:schemeClr val="dk1"/>
              </a:solidFill>
              <a:latin typeface="Helvetica Neue"/>
              <a:ea typeface="Helvetica Neue"/>
              <a:cs typeface="Helvetica Neue"/>
              <a:sym typeface="Helvetica Neue"/>
            </a:endParaRPr>
          </a:p>
          <a:p>
            <a:pPr indent="-342900" lvl="0" marL="457200" rtl="0" algn="just">
              <a:lnSpc>
                <a:spcPct val="115000"/>
              </a:lnSpc>
              <a:spcBef>
                <a:spcPts val="0"/>
              </a:spcBef>
              <a:spcAft>
                <a:spcPts val="0"/>
              </a:spcAft>
              <a:buClr>
                <a:schemeClr val="dk1"/>
              </a:buClr>
              <a:buSzPts val="1800"/>
              <a:buFont typeface="Helvetica Neue"/>
              <a:buChar char="●"/>
            </a:pPr>
            <a:r>
              <a:rPr b="1" lang="en-US" sz="1800">
                <a:solidFill>
                  <a:schemeClr val="dk1"/>
                </a:solidFill>
                <a:latin typeface="Helvetica Neue"/>
                <a:ea typeface="Helvetica Neue"/>
                <a:cs typeface="Helvetica Neue"/>
                <a:sym typeface="Helvetica Neue"/>
              </a:rPr>
              <a:t>Semantic Search Challenges</a:t>
            </a:r>
            <a:endParaRPr b="1" sz="1800">
              <a:solidFill>
                <a:schemeClr val="dk1"/>
              </a:solidFill>
              <a:latin typeface="Helvetica Neue"/>
              <a:ea typeface="Helvetica Neue"/>
              <a:cs typeface="Helvetica Neue"/>
              <a:sym typeface="Helvetica Neue"/>
            </a:endParaRPr>
          </a:p>
          <a:p>
            <a:pPr indent="-342900" lvl="1" marL="914400" rtl="0" algn="just">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Keyword search fails when terminology differs</a:t>
            </a:r>
            <a:endParaRPr sz="1800">
              <a:solidFill>
                <a:schemeClr val="dk1"/>
              </a:solidFill>
              <a:latin typeface="Helvetica Neue"/>
              <a:ea typeface="Helvetica Neue"/>
              <a:cs typeface="Helvetica Neue"/>
              <a:sym typeface="Helvetica Neue"/>
            </a:endParaRPr>
          </a:p>
          <a:p>
            <a:pPr indent="-342900" lvl="1" marL="914400" rtl="0" algn="just">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Relevant clauses missed due to different wording</a:t>
            </a:r>
            <a:endParaRPr sz="1800">
              <a:solidFill>
                <a:schemeClr val="dk1"/>
              </a:solidFill>
              <a:latin typeface="Helvetica Neue"/>
              <a:ea typeface="Helvetica Neue"/>
              <a:cs typeface="Helvetica Neue"/>
              <a:sym typeface="Helvetica Neue"/>
            </a:endParaRPr>
          </a:p>
          <a:p>
            <a:pPr indent="-342900" lvl="1" marL="914400" rtl="0" algn="just">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No understanding of regulatory relationships and conflicts</a:t>
            </a:r>
            <a:endParaRPr sz="1800">
              <a:solidFill>
                <a:schemeClr val="dk1"/>
              </a:solidFill>
              <a:latin typeface="Helvetica Neue"/>
              <a:ea typeface="Helvetica Neue"/>
              <a:cs typeface="Helvetica Neue"/>
              <a:sym typeface="Helvetica Neue"/>
            </a:endParaRPr>
          </a:p>
          <a:p>
            <a:pPr indent="-342900" lvl="0" marL="457200" rtl="0" algn="just">
              <a:lnSpc>
                <a:spcPct val="115000"/>
              </a:lnSpc>
              <a:spcBef>
                <a:spcPts val="0"/>
              </a:spcBef>
              <a:spcAft>
                <a:spcPts val="0"/>
              </a:spcAft>
              <a:buClr>
                <a:schemeClr val="dk1"/>
              </a:buClr>
              <a:buSzPts val="1800"/>
              <a:buFont typeface="Helvetica Neue"/>
              <a:buChar char="●"/>
            </a:pPr>
            <a:r>
              <a:rPr b="1" lang="en-US" sz="1800">
                <a:solidFill>
                  <a:schemeClr val="dk1"/>
                </a:solidFill>
                <a:latin typeface="Helvetica Neue"/>
                <a:ea typeface="Helvetica Neue"/>
                <a:cs typeface="Helvetica Neue"/>
                <a:sym typeface="Helvetica Neue"/>
              </a:rPr>
              <a:t>Authority &amp; Precedence Confusion</a:t>
            </a:r>
            <a:endParaRPr b="1" sz="1800">
              <a:solidFill>
                <a:schemeClr val="dk1"/>
              </a:solidFill>
              <a:latin typeface="Helvetica Neue"/>
              <a:ea typeface="Helvetica Neue"/>
              <a:cs typeface="Helvetica Neue"/>
              <a:sym typeface="Helvetica Neue"/>
            </a:endParaRPr>
          </a:p>
          <a:p>
            <a:pPr indent="-342900" lvl="1" marL="914400" rtl="0" algn="just">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UGC vs AICTE vs Institutional rules create conflicts</a:t>
            </a:r>
            <a:endParaRPr sz="1800">
              <a:solidFill>
                <a:schemeClr val="dk1"/>
              </a:solidFill>
              <a:latin typeface="Helvetica Neue"/>
              <a:ea typeface="Helvetica Neue"/>
              <a:cs typeface="Helvetica Neue"/>
              <a:sym typeface="Helvetica Neue"/>
            </a:endParaRPr>
          </a:p>
          <a:p>
            <a:pPr indent="-342900" lvl="1" marL="914400" rtl="0" algn="just">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Unclear which regulation takes precedence in specific cases</a:t>
            </a:r>
            <a:endParaRPr sz="1800">
              <a:solidFill>
                <a:schemeClr val="dk1"/>
              </a:solidFill>
              <a:latin typeface="Helvetica Neue"/>
              <a:ea typeface="Helvetica Neue"/>
              <a:cs typeface="Helvetica Neue"/>
              <a:sym typeface="Helvetica Neue"/>
            </a:endParaRPr>
          </a:p>
          <a:p>
            <a:pPr indent="-342900" lvl="1" marL="914400" rtl="0" algn="just">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Administrators rely on informal interpretations and memory</a:t>
            </a:r>
            <a:endParaRPr sz="1800">
              <a:solidFill>
                <a:schemeClr val="dk1"/>
              </a:solidFill>
              <a:latin typeface="Helvetica Neue"/>
              <a:ea typeface="Helvetica Neue"/>
              <a:cs typeface="Helvetica Neue"/>
              <a:sym typeface="Helvetica Neue"/>
            </a:endParaRPr>
          </a:p>
          <a:p>
            <a:pPr indent="-342900" lvl="0" marL="457200" rtl="0" algn="just">
              <a:lnSpc>
                <a:spcPct val="115000"/>
              </a:lnSpc>
              <a:spcBef>
                <a:spcPts val="0"/>
              </a:spcBef>
              <a:spcAft>
                <a:spcPts val="0"/>
              </a:spcAft>
              <a:buClr>
                <a:schemeClr val="dk1"/>
              </a:buClr>
              <a:buSzPts val="1800"/>
              <a:buFont typeface="Helvetica Neue"/>
              <a:buChar char="●"/>
            </a:pPr>
            <a:r>
              <a:rPr b="1" lang="en-US" sz="1800">
                <a:solidFill>
                  <a:schemeClr val="dk1"/>
                </a:solidFill>
                <a:latin typeface="Helvetica Neue"/>
                <a:ea typeface="Helvetica Neue"/>
                <a:cs typeface="Helvetica Neue"/>
                <a:sym typeface="Helvetica Neue"/>
              </a:rPr>
              <a:t>Audit &amp; Compliance Gaps</a:t>
            </a:r>
            <a:endParaRPr b="1" sz="1800">
              <a:solidFill>
                <a:schemeClr val="dk1"/>
              </a:solidFill>
              <a:latin typeface="Helvetica Neue"/>
              <a:ea typeface="Helvetica Neue"/>
              <a:cs typeface="Helvetica Neue"/>
              <a:sym typeface="Helvetica Neue"/>
            </a:endParaRPr>
          </a:p>
          <a:p>
            <a:pPr indent="-342900" lvl="1" marL="914400" rtl="0" algn="just">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Hard to demonstrate compliance with specific evidence</a:t>
            </a:r>
            <a:endParaRPr sz="1800">
              <a:solidFill>
                <a:schemeClr val="dk1"/>
              </a:solidFill>
              <a:latin typeface="Helvetica Neue"/>
              <a:ea typeface="Helvetica Neue"/>
              <a:cs typeface="Helvetica Neue"/>
              <a:sym typeface="Helvetica Neue"/>
            </a:endParaRPr>
          </a:p>
          <a:p>
            <a:pPr indent="-342900" lvl="1" marL="914400" rtl="0" algn="just">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No audit trail linking decisions to regulatory clauses</a:t>
            </a:r>
            <a:endParaRPr sz="1800">
              <a:solidFill>
                <a:schemeClr val="dk1"/>
              </a:solidFill>
              <a:latin typeface="Helvetica Neue"/>
              <a:ea typeface="Helvetica Neue"/>
              <a:cs typeface="Helvetica Neue"/>
              <a:sym typeface="Helvetica Neue"/>
            </a:endParaRPr>
          </a:p>
          <a:p>
            <a:pPr indent="-342900" lvl="1" marL="914400" rtl="0" algn="just">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Time-consuming manual compliance checks</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5"/>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a:t>Objectives</a:t>
            </a:r>
            <a:endParaRPr/>
          </a:p>
        </p:txBody>
      </p:sp>
      <p:sp>
        <p:nvSpPr>
          <p:cNvPr id="74" name="Google Shape;74;p5"/>
          <p:cNvSpPr txBox="1"/>
          <p:nvPr/>
        </p:nvSpPr>
        <p:spPr>
          <a:xfrm>
            <a:off x="93643" y="724557"/>
            <a:ext cx="8956800" cy="5761800"/>
          </a:xfrm>
          <a:prstGeom prst="rect">
            <a:avLst/>
          </a:prstGeom>
          <a:noFill/>
          <a:ln>
            <a:noFill/>
          </a:ln>
        </p:spPr>
        <p:txBody>
          <a:bodyPr anchorCtr="0" anchor="t" bIns="45700" lIns="91425" spcFirstLastPara="1" rIns="91425" wrap="square" tIns="45700">
            <a:noAutofit/>
          </a:bodyPr>
          <a:lstStyle/>
          <a:p>
            <a:pPr indent="-330200" lvl="0" marL="457200" rtl="0" algn="just">
              <a:lnSpc>
                <a:spcPct val="150000"/>
              </a:lnSpc>
              <a:spcBef>
                <a:spcPts val="1200"/>
              </a:spcBef>
              <a:spcAft>
                <a:spcPts val="0"/>
              </a:spcAft>
              <a:buClr>
                <a:schemeClr val="dk1"/>
              </a:buClr>
              <a:buSzPts val="1600"/>
              <a:buChar char="●"/>
            </a:pPr>
            <a:r>
              <a:rPr b="1" lang="en-US" sz="1600">
                <a:solidFill>
                  <a:schemeClr val="dk1"/>
                </a:solidFill>
                <a:latin typeface="Helvetica Neue"/>
                <a:ea typeface="Helvetica Neue"/>
                <a:cs typeface="Helvetica Neue"/>
                <a:sym typeface="Helvetica Neue"/>
              </a:rPr>
              <a:t>Con</a:t>
            </a:r>
            <a:r>
              <a:rPr b="1" lang="en-US" sz="1600">
                <a:solidFill>
                  <a:schemeClr val="dk1"/>
                </a:solidFill>
                <a:latin typeface="Helvetica Neue"/>
                <a:ea typeface="Helvetica Neue"/>
                <a:cs typeface="Helvetica Neue"/>
                <a:sym typeface="Helvetica Neue"/>
              </a:rPr>
              <a:t>s</a:t>
            </a:r>
            <a:r>
              <a:rPr b="1" lang="en-US" sz="1600">
                <a:solidFill>
                  <a:schemeClr val="dk1"/>
                </a:solidFill>
                <a:latin typeface="Helvetica Neue"/>
                <a:ea typeface="Helvetica Neue"/>
                <a:cs typeface="Helvetica Neue"/>
                <a:sym typeface="Helvetica Neue"/>
              </a:rPr>
              <a:t>truct a Powerful Ingestion and OCR Pipeline</a:t>
            </a:r>
            <a:br>
              <a:rPr b="1" lang="en-US" sz="1600">
                <a:solidFill>
                  <a:schemeClr val="dk1"/>
                </a:solidFill>
                <a:latin typeface="Helvetica Neue"/>
                <a:ea typeface="Helvetica Neue"/>
                <a:cs typeface="Helvetica Neue"/>
                <a:sym typeface="Helvetica Neue"/>
              </a:rPr>
            </a:br>
            <a:r>
              <a:rPr lang="en-US" sz="1600">
                <a:solidFill>
                  <a:schemeClr val="dk1"/>
                </a:solidFill>
                <a:latin typeface="Helvetica Neue"/>
                <a:ea typeface="Helvetica Neue"/>
                <a:cs typeface="Helvetica Neue"/>
                <a:sym typeface="Helvetica Neue"/>
              </a:rPr>
              <a:t>Build an end-to-end pipeline to convert electronic and scanned regulatory PDFs into machine-readable text. Use OCR to extract content, create a page and section hierarchy, and preserve references like headings and page numbers. Structure the process into modular components so new documents can be added without changing the system.</a:t>
            </a:r>
            <a:endParaRPr sz="1600">
              <a:solidFill>
                <a:schemeClr val="dk1"/>
              </a:solidFill>
              <a:latin typeface="Helvetica Neue"/>
              <a:ea typeface="Helvetica Neue"/>
              <a:cs typeface="Helvetica Neue"/>
              <a:sym typeface="Helvetica Neue"/>
            </a:endParaRPr>
          </a:p>
          <a:p>
            <a:pPr indent="-330200" lvl="0" marL="457200" rtl="0" algn="just">
              <a:lnSpc>
                <a:spcPct val="150000"/>
              </a:lnSpc>
              <a:spcBef>
                <a:spcPts val="0"/>
              </a:spcBef>
              <a:spcAft>
                <a:spcPts val="0"/>
              </a:spcAft>
              <a:buClr>
                <a:schemeClr val="dk1"/>
              </a:buClr>
              <a:buSzPts val="1600"/>
              <a:buChar char="●"/>
            </a:pPr>
            <a:r>
              <a:rPr b="1" lang="en-US" sz="1600">
                <a:solidFill>
                  <a:schemeClr val="dk1"/>
                </a:solidFill>
                <a:latin typeface="Helvetica Neue"/>
                <a:ea typeface="Helvetica Neue"/>
                <a:cs typeface="Helvetica Neue"/>
                <a:sym typeface="Helvetica Neue"/>
              </a:rPr>
              <a:t>Segment Regulatory Documents into Clause-Level Units with Metadata</a:t>
            </a:r>
            <a:br>
              <a:rPr b="1" lang="en-US" sz="1600">
                <a:solidFill>
                  <a:schemeClr val="dk1"/>
                </a:solidFill>
                <a:latin typeface="Helvetica Neue"/>
                <a:ea typeface="Helvetica Neue"/>
                <a:cs typeface="Helvetica Neue"/>
                <a:sym typeface="Helvetica Neue"/>
              </a:rPr>
            </a:br>
            <a:r>
              <a:rPr lang="en-US" sz="1600">
                <a:solidFill>
                  <a:schemeClr val="dk1"/>
                </a:solidFill>
                <a:latin typeface="Helvetica Neue"/>
                <a:ea typeface="Helvetica Neue"/>
                <a:cs typeface="Helvetica Neue"/>
                <a:sym typeface="Helvetica Neue"/>
              </a:rPr>
              <a:t>Break long regulatory documents into clause- or section-level segments and enrich each segment with metadata such as issuer, title, version, year, jurisdiction, and effective status. These tagged segments form the basis for retrieval and enable tracking document evolution and linking answers back to specific referenced sections.</a:t>
            </a:r>
            <a:endParaRPr sz="1600">
              <a:solidFill>
                <a:schemeClr val="dk1"/>
              </a:solidFill>
              <a:latin typeface="Helvetica Neue"/>
              <a:ea typeface="Helvetica Neue"/>
              <a:cs typeface="Helvetica Neue"/>
              <a:sym typeface="Helvetica Neue"/>
            </a:endParaRPr>
          </a:p>
          <a:p>
            <a:pPr indent="-330200" lvl="0" marL="457200" rtl="0" algn="just">
              <a:lnSpc>
                <a:spcPct val="150000"/>
              </a:lnSpc>
              <a:spcBef>
                <a:spcPts val="0"/>
              </a:spcBef>
              <a:spcAft>
                <a:spcPts val="0"/>
              </a:spcAft>
              <a:buClr>
                <a:schemeClr val="dk1"/>
              </a:buClr>
              <a:buSzPts val="1600"/>
              <a:buChar char="●"/>
            </a:pPr>
            <a:r>
              <a:rPr b="1" lang="en-US" sz="1600">
                <a:solidFill>
                  <a:schemeClr val="dk1"/>
                </a:solidFill>
                <a:latin typeface="Helvetica Neue"/>
                <a:ea typeface="Helvetica Neue"/>
                <a:cs typeface="Helvetica Neue"/>
                <a:sym typeface="Helvetica Neue"/>
              </a:rPr>
              <a:t>Implement End-to-End Semantic Retrieval and Grounded Generation Using Open-Source Models</a:t>
            </a:r>
            <a:br>
              <a:rPr b="1" lang="en-US" sz="1600">
                <a:solidFill>
                  <a:schemeClr val="dk1"/>
                </a:solidFill>
                <a:latin typeface="Helvetica Neue"/>
                <a:ea typeface="Helvetica Neue"/>
                <a:cs typeface="Helvetica Neue"/>
                <a:sym typeface="Helvetica Neue"/>
              </a:rPr>
            </a:br>
            <a:r>
              <a:rPr lang="en-US" sz="1600">
                <a:solidFill>
                  <a:schemeClr val="dk1"/>
                </a:solidFill>
                <a:latin typeface="Helvetica Neue"/>
                <a:ea typeface="Helvetica Neue"/>
                <a:cs typeface="Helvetica Neue"/>
                <a:sym typeface="Helvetica Neue"/>
              </a:rPr>
              <a:t>Represent each clause as an embedding using nomic-embed-text via Ollama, store vectors in ChromaDB with SQLite, and enable similarity search over a self-hosted corpus. Embed user queries, retrieve top-k clauses, construct a context prompt with sources, and pass it to Qwen 2.5 via Ollama to generate grounded, cited responses.</a:t>
            </a:r>
            <a:endParaRPr sz="1600">
              <a:solidFill>
                <a:schemeClr val="dk1"/>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3ae280144eb_0_29"/>
          <p:cNvSpPr txBox="1"/>
          <p:nvPr>
            <p:ph type="title"/>
          </p:nvPr>
        </p:nvSpPr>
        <p:spPr>
          <a:xfrm>
            <a:off x="40640" y="30480"/>
            <a:ext cx="8328900" cy="694200"/>
          </a:xfrm>
          <a:prstGeom prst="rect">
            <a:avLst/>
          </a:prstGeom>
        </p:spPr>
        <p:txBody>
          <a:bodyPr anchorCtr="0" anchor="ctr" bIns="45700" lIns="91425" spcFirstLastPara="1" rIns="91425" wrap="square" tIns="45700">
            <a:noAutofit/>
          </a:bodyPr>
          <a:lstStyle/>
          <a:p>
            <a:pPr indent="0" lvl="0" marL="90487" rtl="0" algn="l">
              <a:spcBef>
                <a:spcPts val="0"/>
              </a:spcBef>
              <a:spcAft>
                <a:spcPts val="0"/>
              </a:spcAft>
              <a:buClr>
                <a:schemeClr val="dk1"/>
              </a:buClr>
              <a:buSzPts val="1100"/>
              <a:buFont typeface="Arial"/>
              <a:buNone/>
            </a:pPr>
            <a:r>
              <a:rPr lang="en-US"/>
              <a:t>Literature Review</a:t>
            </a:r>
            <a:endParaRPr/>
          </a:p>
        </p:txBody>
      </p:sp>
      <p:sp>
        <p:nvSpPr>
          <p:cNvPr id="81" name="Google Shape;81;g3ae280144eb_0_29"/>
          <p:cNvSpPr txBox="1"/>
          <p:nvPr>
            <p:ph idx="1" type="body"/>
          </p:nvPr>
        </p:nvSpPr>
        <p:spPr>
          <a:xfrm>
            <a:off x="86199" y="782324"/>
            <a:ext cx="7390800" cy="5004000"/>
          </a:xfrm>
          <a:prstGeom prst="rect">
            <a:avLst/>
          </a:prstGeom>
        </p:spPr>
        <p:txBody>
          <a:bodyPr anchorCtr="0" anchor="t" bIns="45700" lIns="91425" spcFirstLastPara="1" rIns="91425" wrap="square" tIns="45700">
            <a:noAutofit/>
          </a:bodyPr>
          <a:lstStyle/>
          <a:p>
            <a:pPr indent="0" lvl="0" marL="0" rtl="0" algn="just">
              <a:spcBef>
                <a:spcPts val="630"/>
              </a:spcBef>
              <a:spcAft>
                <a:spcPts val="0"/>
              </a:spcAft>
              <a:buNone/>
            </a:pPr>
            <a:r>
              <a:t/>
            </a:r>
            <a:endParaRPr/>
          </a:p>
        </p:txBody>
      </p:sp>
      <p:sp>
        <p:nvSpPr>
          <p:cNvPr id="82" name="Google Shape;82;g3ae280144eb_0_29"/>
          <p:cNvSpPr txBox="1"/>
          <p:nvPr>
            <p:ph idx="1" type="body"/>
          </p:nvPr>
        </p:nvSpPr>
        <p:spPr>
          <a:xfrm>
            <a:off x="7036598" y="782323"/>
            <a:ext cx="2003100" cy="2491800"/>
          </a:xfrm>
          <a:prstGeom prst="rect">
            <a:avLst/>
          </a:prstGeom>
        </p:spPr>
        <p:txBody>
          <a:bodyPr anchorCtr="0" anchor="t" bIns="45700" lIns="91425" spcFirstLastPara="1" rIns="91425" wrap="square" tIns="45700">
            <a:noAutofit/>
          </a:bodyPr>
          <a:lstStyle/>
          <a:p>
            <a:pPr indent="0" lvl="0" marL="0" rtl="0" algn="just">
              <a:spcBef>
                <a:spcPts val="630"/>
              </a:spcBef>
              <a:spcAft>
                <a:spcPts val="0"/>
              </a:spcAft>
              <a:buNone/>
            </a:pPr>
            <a:r>
              <a:t/>
            </a:r>
            <a:endParaRPr/>
          </a:p>
        </p:txBody>
      </p:sp>
      <p:sp>
        <p:nvSpPr>
          <p:cNvPr id="83" name="Google Shape;83;g3ae280144eb_0_29"/>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84" name="Google Shape;84;g3ae280144eb_0_29"/>
          <p:cNvGraphicFramePr/>
          <p:nvPr/>
        </p:nvGraphicFramePr>
        <p:xfrm>
          <a:off x="110168" y="804223"/>
          <a:ext cx="3000000" cy="3000000"/>
        </p:xfrm>
        <a:graphic>
          <a:graphicData uri="http://schemas.openxmlformats.org/drawingml/2006/table">
            <a:tbl>
              <a:tblPr bandRow="1" firstRow="1">
                <a:noFill/>
                <a:tableStyleId>{898F8B75-1C41-4D90-AD48-C5B47D00A216}</a:tableStyleId>
              </a:tblPr>
              <a:tblGrid>
                <a:gridCol w="542250"/>
                <a:gridCol w="1760275"/>
                <a:gridCol w="1465250"/>
                <a:gridCol w="1421175"/>
                <a:gridCol w="1828800"/>
                <a:gridCol w="1905925"/>
              </a:tblGrid>
              <a:tr h="759975">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S. No.</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Author &amp; </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Paper Title </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[Citation]</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Journal/</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Conference</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(Year)</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Tools/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Techniques/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Dataset</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Key Findings/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Results</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Limitations/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Gaps Identified</a:t>
                      </a:r>
                      <a:endParaRPr/>
                    </a:p>
                  </a:txBody>
                  <a:tcPr marT="45725" marB="45725" marR="91450" marL="91450">
                    <a:solidFill>
                      <a:srgbClr val="606029"/>
                    </a:solidFill>
                  </a:tcPr>
                </a:tc>
              </a:tr>
              <a:tr h="2126200">
                <a:tc>
                  <a:txBody>
                    <a:bodyPr/>
                    <a:lstStyle/>
                    <a:p>
                      <a:pPr indent="0" lvl="0" marL="0" marR="0" rtl="0" algn="ctr">
                        <a:spcBef>
                          <a:spcPts val="0"/>
                        </a:spcBef>
                        <a:spcAft>
                          <a:spcPts val="0"/>
                        </a:spcAft>
                        <a:buNone/>
                      </a:pPr>
                      <a:r>
                        <a:rPr b="0" i="0" lang="en-US" sz="1200">
                          <a:latin typeface="Helvetica Neue"/>
                          <a:ea typeface="Helvetica Neue"/>
                          <a:cs typeface="Helvetica Neue"/>
                          <a:sym typeface="Helvetica Neue"/>
                        </a:rPr>
                        <a:t>1.</a:t>
                      </a:r>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"Dense Passage Retrieval for Open-Domain Question Answering" is authored by Vladimir Karpukhin, Barlas Oğuz, Sewon Min, et al. [13]</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2025</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100">
                          <a:latin typeface="Arial"/>
                          <a:ea typeface="Arial"/>
                          <a:cs typeface="Arial"/>
                          <a:sym typeface="Arial"/>
                        </a:rPr>
                        <a:t>Used </a:t>
                      </a:r>
                      <a:r>
                        <a:rPr b="1" lang="en-US" sz="1100">
                          <a:latin typeface="Arial"/>
                          <a:ea typeface="Arial"/>
                          <a:cs typeface="Arial"/>
                          <a:sym typeface="Arial"/>
                        </a:rPr>
                        <a:t>Dense Passage Retriever (DPR)</a:t>
                      </a:r>
                      <a:r>
                        <a:rPr lang="en-US" sz="1100">
                          <a:latin typeface="Arial"/>
                          <a:ea typeface="Arial"/>
                          <a:cs typeface="Arial"/>
                          <a:sym typeface="Arial"/>
                        </a:rPr>
                        <a:t> built on a dual-encoder </a:t>
                      </a:r>
                      <a:r>
                        <a:rPr b="1" lang="en-US" sz="1100">
                          <a:latin typeface="Arial"/>
                          <a:ea typeface="Arial"/>
                          <a:cs typeface="Arial"/>
                          <a:sym typeface="Arial"/>
                        </a:rPr>
                        <a:t>BERT</a:t>
                      </a:r>
                      <a:r>
                        <a:rPr lang="en-US" sz="1100">
                          <a:latin typeface="Arial"/>
                          <a:ea typeface="Arial"/>
                          <a:cs typeface="Arial"/>
                          <a:sym typeface="Arial"/>
                        </a:rPr>
                        <a:t> framework, trained with </a:t>
                      </a:r>
                      <a:r>
                        <a:rPr b="1" lang="en-US" sz="1100">
                          <a:latin typeface="Arial"/>
                          <a:ea typeface="Arial"/>
                          <a:cs typeface="Arial"/>
                          <a:sym typeface="Arial"/>
                        </a:rPr>
                        <a:t>in-batch negatives</a:t>
                      </a:r>
                      <a:r>
                        <a:rPr lang="en-US" sz="1100">
                          <a:latin typeface="Arial"/>
                          <a:ea typeface="Arial"/>
                          <a:cs typeface="Arial"/>
                          <a:sym typeface="Arial"/>
                        </a:rPr>
                        <a:t> and indexed with </a:t>
                      </a:r>
                      <a:r>
                        <a:rPr b="1" lang="en-US" sz="1100">
                          <a:latin typeface="Arial"/>
                          <a:ea typeface="Arial"/>
                          <a:cs typeface="Arial"/>
                          <a:sym typeface="Arial"/>
                        </a:rPr>
                        <a:t>FAISS</a:t>
                      </a:r>
                      <a:r>
                        <a:rPr lang="en-US" sz="1100">
                          <a:latin typeface="Arial"/>
                          <a:ea typeface="Arial"/>
                          <a:cs typeface="Arial"/>
                          <a:sym typeface="Arial"/>
                        </a:rPr>
                        <a:t> for efficient similarity search.</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100">
                          <a:latin typeface="Arial"/>
                          <a:ea typeface="Arial"/>
                          <a:cs typeface="Arial"/>
                          <a:sym typeface="Arial"/>
                        </a:rPr>
                        <a:t>A dense retriever trained on a small number of question-passage pairs can significantly outperform traditional sparse methods like </a:t>
                      </a:r>
                      <a:r>
                        <a:rPr b="1" lang="en-US" sz="1100">
                          <a:latin typeface="Arial"/>
                          <a:ea typeface="Arial"/>
                          <a:cs typeface="Arial"/>
                          <a:sym typeface="Arial"/>
                        </a:rPr>
                        <a:t>BM25</a:t>
                      </a:r>
                      <a:r>
                        <a:rPr lang="en-US" sz="1100">
                          <a:latin typeface="Arial"/>
                          <a:ea typeface="Arial"/>
                          <a:cs typeface="Arial"/>
                          <a:sym typeface="Arial"/>
                        </a:rPr>
                        <a:t> (by 9-19%) and set new state-of-the-art results on several QA benchmarks.</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95250" lvl="0" marL="171450" marR="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  </a:t>
                      </a:r>
                      <a:r>
                        <a:rPr lang="en-US" sz="1100">
                          <a:latin typeface="Arial"/>
                          <a:ea typeface="Arial"/>
                          <a:cs typeface="Arial"/>
                          <a:sym typeface="Arial"/>
                        </a:rPr>
                        <a:t>The DPR model can fail to retrieve passages based on rare, salient keywords where </a:t>
                      </a:r>
                      <a:r>
                        <a:rPr b="1" lang="en-US" sz="1100">
                          <a:latin typeface="Arial"/>
                          <a:ea typeface="Arial"/>
                          <a:cs typeface="Arial"/>
                          <a:sym typeface="Arial"/>
                        </a:rPr>
                        <a:t>BM25</a:t>
                      </a:r>
                      <a:r>
                        <a:rPr lang="en-US" sz="1100">
                          <a:latin typeface="Arial"/>
                          <a:ea typeface="Arial"/>
                          <a:cs typeface="Arial"/>
                          <a:sym typeface="Arial"/>
                        </a:rPr>
                        <a:t> excels, and its index-building process is substantially slower than that of sparse methods.</a:t>
                      </a:r>
                      <a:endParaRPr sz="1200">
                        <a:latin typeface="Helvetica Neue"/>
                        <a:ea typeface="Helvetica Neue"/>
                        <a:cs typeface="Helvetica Neue"/>
                        <a:sym typeface="Helvetica Neue"/>
                      </a:endParaRPr>
                    </a:p>
                  </a:txBody>
                  <a:tcPr marT="45725" marB="45725" marR="91450" marL="91450">
                    <a:solidFill>
                      <a:srgbClr val="D5D59B"/>
                    </a:solidFill>
                  </a:tcPr>
                </a:tc>
              </a:tr>
              <a:tr h="2908625">
                <a:tc>
                  <a:txBody>
                    <a:bodyPr/>
                    <a:lstStyle/>
                    <a:p>
                      <a:pPr indent="0" lvl="0" marL="0" marR="0" rtl="0" algn="ctr">
                        <a:spcBef>
                          <a:spcPts val="0"/>
                        </a:spcBef>
                        <a:spcAft>
                          <a:spcPts val="0"/>
                        </a:spcAft>
                        <a:buNone/>
                      </a:pPr>
                      <a:r>
                        <a:rPr lang="en-US" sz="1200">
                          <a:latin typeface="Helvetica Neue"/>
                          <a:ea typeface="Helvetica Neue"/>
                          <a:cs typeface="Helvetica Neue"/>
                          <a:sym typeface="Helvetica Neue"/>
                        </a:rPr>
                        <a:t>2</a:t>
                      </a:r>
                      <a:r>
                        <a:rPr b="0" i="0" lang="en-US" sz="1200">
                          <a:latin typeface="Helvetica Neue"/>
                          <a:ea typeface="Helvetica Neue"/>
                          <a:cs typeface="Helvetica Neue"/>
                          <a:sym typeface="Helvetica Neue"/>
                        </a:rPr>
                        <a:t>.</a:t>
                      </a:r>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Yinghao Sang, Chenxi Gu, Jian Guo, Yongjie Zhan, et al. </a:t>
                      </a:r>
                      <a:r>
                        <a:rPr i="1" lang="en-US" sz="1200">
                          <a:latin typeface="Helvetica Neue"/>
                          <a:ea typeface="Helvetica Neue"/>
                          <a:cs typeface="Helvetica Neue"/>
                          <a:sym typeface="Helvetica Neue"/>
                        </a:rPr>
                        <a:t>Towards Explainable RAG: Interpreting the Influence of Retrieved Passages on Generation</a:t>
                      </a:r>
                      <a:r>
                        <a:rPr lang="en-US" sz="1200">
                          <a:uFill>
                            <a:noFill/>
                          </a:uFill>
                          <a:latin typeface="Helvetica Neue"/>
                          <a:ea typeface="Helvetica Neue"/>
                          <a:cs typeface="Helvetica Neue"/>
                          <a:sym typeface="Helvetica Neue"/>
                          <a:hlinkClick r:id="rId3"/>
                        </a:rPr>
                        <a:t> </a:t>
                      </a:r>
                      <a:r>
                        <a:rPr lang="en-US" sz="1200">
                          <a:latin typeface="Helvetica Neue"/>
                          <a:ea typeface="Helvetica Neue"/>
                          <a:cs typeface="Helvetica Neue"/>
                          <a:sym typeface="Helvetica Neue"/>
                        </a:rPr>
                        <a:t>[16]</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2025</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RAG, influence analysis, embedding profiling, custom rewards, prompt compression</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Framework to interpret how retrieved passages affect RAG outputs; enhances transparency and attribution</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95250" lvl="0" marL="171450" marR="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   Explanations approximate not exact; mostly synthetic datasets; real-world adoption pending</a:t>
                      </a:r>
                      <a:endParaRPr i="0" sz="1200">
                        <a:latin typeface="Helvetica Neue"/>
                        <a:ea typeface="Helvetica Neue"/>
                        <a:cs typeface="Helvetica Neue"/>
                        <a:sym typeface="Helvetica Neue"/>
                      </a:endParaRPr>
                    </a:p>
                  </a:txBody>
                  <a:tcPr marT="45725" marB="45725" marR="91450" marL="91450">
                    <a:solidFill>
                      <a:srgbClr val="F0F0DD"/>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ae280144eb_0_52"/>
          <p:cNvSpPr txBox="1"/>
          <p:nvPr>
            <p:ph type="title"/>
          </p:nvPr>
        </p:nvSpPr>
        <p:spPr>
          <a:xfrm>
            <a:off x="40640" y="30480"/>
            <a:ext cx="8328900" cy="694200"/>
          </a:xfrm>
          <a:prstGeom prst="rect">
            <a:avLst/>
          </a:prstGeom>
        </p:spPr>
        <p:txBody>
          <a:bodyPr anchorCtr="0" anchor="ctr" bIns="45700" lIns="91425" spcFirstLastPara="1" rIns="91425" wrap="square" tIns="45700">
            <a:noAutofit/>
          </a:bodyPr>
          <a:lstStyle/>
          <a:p>
            <a:pPr indent="0" lvl="0" marL="90487" rtl="0" algn="l">
              <a:spcBef>
                <a:spcPts val="0"/>
              </a:spcBef>
              <a:spcAft>
                <a:spcPts val="0"/>
              </a:spcAft>
              <a:buClr>
                <a:schemeClr val="dk1"/>
              </a:buClr>
              <a:buSzPts val="1100"/>
              <a:buFont typeface="Arial"/>
              <a:buNone/>
            </a:pPr>
            <a:r>
              <a:rPr lang="en-US"/>
              <a:t>Literature Review (cont…)</a:t>
            </a:r>
            <a:endParaRPr/>
          </a:p>
        </p:txBody>
      </p:sp>
      <p:sp>
        <p:nvSpPr>
          <p:cNvPr id="91" name="Google Shape;91;g3ae280144eb_0_52"/>
          <p:cNvSpPr txBox="1"/>
          <p:nvPr>
            <p:ph idx="1" type="body"/>
          </p:nvPr>
        </p:nvSpPr>
        <p:spPr>
          <a:xfrm>
            <a:off x="827100" y="725900"/>
            <a:ext cx="5971500" cy="3560400"/>
          </a:xfrm>
          <a:prstGeom prst="rect">
            <a:avLst/>
          </a:prstGeom>
        </p:spPr>
        <p:txBody>
          <a:bodyPr anchorCtr="0" anchor="t" bIns="45700" lIns="91425" spcFirstLastPara="1" rIns="91425" wrap="square" tIns="45700">
            <a:noAutofit/>
          </a:bodyPr>
          <a:lstStyle/>
          <a:p>
            <a:pPr indent="0" lvl="0" marL="0" rtl="0" algn="just">
              <a:spcBef>
                <a:spcPts val="630"/>
              </a:spcBef>
              <a:spcAft>
                <a:spcPts val="0"/>
              </a:spcAft>
              <a:buNone/>
            </a:pPr>
            <a:r>
              <a:t/>
            </a:r>
            <a:endParaRPr/>
          </a:p>
        </p:txBody>
      </p:sp>
      <p:sp>
        <p:nvSpPr>
          <p:cNvPr id="92" name="Google Shape;92;g3ae280144eb_0_52"/>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93" name="Google Shape;93;g3ae280144eb_0_52"/>
          <p:cNvGraphicFramePr/>
          <p:nvPr/>
        </p:nvGraphicFramePr>
        <p:xfrm>
          <a:off x="110168" y="804223"/>
          <a:ext cx="3000000" cy="3000000"/>
        </p:xfrm>
        <a:graphic>
          <a:graphicData uri="http://schemas.openxmlformats.org/drawingml/2006/table">
            <a:tbl>
              <a:tblPr bandRow="1" firstRow="1">
                <a:noFill/>
                <a:tableStyleId>{898F8B75-1C41-4D90-AD48-C5B47D00A216}</a:tableStyleId>
              </a:tblPr>
              <a:tblGrid>
                <a:gridCol w="542250"/>
                <a:gridCol w="1760275"/>
                <a:gridCol w="1465250"/>
                <a:gridCol w="1421175"/>
                <a:gridCol w="1828800"/>
                <a:gridCol w="1906000"/>
              </a:tblGrid>
              <a:tr h="759975">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S. No.</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Author &amp; </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Paper Title </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[Citation]</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Journal/</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Conference</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(Year)</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Tools/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Techniques/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Dataset</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Key Findings/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Results</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Limitations/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Gaps Identified</a:t>
                      </a:r>
                      <a:endParaRPr/>
                    </a:p>
                  </a:txBody>
                  <a:tcPr marT="45725" marB="45725" marR="91450" marL="91450">
                    <a:solidFill>
                      <a:srgbClr val="606029"/>
                    </a:solidFill>
                  </a:tcPr>
                </a:tc>
              </a:tr>
              <a:tr h="2126200">
                <a:tc>
                  <a:txBody>
                    <a:bodyPr/>
                    <a:lstStyle/>
                    <a:p>
                      <a:pPr indent="0" lvl="0" marL="0" marR="0" rtl="0" algn="ctr">
                        <a:spcBef>
                          <a:spcPts val="0"/>
                        </a:spcBef>
                        <a:spcAft>
                          <a:spcPts val="0"/>
                        </a:spcAft>
                        <a:buNone/>
                      </a:pPr>
                      <a:r>
                        <a:rPr lang="en-US" sz="1200">
                          <a:latin typeface="Helvetica Neue"/>
                          <a:ea typeface="Helvetica Neue"/>
                          <a:cs typeface="Helvetica Neue"/>
                          <a:sym typeface="Helvetica Neue"/>
                        </a:rPr>
                        <a:t>3</a:t>
                      </a:r>
                      <a:r>
                        <a:rPr b="0" i="0" lang="en-US" sz="1200">
                          <a:latin typeface="Helvetica Neue"/>
                          <a:ea typeface="Helvetica Neue"/>
                          <a:cs typeface="Helvetica Neue"/>
                          <a:sym typeface="Helvetica Neue"/>
                        </a:rPr>
                        <a:t>.</a:t>
                      </a:r>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"A Reasoning-Focused Legal Retrieval Benchmark" is authored by Lucia Zheng, Neel Guha, Javokhir Arifov, et al. [8]  </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2025</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100">
                          <a:latin typeface="Arial"/>
                          <a:ea typeface="Arial"/>
                          <a:cs typeface="Arial"/>
                          <a:sym typeface="Arial"/>
                        </a:rPr>
                        <a:t>the study introduces two new legal RAG benchmarks (</a:t>
                      </a:r>
                      <a:r>
                        <a:rPr b="1" lang="en-US" sz="1100">
                          <a:latin typeface="Arial"/>
                          <a:ea typeface="Arial"/>
                          <a:cs typeface="Arial"/>
                          <a:sym typeface="Arial"/>
                        </a:rPr>
                        <a:t>Bar Exam QA</a:t>
                      </a:r>
                      <a:r>
                        <a:rPr lang="en-US" sz="1100">
                          <a:latin typeface="Arial"/>
                          <a:ea typeface="Arial"/>
                          <a:cs typeface="Arial"/>
                          <a:sym typeface="Arial"/>
                        </a:rPr>
                        <a:t> and </a:t>
                      </a:r>
                      <a:r>
                        <a:rPr b="1" lang="en-US" sz="1100">
                          <a:latin typeface="Arial"/>
                          <a:ea typeface="Arial"/>
                          <a:cs typeface="Arial"/>
                          <a:sym typeface="Arial"/>
                        </a:rPr>
                        <a:t>Housing Statute QA</a:t>
                      </a:r>
                      <a:r>
                        <a:rPr lang="en-US" sz="1100">
                          <a:latin typeface="Arial"/>
                          <a:ea typeface="Arial"/>
                          <a:cs typeface="Arial"/>
                          <a:sym typeface="Arial"/>
                        </a:rPr>
                        <a:t>) and evaluates retrieval methods like </a:t>
                      </a:r>
                      <a:r>
                        <a:rPr b="1" lang="en-US" sz="1100">
                          <a:latin typeface="Arial"/>
                          <a:ea typeface="Arial"/>
                          <a:cs typeface="Arial"/>
                          <a:sym typeface="Arial"/>
                        </a:rPr>
                        <a:t>BM25</a:t>
                      </a:r>
                      <a:r>
                        <a:rPr lang="en-US" sz="1100">
                          <a:latin typeface="Arial"/>
                          <a:ea typeface="Arial"/>
                          <a:cs typeface="Arial"/>
                          <a:sym typeface="Arial"/>
                        </a:rPr>
                        <a:t> and the </a:t>
                      </a:r>
                      <a:r>
                        <a:rPr b="1" lang="en-US" sz="1100">
                          <a:latin typeface="Arial"/>
                          <a:ea typeface="Arial"/>
                          <a:cs typeface="Arial"/>
                          <a:sym typeface="Arial"/>
                        </a:rPr>
                        <a:t>E5 model family</a:t>
                      </a:r>
                      <a:r>
                        <a:rPr lang="en-US" sz="1100">
                          <a:latin typeface="Arial"/>
                          <a:ea typeface="Arial"/>
                          <a:cs typeface="Arial"/>
                          <a:sym typeface="Arial"/>
                        </a:rPr>
                        <a:t>, enhanced by a novel </a:t>
                      </a:r>
                      <a:r>
                        <a:rPr b="1" lang="en-US" sz="1100">
                          <a:latin typeface="Arial"/>
                          <a:ea typeface="Arial"/>
                          <a:cs typeface="Arial"/>
                          <a:sym typeface="Arial"/>
                        </a:rPr>
                        <a:t>structured legal reasoning</a:t>
                      </a:r>
                      <a:r>
                        <a:rPr lang="en-US" sz="1100">
                          <a:latin typeface="Arial"/>
                          <a:ea typeface="Arial"/>
                          <a:cs typeface="Arial"/>
                          <a:sym typeface="Arial"/>
                        </a:rPr>
                        <a:t> query expansion technique using </a:t>
                      </a:r>
                      <a:r>
                        <a:rPr b="1" lang="en-US" sz="1100">
                          <a:latin typeface="Arial"/>
                          <a:ea typeface="Arial"/>
                          <a:cs typeface="Arial"/>
                          <a:sym typeface="Arial"/>
                        </a:rPr>
                        <a:t>GPT-3.5</a:t>
                      </a:r>
                      <a:r>
                        <a:rPr lang="en-US" sz="1100">
                          <a:latin typeface="Arial"/>
                          <a:ea typeface="Arial"/>
                          <a:cs typeface="Arial"/>
                          <a:sym typeface="Arial"/>
                        </a:rPr>
                        <a:t>.   </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Legal retrieval is challenging due to low lexical similarity between questions and documents, but performance can be significantly improved by using generative query expansion that incorporates structured legal reasoning, suggesting retrievers must also be reasoners</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95250" lvl="0" marL="171450" marR="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  The introduced datasets are limited to specific legal domains (bar exam topics and housing law) and use multiple-choice formats, which may not represent the full complexity and distribution of real-world legal tasks.</a:t>
                      </a:r>
                      <a:endParaRPr sz="1200">
                        <a:latin typeface="Helvetica Neue"/>
                        <a:ea typeface="Helvetica Neue"/>
                        <a:cs typeface="Helvetica Neue"/>
                        <a:sym typeface="Helvetica Neue"/>
                      </a:endParaRPr>
                    </a:p>
                  </a:txBody>
                  <a:tcPr marT="45725" marB="45725" marR="91450" marL="91450">
                    <a:solidFill>
                      <a:srgbClr val="D5D59B"/>
                    </a:solidFill>
                  </a:tcPr>
                </a:tc>
              </a:tr>
              <a:tr h="1684025">
                <a:tc>
                  <a:txBody>
                    <a:bodyPr/>
                    <a:lstStyle/>
                    <a:p>
                      <a:pPr indent="0" lvl="0" marL="0" marR="0" rtl="0" algn="ctr">
                        <a:spcBef>
                          <a:spcPts val="0"/>
                        </a:spcBef>
                        <a:spcAft>
                          <a:spcPts val="0"/>
                        </a:spcAft>
                        <a:buNone/>
                      </a:pPr>
                      <a:r>
                        <a:rPr lang="en-US" sz="1200">
                          <a:latin typeface="Helvetica Neue"/>
                          <a:ea typeface="Helvetica Neue"/>
                          <a:cs typeface="Helvetica Neue"/>
                          <a:sym typeface="Helvetica Neue"/>
                        </a:rPr>
                        <a:t>4</a:t>
                      </a:r>
                      <a:r>
                        <a:rPr b="0" i="0" lang="en-US" sz="1200">
                          <a:latin typeface="Helvetica Neue"/>
                          <a:ea typeface="Helvetica Neue"/>
                          <a:cs typeface="Helvetica Neue"/>
                          <a:sym typeface="Helvetica Neue"/>
                        </a:rPr>
                        <a:t>.</a:t>
                      </a:r>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Balanos et al., </a:t>
                      </a:r>
                      <a:r>
                        <a:rPr i="1" lang="en-US" sz="1200">
                          <a:latin typeface="Helvetica Neue"/>
                          <a:ea typeface="Helvetica Neue"/>
                          <a:cs typeface="Helvetica Neue"/>
                          <a:sym typeface="Helvetica Neue"/>
                        </a:rPr>
                        <a:t>"KGRAG-Ex: Explainable Retrieval-Augmented Generation with Knowledge Graph-based Perturbations" [14]</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2025</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LLM triplet extraction, KG pseudo-paragraph RAG, perturbation methods, medical dataset</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Improves interpretability and efficiency of RAG explanations</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95250" lvl="0" marL="171450" marR="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  Limited to medical domain; scalability and broader validation not tested</a:t>
                      </a:r>
                      <a:endParaRPr i="0" sz="1200">
                        <a:latin typeface="Helvetica Neue"/>
                        <a:ea typeface="Helvetica Neue"/>
                        <a:cs typeface="Helvetica Neue"/>
                        <a:sym typeface="Helvetica Neue"/>
                      </a:endParaRPr>
                    </a:p>
                  </a:txBody>
                  <a:tcPr marT="45725" marB="45725" marR="91450" marL="91450">
                    <a:solidFill>
                      <a:srgbClr val="F0F0DD"/>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ae280144eb_0_96"/>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Literature Review (cont…)</a:t>
            </a:r>
            <a:endParaRPr b="0"/>
          </a:p>
        </p:txBody>
      </p:sp>
      <p:sp>
        <p:nvSpPr>
          <p:cNvPr id="99" name="Google Shape;99;g3ae280144eb_0_96"/>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00" name="Google Shape;100;g3ae280144eb_0_96"/>
          <p:cNvGraphicFramePr/>
          <p:nvPr/>
        </p:nvGraphicFramePr>
        <p:xfrm>
          <a:off x="93631" y="804223"/>
          <a:ext cx="3000000" cy="3000000"/>
        </p:xfrm>
        <a:graphic>
          <a:graphicData uri="http://schemas.openxmlformats.org/drawingml/2006/table">
            <a:tbl>
              <a:tblPr bandRow="1" firstRow="1">
                <a:noFill/>
                <a:tableStyleId>{898F8B75-1C41-4D90-AD48-C5B47D00A216}</a:tableStyleId>
              </a:tblPr>
              <a:tblGrid>
                <a:gridCol w="544250"/>
                <a:gridCol w="1766800"/>
                <a:gridCol w="1470675"/>
                <a:gridCol w="1426425"/>
                <a:gridCol w="1835575"/>
                <a:gridCol w="1912975"/>
              </a:tblGrid>
              <a:tr h="742525">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S. No.</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Author &amp; </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Paper Title </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[Citation]</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Journal/</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Conference</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(Year)</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Tools/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Techniques/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Dataset</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Key Findings/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Results</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Limitations/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Gaps Identified</a:t>
                      </a:r>
                      <a:endParaRPr/>
                    </a:p>
                  </a:txBody>
                  <a:tcPr marT="45725" marB="45725" marR="91450" marL="91450">
                    <a:solidFill>
                      <a:srgbClr val="606029"/>
                    </a:solidFill>
                  </a:tcPr>
                </a:tc>
              </a:tr>
              <a:tr h="2400500">
                <a:tc>
                  <a:txBody>
                    <a:bodyPr/>
                    <a:lstStyle/>
                    <a:p>
                      <a:pPr indent="0" lvl="0" marL="0" marR="0" rtl="0" algn="ctr">
                        <a:spcBef>
                          <a:spcPts val="0"/>
                        </a:spcBef>
                        <a:spcAft>
                          <a:spcPts val="0"/>
                        </a:spcAft>
                        <a:buNone/>
                      </a:pPr>
                      <a:r>
                        <a:rPr lang="en-US" sz="1200">
                          <a:latin typeface="Helvetica Neue"/>
                          <a:ea typeface="Helvetica Neue"/>
                          <a:cs typeface="Helvetica Neue"/>
                          <a:sym typeface="Helvetica Neue"/>
                        </a:rPr>
                        <a:t>5</a:t>
                      </a:r>
                      <a:r>
                        <a:rPr b="0" i="0" lang="en-US" sz="1200">
                          <a:latin typeface="Helvetica Neue"/>
                          <a:ea typeface="Helvetica Neue"/>
                          <a:cs typeface="Helvetica Neue"/>
                          <a:sym typeface="Helvetica Neue"/>
                        </a:rPr>
                        <a:t>.</a:t>
                      </a:r>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Juan Nicolás Arellana</a:t>
                      </a:r>
                      <a:endParaRPr sz="1200">
                        <a:latin typeface="Helvetica Neue"/>
                        <a:ea typeface="Helvetica Neue"/>
                        <a:cs typeface="Helvetica Neue"/>
                        <a:sym typeface="Helvetica Neue"/>
                      </a:endParaRPr>
                    </a:p>
                    <a:p>
                      <a:pPr indent="0" lvl="0" marL="0" marR="0" rtl="0" algn="l">
                        <a:spcBef>
                          <a:spcPts val="0"/>
                        </a:spcBef>
                        <a:spcAft>
                          <a:spcPts val="0"/>
                        </a:spcAft>
                        <a:buNone/>
                      </a:pPr>
                      <a:r>
                        <a:rPr lang="en-US" sz="1200">
                          <a:latin typeface="Helvetica Neue"/>
                          <a:ea typeface="Helvetica Neue"/>
                          <a:cs typeface="Helvetica Neue"/>
                          <a:sym typeface="Helvetica Neue"/>
                        </a:rPr>
                        <a:t>D’Aleman,Alexandre Perera Lluna.</a:t>
                      </a:r>
                      <a:endParaRPr sz="1200">
                        <a:latin typeface="Helvetica Neue"/>
                        <a:ea typeface="Helvetica Neue"/>
                        <a:cs typeface="Helvetica Neue"/>
                        <a:sym typeface="Helvetica Neue"/>
                      </a:endParaRPr>
                    </a:p>
                    <a:p>
                      <a:pPr indent="0" lvl="0" marL="0" marR="0" rtl="0" algn="l">
                        <a:spcBef>
                          <a:spcPts val="0"/>
                        </a:spcBef>
                        <a:spcAft>
                          <a:spcPts val="0"/>
                        </a:spcAft>
                        <a:buNone/>
                      </a:pPr>
                      <a:r>
                        <a:t/>
                      </a:r>
                      <a:endParaRPr sz="1200">
                        <a:latin typeface="Helvetica Neue"/>
                        <a:ea typeface="Helvetica Neue"/>
                        <a:cs typeface="Helvetica Neue"/>
                        <a:sym typeface="Helvetica Neue"/>
                      </a:endParaRPr>
                    </a:p>
                    <a:p>
                      <a:pPr indent="0" lvl="0" marL="0" marR="0" rtl="0" algn="l">
                        <a:spcBef>
                          <a:spcPts val="0"/>
                        </a:spcBef>
                        <a:spcAft>
                          <a:spcPts val="0"/>
                        </a:spcAft>
                        <a:buNone/>
                      </a:pPr>
                      <a:r>
                        <a:rPr lang="en-US" sz="1200">
                          <a:latin typeface="Helvetica Neue"/>
                          <a:ea typeface="Helvetica Neue"/>
                          <a:cs typeface="Helvetica Neue"/>
                          <a:sym typeface="Helvetica Neue"/>
                        </a:rPr>
                        <a:t>Development of a RAG system to</a:t>
                      </a:r>
                      <a:endParaRPr sz="1200">
                        <a:latin typeface="Helvetica Neue"/>
                        <a:ea typeface="Helvetica Neue"/>
                        <a:cs typeface="Helvetica Neue"/>
                        <a:sym typeface="Helvetica Neue"/>
                      </a:endParaRPr>
                    </a:p>
                    <a:p>
                      <a:pPr indent="0" lvl="0" marL="0" marR="0" rtl="0" algn="l">
                        <a:spcBef>
                          <a:spcPts val="0"/>
                        </a:spcBef>
                        <a:spcAft>
                          <a:spcPts val="0"/>
                        </a:spcAft>
                        <a:buNone/>
                      </a:pPr>
                      <a:r>
                        <a:rPr lang="en-US" sz="1200">
                          <a:latin typeface="Helvetica Neue"/>
                          <a:ea typeface="Helvetica Neue"/>
                          <a:cs typeface="Helvetica Neue"/>
                          <a:sym typeface="Helvetica Neue"/>
                        </a:rPr>
                        <a:t>derive requirements from</a:t>
                      </a:r>
                      <a:endParaRPr sz="1200">
                        <a:latin typeface="Helvetica Neue"/>
                        <a:ea typeface="Helvetica Neue"/>
                        <a:cs typeface="Helvetica Neue"/>
                        <a:sym typeface="Helvetica Neue"/>
                      </a:endParaRPr>
                    </a:p>
                    <a:p>
                      <a:pPr indent="0" lvl="0" marL="0" marR="0" rtl="0" algn="l">
                        <a:spcBef>
                          <a:spcPts val="0"/>
                        </a:spcBef>
                        <a:spcAft>
                          <a:spcPts val="0"/>
                        </a:spcAft>
                        <a:buNone/>
                      </a:pPr>
                      <a:r>
                        <a:rPr lang="en-US" sz="1200">
                          <a:latin typeface="Helvetica Neue"/>
                          <a:ea typeface="Helvetica Neue"/>
                          <a:cs typeface="Helvetica Neue"/>
                          <a:sym typeface="Helvetica Neue"/>
                        </a:rPr>
                        <a:t>regulation [9]</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2025</a:t>
                      </a:r>
                      <a:endParaRPr b="0"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Retrieval-Augmented Generation, vector embeddings, clause-level retrieval, domain-specific legal corpora (e.g., regulatory texts like FDA/MDR), alignment across frameworks</a:t>
                      </a:r>
                      <a:endParaRPr b="0"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Demonstrates RAG can extract and align regulatory requirements from complex legal texts that  improves semantic retrieval beyond keyword search.</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marR="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Scope limited to selected domains and datasets; requires richer human-in-the-loop validation; performance depends on knowledge base quality and coverage.</a:t>
                      </a:r>
                      <a:endParaRPr b="0" i="0" sz="1200">
                        <a:latin typeface="Helvetica Neue"/>
                        <a:ea typeface="Helvetica Neue"/>
                        <a:cs typeface="Helvetica Neue"/>
                        <a:sym typeface="Helvetica Neue"/>
                      </a:endParaRPr>
                    </a:p>
                  </a:txBody>
                  <a:tcPr marT="45725" marB="45725" marR="91450" marL="91450">
                    <a:solidFill>
                      <a:srgbClr val="D5D59B"/>
                    </a:solidFill>
                  </a:tcPr>
                </a:tc>
              </a:tr>
              <a:tr h="2635575">
                <a:tc>
                  <a:txBody>
                    <a:bodyPr/>
                    <a:lstStyle/>
                    <a:p>
                      <a:pPr indent="0" lvl="0" marL="0" marR="0" rtl="0" algn="ctr">
                        <a:spcBef>
                          <a:spcPts val="0"/>
                        </a:spcBef>
                        <a:spcAft>
                          <a:spcPts val="0"/>
                        </a:spcAft>
                        <a:buNone/>
                      </a:pPr>
                      <a:r>
                        <a:rPr lang="en-US" sz="1200">
                          <a:latin typeface="Helvetica Neue"/>
                          <a:ea typeface="Helvetica Neue"/>
                          <a:cs typeface="Helvetica Neue"/>
                          <a:sym typeface="Helvetica Neue"/>
                        </a:rPr>
                        <a:t>6</a:t>
                      </a:r>
                      <a:r>
                        <a:rPr b="0" i="0" lang="en-US" sz="1200">
                          <a:latin typeface="Helvetica Neue"/>
                          <a:ea typeface="Helvetica Neue"/>
                          <a:cs typeface="Helvetica Neue"/>
                          <a:sym typeface="Helvetica Neue"/>
                        </a:rPr>
                        <a:t>.</a:t>
                      </a:r>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Youssra Amazou, Faouzi Tayalati, Houssam Mensouri, Abdellah Azmani, Monir Azman</a:t>
                      </a:r>
                      <a:endParaRPr sz="1200">
                        <a:latin typeface="Helvetica Neue"/>
                        <a:ea typeface="Helvetica Neue"/>
                        <a:cs typeface="Helvetica Neue"/>
                        <a:sym typeface="Helvetica Neue"/>
                      </a:endParaRPr>
                    </a:p>
                    <a:p>
                      <a:pPr indent="0" lvl="0" marL="0" marR="0" rtl="0" algn="l">
                        <a:spcBef>
                          <a:spcPts val="0"/>
                        </a:spcBef>
                        <a:spcAft>
                          <a:spcPts val="0"/>
                        </a:spcAft>
                        <a:buNone/>
                      </a:pPr>
                      <a:r>
                        <a:t/>
                      </a:r>
                      <a:endParaRPr sz="1200">
                        <a:latin typeface="Helvetica Neue"/>
                        <a:ea typeface="Helvetica Neue"/>
                        <a:cs typeface="Helvetica Neue"/>
                        <a:sym typeface="Helvetica Neue"/>
                      </a:endParaRPr>
                    </a:p>
                    <a:p>
                      <a:pPr indent="0" lvl="0" marL="0" marR="0" rtl="0" algn="l">
                        <a:spcBef>
                          <a:spcPts val="0"/>
                        </a:spcBef>
                        <a:spcAft>
                          <a:spcPts val="0"/>
                        </a:spcAft>
                        <a:buNone/>
                      </a:pPr>
                      <a:r>
                        <a:rPr lang="en-US" sz="1200">
                          <a:latin typeface="Helvetica Neue"/>
                          <a:ea typeface="Helvetica Neue"/>
                          <a:cs typeface="Helvetica Neue"/>
                          <a:sym typeface="Helvetica Neue"/>
                        </a:rPr>
                        <a:t>Accurate AI Assistance in Contract Law Using Retrieval-Augmented Generation to Advance Legal Technology [10]</a:t>
                      </a:r>
                      <a:endParaRPr sz="1200">
                        <a:latin typeface="Helvetica Neue"/>
                        <a:ea typeface="Helvetica Neue"/>
                        <a:cs typeface="Helvetica Neue"/>
                        <a:sym typeface="Helvetica Neue"/>
                      </a:endParaRPr>
                    </a:p>
                    <a:p>
                      <a:pPr indent="0" lvl="0" marL="0" marR="0" rtl="0" algn="l">
                        <a:spcBef>
                          <a:spcPts val="0"/>
                        </a:spcBef>
                        <a:spcAft>
                          <a:spcPts val="0"/>
                        </a:spcAft>
                        <a:buNone/>
                      </a:pPr>
                      <a:r>
                        <a:t/>
                      </a:r>
                      <a:endParaRPr sz="1200">
                        <a:latin typeface="Helvetica Neue"/>
                        <a:ea typeface="Helvetica Neue"/>
                        <a:cs typeface="Helvetica Neue"/>
                        <a:sym typeface="Helvetica Neue"/>
                      </a:endParaRPr>
                    </a:p>
                    <a:p>
                      <a:pPr indent="0" lvl="0" marL="0" marR="0" rtl="0" algn="l">
                        <a:spcBef>
                          <a:spcPts val="0"/>
                        </a:spcBef>
                        <a:spcAft>
                          <a:spcPts val="0"/>
                        </a:spcAft>
                        <a:buNone/>
                      </a:pPr>
                      <a:r>
                        <a:t/>
                      </a:r>
                      <a:endParaRPr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2025</a:t>
                      </a:r>
                      <a:endParaRPr b="0"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RAG pipeline with dense retriever and GPT‑4 Turbo/Llama 3 generator evaluated by RAGAS on OCR‑processed Moroccan contract law PDFs stored as a legal vector database.</a:t>
                      </a:r>
                      <a:endParaRPr b="0"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In generator evaluation using RAGAS, GPT‑4 Turbo outperformed Llama 3 with perfect faithfulness (1.0), higher answer relevance (0.971 vs 0.79), and slower response time (3.12s vs 0.86s), indicating a quality–latency tradeoff favoring GPT‑4 Turbo for reliability</a:t>
                      </a:r>
                      <a:endParaRPr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The paper’s legal chatbot is limited by domain scope, dataset language, and jurisdictional coverage, since experiments use Moroccan contract law in French which may not generalize across legal systems without significant re-indexing and validation.</a:t>
                      </a:r>
                      <a:endParaRPr b="0" i="0" sz="1200">
                        <a:latin typeface="Helvetica Neue"/>
                        <a:ea typeface="Helvetica Neue"/>
                        <a:cs typeface="Helvetica Neue"/>
                        <a:sym typeface="Helvetica Neue"/>
                      </a:endParaRPr>
                    </a:p>
                  </a:txBody>
                  <a:tcPr marT="45725" marB="45725" marR="91450" marL="57150">
                    <a:solidFill>
                      <a:srgbClr val="F0F0DD"/>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ae280144eb_0_140"/>
          <p:cNvSpPr txBox="1"/>
          <p:nvPr>
            <p:ph type="title"/>
          </p:nvPr>
        </p:nvSpPr>
        <p:spPr>
          <a:xfrm>
            <a:off x="40640" y="30480"/>
            <a:ext cx="8328900" cy="694200"/>
          </a:xfrm>
          <a:prstGeom prst="rect">
            <a:avLst/>
          </a:prstGeom>
        </p:spPr>
        <p:txBody>
          <a:bodyPr anchorCtr="0" anchor="ctr" bIns="45700" lIns="91425" spcFirstLastPara="1" rIns="91425" wrap="square" tIns="45700">
            <a:noAutofit/>
          </a:bodyPr>
          <a:lstStyle/>
          <a:p>
            <a:pPr indent="0" lvl="0" marL="90487" rtl="0" algn="l">
              <a:spcBef>
                <a:spcPts val="0"/>
              </a:spcBef>
              <a:spcAft>
                <a:spcPts val="0"/>
              </a:spcAft>
              <a:buClr>
                <a:schemeClr val="dk1"/>
              </a:buClr>
              <a:buFont typeface="Arial"/>
              <a:buNone/>
            </a:pPr>
            <a:r>
              <a:rPr lang="en-US"/>
              <a:t>Literature Review (cont…)</a:t>
            </a:r>
            <a:endParaRPr/>
          </a:p>
        </p:txBody>
      </p:sp>
      <p:sp>
        <p:nvSpPr>
          <p:cNvPr id="107" name="Google Shape;107;g3ae280144eb_0_140"/>
          <p:cNvSpPr txBox="1"/>
          <p:nvPr>
            <p:ph idx="1" type="body"/>
          </p:nvPr>
        </p:nvSpPr>
        <p:spPr>
          <a:xfrm>
            <a:off x="86200" y="782325"/>
            <a:ext cx="8953500" cy="5794800"/>
          </a:xfrm>
          <a:prstGeom prst="rect">
            <a:avLst/>
          </a:prstGeom>
        </p:spPr>
        <p:txBody>
          <a:bodyPr anchorCtr="0" anchor="t" bIns="45700" lIns="91425" spcFirstLastPara="1" rIns="91425" wrap="square" tIns="45700">
            <a:noAutofit/>
          </a:bodyPr>
          <a:lstStyle/>
          <a:p>
            <a:pPr indent="0" lvl="0" marL="0" rtl="0" algn="just">
              <a:spcBef>
                <a:spcPts val="630"/>
              </a:spcBef>
              <a:spcAft>
                <a:spcPts val="0"/>
              </a:spcAft>
              <a:buNone/>
            </a:pPr>
            <a:r>
              <a:t/>
            </a:r>
            <a:endParaRPr/>
          </a:p>
        </p:txBody>
      </p:sp>
      <p:sp>
        <p:nvSpPr>
          <p:cNvPr id="108" name="Google Shape;108;g3ae280144eb_0_140"/>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sp>
        <p:nvSpPr>
          <p:cNvPr id="109" name="Google Shape;109;g3ae280144eb_0_140"/>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Literature Review (cont…)</a:t>
            </a:r>
            <a:endParaRPr b="0"/>
          </a:p>
        </p:txBody>
      </p:sp>
      <p:sp>
        <p:nvSpPr>
          <p:cNvPr id="110" name="Google Shape;110;g3ae280144eb_0_140"/>
          <p:cNvSpPr txBox="1"/>
          <p:nvPr/>
        </p:nvSpPr>
        <p:spPr>
          <a:xfrm>
            <a:off x="77118" y="742768"/>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11" name="Google Shape;111;g3ae280144eb_0_140"/>
          <p:cNvGraphicFramePr/>
          <p:nvPr/>
        </p:nvGraphicFramePr>
        <p:xfrm>
          <a:off x="86206" y="804223"/>
          <a:ext cx="3000000" cy="3000000"/>
        </p:xfrm>
        <a:graphic>
          <a:graphicData uri="http://schemas.openxmlformats.org/drawingml/2006/table">
            <a:tbl>
              <a:tblPr bandRow="1" firstRow="1">
                <a:noFill/>
                <a:tableStyleId>{898F8B75-1C41-4D90-AD48-C5B47D00A216}</a:tableStyleId>
              </a:tblPr>
              <a:tblGrid>
                <a:gridCol w="566200"/>
                <a:gridCol w="1760275"/>
                <a:gridCol w="1240625"/>
                <a:gridCol w="1645800"/>
                <a:gridCol w="1828800"/>
                <a:gridCol w="1905925"/>
              </a:tblGrid>
              <a:tr h="720025">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S. No.</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Author &amp; </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Paper Title </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[Citation]</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Journal/</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Conference</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(Year)</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Tools/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Techniques/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Dataset</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Key Findings/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Results</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Limitations/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Gaps Identified</a:t>
                      </a:r>
                      <a:endParaRPr/>
                    </a:p>
                  </a:txBody>
                  <a:tcPr marT="45725" marB="45725" marR="91450" marL="91450">
                    <a:solidFill>
                      <a:srgbClr val="606029"/>
                    </a:solidFill>
                  </a:tcPr>
                </a:tc>
              </a:tr>
              <a:tr h="2610100">
                <a:tc>
                  <a:txBody>
                    <a:bodyPr/>
                    <a:lstStyle/>
                    <a:p>
                      <a:pPr indent="0" lvl="0" marL="0" marR="0" rtl="0" algn="ctr">
                        <a:spcBef>
                          <a:spcPts val="0"/>
                        </a:spcBef>
                        <a:spcAft>
                          <a:spcPts val="0"/>
                        </a:spcAft>
                        <a:buNone/>
                      </a:pPr>
                      <a:r>
                        <a:rPr b="0" i="0" lang="en-US" sz="1200">
                          <a:latin typeface="Helvetica Neue"/>
                          <a:ea typeface="Helvetica Neue"/>
                          <a:cs typeface="Helvetica Neue"/>
                          <a:sym typeface="Helvetica Neue"/>
                        </a:rPr>
                        <a:t>7.</a:t>
                      </a:r>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Robert Friel, Masha Belyi, Atindriyo Sanyal</a:t>
                      </a:r>
                      <a:endParaRPr sz="1200">
                        <a:latin typeface="Helvetica Neue"/>
                        <a:ea typeface="Helvetica Neue"/>
                        <a:cs typeface="Helvetica Neue"/>
                        <a:sym typeface="Helvetica Neue"/>
                      </a:endParaRPr>
                    </a:p>
                    <a:p>
                      <a:pPr indent="0" lvl="0" marL="0" marR="0" rtl="0" algn="l">
                        <a:spcBef>
                          <a:spcPts val="0"/>
                        </a:spcBef>
                        <a:spcAft>
                          <a:spcPts val="0"/>
                        </a:spcAft>
                        <a:buNone/>
                      </a:pPr>
                      <a:r>
                        <a:rPr lang="en-US" sz="1200">
                          <a:latin typeface="Helvetica Neue"/>
                          <a:ea typeface="Helvetica Neue"/>
                          <a:cs typeface="Helvetica Neue"/>
                          <a:sym typeface="Helvetica Neue"/>
                        </a:rPr>
                        <a:t> </a:t>
                      </a:r>
                      <a:endParaRPr sz="1200">
                        <a:latin typeface="Helvetica Neue"/>
                        <a:ea typeface="Helvetica Neue"/>
                        <a:cs typeface="Helvetica Neue"/>
                        <a:sym typeface="Helvetica Neue"/>
                      </a:endParaRPr>
                    </a:p>
                    <a:p>
                      <a:pPr indent="0" lvl="0" marL="0" marR="0" rtl="0" algn="l">
                        <a:spcBef>
                          <a:spcPts val="0"/>
                        </a:spcBef>
                        <a:spcAft>
                          <a:spcPts val="0"/>
                        </a:spcAft>
                        <a:buNone/>
                      </a:pPr>
                      <a:r>
                        <a:rPr lang="en-US" sz="1200">
                          <a:latin typeface="Helvetica Neue"/>
                          <a:ea typeface="Helvetica Neue"/>
                          <a:cs typeface="Helvetica Neue"/>
                          <a:sym typeface="Helvetica Neue"/>
                        </a:rPr>
                        <a:t>RAGBench:</a:t>
                      </a:r>
                      <a:endParaRPr sz="1200">
                        <a:latin typeface="Helvetica Neue"/>
                        <a:ea typeface="Helvetica Neue"/>
                        <a:cs typeface="Helvetica Neue"/>
                        <a:sym typeface="Helvetica Neue"/>
                      </a:endParaRPr>
                    </a:p>
                    <a:p>
                      <a:pPr indent="0" lvl="0" marL="0" marR="0" rtl="0" algn="l">
                        <a:spcBef>
                          <a:spcPts val="0"/>
                        </a:spcBef>
                        <a:spcAft>
                          <a:spcPts val="0"/>
                        </a:spcAft>
                        <a:buNone/>
                      </a:pPr>
                      <a:r>
                        <a:rPr lang="en-US" sz="1200">
                          <a:latin typeface="Helvetica Neue"/>
                          <a:ea typeface="Helvetica Neue"/>
                          <a:cs typeface="Helvetica Neue"/>
                          <a:sym typeface="Helvetica Neue"/>
                        </a:rPr>
                        <a:t>Explainable Benchmark for Retrieval-Augmented Generation Systems. [7]</a:t>
                      </a:r>
                      <a:endParaRPr b="0"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2025</a:t>
                      </a:r>
                      <a:endParaRPr b="0"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TRACe evaluation metrics which is</a:t>
                      </a:r>
                      <a:endParaRPr sz="1200">
                        <a:latin typeface="Helvetica Neue"/>
                        <a:ea typeface="Helvetica Neue"/>
                        <a:cs typeface="Helvetica Neue"/>
                        <a:sym typeface="Helvetica Neue"/>
                      </a:endParaRPr>
                    </a:p>
                    <a:p>
                      <a:pPr indent="0" lvl="0" marL="0" rtl="0" algn="l">
                        <a:spcBef>
                          <a:spcPts val="0"/>
                        </a:spcBef>
                        <a:spcAft>
                          <a:spcPts val="0"/>
                        </a:spcAft>
                        <a:buNone/>
                      </a:pPr>
                      <a:r>
                        <a:rPr lang="en-US" sz="1200">
                          <a:latin typeface="Helvetica Neue"/>
                          <a:ea typeface="Helvetica Neue"/>
                          <a:cs typeface="Helvetica Neue"/>
                          <a:sym typeface="Helvetica Neue"/>
                        </a:rPr>
                        <a:t>Utilization (how much retrieved context is used), Relevance (retriever quality), Adherence (faithfulness of the response to context), and Completeness (coverage of all relevant context)</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On the hallucination detection task, DeBERTA AUROC scores range from 0.64 to 0.86. While</a:t>
                      </a:r>
                      <a:endParaRPr sz="1200">
                        <a:latin typeface="Helvetica Neue"/>
                        <a:ea typeface="Helvetica Neue"/>
                        <a:cs typeface="Helvetica Neue"/>
                        <a:sym typeface="Helvetica Neue"/>
                      </a:endParaRPr>
                    </a:p>
                    <a:p>
                      <a:pPr indent="0" lvl="0" marL="0" marR="0" rtl="0" algn="l">
                        <a:spcBef>
                          <a:spcPts val="0"/>
                        </a:spcBef>
                        <a:spcAft>
                          <a:spcPts val="0"/>
                        </a:spcAft>
                        <a:buNone/>
                      </a:pPr>
                      <a:r>
                        <a:rPr lang="en-US" sz="1200">
                          <a:latin typeface="Helvetica Neue"/>
                          <a:ea typeface="Helvetica Neue"/>
                          <a:cs typeface="Helvetica Neue"/>
                          <a:sym typeface="Helvetica Neue"/>
                        </a:rPr>
                        <a:t>RMSE for relevance and utilization range from 0.04 to 0.26, depending on the domain and task.</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marR="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Limited by synthetic datasets; requires more diverse real-world datasets; current evaluation metrics still evolving</a:t>
                      </a:r>
                      <a:endParaRPr b="0" i="0" sz="1200">
                        <a:latin typeface="Helvetica Neue"/>
                        <a:ea typeface="Helvetica Neue"/>
                        <a:cs typeface="Helvetica Neue"/>
                        <a:sym typeface="Helvetica Neue"/>
                      </a:endParaRPr>
                    </a:p>
                  </a:txBody>
                  <a:tcPr marT="45725" marB="45725" marR="91450" marL="228600">
                    <a:solidFill>
                      <a:srgbClr val="D5D59B"/>
                    </a:solidFill>
                  </a:tcPr>
                </a:tc>
              </a:tr>
              <a:tr h="2453175">
                <a:tc>
                  <a:txBody>
                    <a:bodyPr/>
                    <a:lstStyle/>
                    <a:p>
                      <a:pPr indent="0" lvl="0" marL="0" marR="0" rtl="0" algn="ctr">
                        <a:spcBef>
                          <a:spcPts val="0"/>
                        </a:spcBef>
                        <a:spcAft>
                          <a:spcPts val="0"/>
                        </a:spcAft>
                        <a:buNone/>
                      </a:pPr>
                      <a:r>
                        <a:rPr b="0" i="0" lang="en-US" sz="1200">
                          <a:latin typeface="Helvetica Neue"/>
                          <a:ea typeface="Helvetica Neue"/>
                          <a:cs typeface="Helvetica Neue"/>
                          <a:sym typeface="Helvetica Neue"/>
                        </a:rPr>
                        <a:t>8.</a:t>
                      </a:r>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Devansh Guttikonda et al.</a:t>
                      </a:r>
                      <a:endParaRPr sz="1200">
                        <a:latin typeface="Helvetica Neue"/>
                        <a:ea typeface="Helvetica Neue"/>
                        <a:cs typeface="Helvetica Neue"/>
                        <a:sym typeface="Helvetica Neue"/>
                      </a:endParaRPr>
                    </a:p>
                    <a:p>
                      <a:pPr indent="0" lvl="0" marL="0" marR="0" rtl="0" algn="l">
                        <a:spcBef>
                          <a:spcPts val="0"/>
                        </a:spcBef>
                        <a:spcAft>
                          <a:spcPts val="0"/>
                        </a:spcAft>
                        <a:buNone/>
                      </a:pPr>
                      <a:r>
                        <a:t/>
                      </a:r>
                      <a:endParaRPr sz="1200">
                        <a:latin typeface="Helvetica Neue"/>
                        <a:ea typeface="Helvetica Neue"/>
                        <a:cs typeface="Helvetica Neue"/>
                        <a:sym typeface="Helvetica Neue"/>
                      </a:endParaRPr>
                    </a:p>
                    <a:p>
                      <a:pPr indent="0" lvl="0" marL="0" marR="0" rtl="0" algn="l">
                        <a:spcBef>
                          <a:spcPts val="0"/>
                        </a:spcBef>
                        <a:spcAft>
                          <a:spcPts val="0"/>
                        </a:spcAft>
                        <a:buNone/>
                      </a:pPr>
                      <a:r>
                        <a:rPr lang="en-US" sz="1200">
                          <a:latin typeface="Helvetica Neue"/>
                          <a:ea typeface="Helvetica Neue"/>
                          <a:cs typeface="Helvetica Neue"/>
                          <a:sym typeface="Helvetica Neue"/>
                        </a:rPr>
                        <a:t>Explainable AI: A Retrieval-Augmented Generation Based Framework [15]</a:t>
                      </a:r>
                      <a:endParaRPr b="0"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2025</a:t>
                      </a:r>
                      <a:endParaRPr b="0"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Retrieval-Augmented Generation (RAG), LLMs, Vector Embeddings, Knowledge Base Construction, Multimodal data</a:t>
                      </a:r>
                      <a:endParaRPr b="0"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Proposed the idea of using FAISS which</a:t>
                      </a:r>
                      <a:endParaRPr sz="1200">
                        <a:latin typeface="Helvetica Neue"/>
                        <a:ea typeface="Helvetica Neue"/>
                        <a:cs typeface="Helvetica Neue"/>
                        <a:sym typeface="Helvetica Neue"/>
                      </a:endParaRPr>
                    </a:p>
                    <a:p>
                      <a:pPr indent="0" lvl="0" marL="0" marR="0" rtl="0" algn="l">
                        <a:spcBef>
                          <a:spcPts val="0"/>
                        </a:spcBef>
                        <a:spcAft>
                          <a:spcPts val="0"/>
                        </a:spcAft>
                        <a:buNone/>
                      </a:pPr>
                      <a:r>
                        <a:rPr lang="en-US" sz="1200">
                          <a:latin typeface="Helvetica Neue"/>
                          <a:ea typeface="Helvetica Neue"/>
                          <a:cs typeface="Helvetica Neue"/>
                          <a:sym typeface="Helvetica Neue"/>
                        </a:rPr>
                        <a:t>improve retrieval efficiency by reducing the search</a:t>
                      </a:r>
                      <a:endParaRPr sz="1200">
                        <a:latin typeface="Helvetica Neue"/>
                        <a:ea typeface="Helvetica Neue"/>
                        <a:cs typeface="Helvetica Neue"/>
                        <a:sym typeface="Helvetica Neue"/>
                      </a:endParaRPr>
                    </a:p>
                    <a:p>
                      <a:pPr indent="0" lvl="0" marL="0" marR="0" rtl="0" algn="l">
                        <a:spcBef>
                          <a:spcPts val="0"/>
                        </a:spcBef>
                        <a:spcAft>
                          <a:spcPts val="0"/>
                        </a:spcAft>
                        <a:buNone/>
                      </a:pPr>
                      <a:r>
                        <a:rPr lang="en-US" sz="1200">
                          <a:latin typeface="Helvetica Neue"/>
                          <a:ea typeface="Helvetica Neue"/>
                          <a:cs typeface="Helvetica Neue"/>
                          <a:sym typeface="Helvetica Neue"/>
                        </a:rPr>
                        <a:t>space through clustering or quantization.</a:t>
                      </a:r>
                      <a:endParaRPr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Current evaluation limited to select domains; needs broader real-world testing; handling multimodal data remains complex</a:t>
                      </a:r>
                      <a:endParaRPr b="0" i="0" sz="1200">
                        <a:latin typeface="Helvetica Neue"/>
                        <a:ea typeface="Helvetica Neue"/>
                        <a:cs typeface="Helvetica Neue"/>
                        <a:sym typeface="Helvetica Neue"/>
                      </a:endParaRPr>
                    </a:p>
                  </a:txBody>
                  <a:tcPr marT="45725" marB="45725" marR="91450" marL="91450">
                    <a:solidFill>
                      <a:srgbClr val="F0F0DD"/>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ae280144eb_0_187"/>
          <p:cNvSpPr txBox="1"/>
          <p:nvPr>
            <p:ph type="title"/>
          </p:nvPr>
        </p:nvSpPr>
        <p:spPr>
          <a:xfrm>
            <a:off x="40640" y="30480"/>
            <a:ext cx="8328900" cy="694200"/>
          </a:xfrm>
          <a:prstGeom prst="rect">
            <a:avLst/>
          </a:prstGeom>
        </p:spPr>
        <p:txBody>
          <a:bodyPr anchorCtr="0" anchor="ctr" bIns="45700" lIns="91425" spcFirstLastPara="1" rIns="91425" wrap="square" tIns="45700">
            <a:noAutofit/>
          </a:bodyPr>
          <a:lstStyle/>
          <a:p>
            <a:pPr indent="0" lvl="0" marL="90487" rtl="0" algn="l">
              <a:spcBef>
                <a:spcPts val="0"/>
              </a:spcBef>
              <a:spcAft>
                <a:spcPts val="0"/>
              </a:spcAft>
              <a:buClr>
                <a:schemeClr val="dk1"/>
              </a:buClr>
              <a:buFont typeface="Arial"/>
              <a:buNone/>
            </a:pPr>
            <a:r>
              <a:rPr lang="en-US"/>
              <a:t>Literature Review (cont…)</a:t>
            </a:r>
            <a:endParaRPr/>
          </a:p>
        </p:txBody>
      </p:sp>
      <p:sp>
        <p:nvSpPr>
          <p:cNvPr id="118" name="Google Shape;118;g3ae280144eb_0_187"/>
          <p:cNvSpPr txBox="1"/>
          <p:nvPr>
            <p:ph idx="1" type="body"/>
          </p:nvPr>
        </p:nvSpPr>
        <p:spPr>
          <a:xfrm>
            <a:off x="5299098" y="782323"/>
            <a:ext cx="3740700" cy="2730000"/>
          </a:xfrm>
          <a:prstGeom prst="rect">
            <a:avLst/>
          </a:prstGeom>
        </p:spPr>
        <p:txBody>
          <a:bodyPr anchorCtr="0" anchor="t" bIns="45700" lIns="91425" spcFirstLastPara="1" rIns="91425" wrap="square" tIns="45700">
            <a:noAutofit/>
          </a:bodyPr>
          <a:lstStyle/>
          <a:p>
            <a:pPr indent="0" lvl="0" marL="0" rtl="0" algn="just">
              <a:spcBef>
                <a:spcPts val="630"/>
              </a:spcBef>
              <a:spcAft>
                <a:spcPts val="0"/>
              </a:spcAft>
              <a:buNone/>
            </a:pPr>
            <a:r>
              <a:t/>
            </a:r>
            <a:endParaRPr/>
          </a:p>
        </p:txBody>
      </p:sp>
      <p:sp>
        <p:nvSpPr>
          <p:cNvPr id="119" name="Google Shape;119;g3ae280144eb_0_187"/>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Literature Review (cont…)</a:t>
            </a:r>
            <a:endParaRPr b="0"/>
          </a:p>
        </p:txBody>
      </p:sp>
      <p:sp>
        <p:nvSpPr>
          <p:cNvPr id="120" name="Google Shape;120;g3ae280144eb_0_187"/>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21" name="Google Shape;121;g3ae280144eb_0_187"/>
          <p:cNvGraphicFramePr/>
          <p:nvPr/>
        </p:nvGraphicFramePr>
        <p:xfrm>
          <a:off x="110156" y="804236"/>
          <a:ext cx="3000000" cy="3000000"/>
        </p:xfrm>
        <a:graphic>
          <a:graphicData uri="http://schemas.openxmlformats.org/drawingml/2006/table">
            <a:tbl>
              <a:tblPr bandRow="1" firstRow="1">
                <a:noFill/>
                <a:tableStyleId>{898F8B75-1C41-4D90-AD48-C5B47D00A216}</a:tableStyleId>
              </a:tblPr>
              <a:tblGrid>
                <a:gridCol w="542250"/>
                <a:gridCol w="1760275"/>
                <a:gridCol w="1465250"/>
                <a:gridCol w="1421175"/>
                <a:gridCol w="1828800"/>
                <a:gridCol w="1905925"/>
              </a:tblGrid>
              <a:tr h="759625">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S. No.</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Author &amp; </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Paper Title </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[Citation]</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Journal/</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Conference</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(Year)</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Tools/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Techniques/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Dataset</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Key Findings/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Results</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Limitations/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Gaps Identified</a:t>
                      </a:r>
                      <a:endParaRPr/>
                    </a:p>
                  </a:txBody>
                  <a:tcPr marT="45725" marB="45725" marR="91450" marL="91450">
                    <a:solidFill>
                      <a:srgbClr val="606029"/>
                    </a:solidFill>
                  </a:tcPr>
                </a:tc>
              </a:tr>
              <a:tr h="2129775">
                <a:tc>
                  <a:txBody>
                    <a:bodyPr/>
                    <a:lstStyle/>
                    <a:p>
                      <a:pPr indent="0" lvl="0" marL="0" marR="0" rtl="0" algn="ctr">
                        <a:spcBef>
                          <a:spcPts val="0"/>
                        </a:spcBef>
                        <a:spcAft>
                          <a:spcPts val="0"/>
                        </a:spcAft>
                        <a:buNone/>
                      </a:pPr>
                      <a:r>
                        <a:rPr lang="en-US" sz="1200">
                          <a:latin typeface="Helvetica Neue"/>
                          <a:ea typeface="Helvetica Neue"/>
                          <a:cs typeface="Helvetica Neue"/>
                          <a:sym typeface="Helvetica Neue"/>
                        </a:rPr>
                        <a:t>9</a:t>
                      </a:r>
                      <a:r>
                        <a:rPr b="0" i="0" lang="en-US" sz="1200">
                          <a:latin typeface="Helvetica Neue"/>
                          <a:ea typeface="Helvetica Neue"/>
                          <a:cs typeface="Helvetica Neue"/>
                          <a:sym typeface="Helvetica Neue"/>
                        </a:rPr>
                        <a:t>.</a:t>
                      </a:r>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Albert Sadowski &amp; Jarosław A. Chudziak </a:t>
                      </a:r>
                      <a:r>
                        <a:rPr i="1" lang="en-US" sz="1200">
                          <a:latin typeface="Helvetica Neue"/>
                          <a:ea typeface="Helvetica Neue"/>
                          <a:cs typeface="Helvetica Neue"/>
                          <a:sym typeface="Helvetica Neue"/>
                        </a:rPr>
                        <a:t>Explainable Rule Application via Structured Prompting: A Neural-Symbolic Approach [18]</a:t>
                      </a:r>
                      <a:endParaRPr i="1" sz="1200">
                        <a:latin typeface="Helvetica Neue"/>
                        <a:ea typeface="Helvetica Neue"/>
                        <a:cs typeface="Helvetica Neue"/>
                        <a:sym typeface="Helvetica Neue"/>
                      </a:endParaRPr>
                    </a:p>
                    <a:p>
                      <a:pPr indent="0" lvl="0" marL="0" rtl="0" algn="l">
                        <a:spcBef>
                          <a:spcPts val="0"/>
                        </a:spcBef>
                        <a:spcAft>
                          <a:spcPts val="0"/>
                        </a:spcAft>
                        <a:buClr>
                          <a:schemeClr val="dk1"/>
                        </a:buClr>
                        <a:buFont typeface="Arial"/>
                        <a:buNone/>
                      </a:pPr>
                      <a:r>
                        <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2025</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Neural-symbolic reasoning, structured prompting, rule decomposition; LegalBench dataset</a:t>
                      </a:r>
                      <a:endParaRPr sz="1200">
                        <a:latin typeface="Helvetica Neue"/>
                        <a:ea typeface="Helvetica Neue"/>
                        <a:cs typeface="Helvetica Neue"/>
                        <a:sym typeface="Helvetica Neue"/>
                      </a:endParaRPr>
                    </a:p>
                    <a:p>
                      <a:pPr indent="0" lvl="0" marL="0" marR="0" rtl="0" algn="l">
                        <a:spcBef>
                          <a:spcPts val="0"/>
                        </a:spcBef>
                        <a:spcAft>
                          <a:spcPts val="0"/>
                        </a:spcAft>
                        <a:buNone/>
                      </a:pPr>
                      <a:r>
                        <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Decomposes reasoning into entity recognition, property extraction, rule application; strong legal performance</a:t>
                      </a:r>
                      <a:endParaRPr sz="1200">
                        <a:latin typeface="Helvetica Neue"/>
                        <a:ea typeface="Helvetica Neue"/>
                        <a:cs typeface="Helvetica Neue"/>
                        <a:sym typeface="Helvetica Neue"/>
                      </a:endParaRPr>
                    </a:p>
                    <a:p>
                      <a:pPr indent="0" lvl="0" marL="0" marR="0" rtl="0" algn="l">
                        <a:spcBef>
                          <a:spcPts val="0"/>
                        </a:spcBef>
                        <a:spcAft>
                          <a:spcPts val="0"/>
                        </a:spcAft>
                        <a:buNone/>
                      </a:pPr>
                      <a:r>
                        <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95250" lvl="0" marL="17145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Structured prompts reduce flexibility; computationally heavy; domain adaptation unexplored</a:t>
                      </a:r>
                      <a:endParaRPr sz="1200">
                        <a:latin typeface="Helvetica Neue"/>
                        <a:ea typeface="Helvetica Neue"/>
                        <a:cs typeface="Helvetica Neue"/>
                        <a:sym typeface="Helvetica Neue"/>
                      </a:endParaRPr>
                    </a:p>
                    <a:p>
                      <a:pPr indent="0" lvl="0" marL="0" marR="0" rtl="0" algn="l">
                        <a:spcBef>
                          <a:spcPts val="0"/>
                        </a:spcBef>
                        <a:spcAft>
                          <a:spcPts val="0"/>
                        </a:spcAft>
                        <a:buClr>
                          <a:schemeClr val="dk1"/>
                        </a:buClr>
                        <a:buSzPts val="1200"/>
                        <a:buFont typeface="Arial"/>
                        <a:buNone/>
                      </a:pPr>
                      <a:r>
                        <a:t/>
                      </a:r>
                      <a:endParaRPr sz="1200">
                        <a:latin typeface="Helvetica Neue"/>
                        <a:ea typeface="Helvetica Neue"/>
                        <a:cs typeface="Helvetica Neue"/>
                        <a:sym typeface="Helvetica Neue"/>
                      </a:endParaRPr>
                    </a:p>
                  </a:txBody>
                  <a:tcPr marT="45725" marB="45725" marR="91450" marL="91450">
                    <a:solidFill>
                      <a:srgbClr val="D5D59B"/>
                    </a:solidFill>
                  </a:tcPr>
                </a:tc>
              </a:tr>
              <a:tr h="2905400">
                <a:tc>
                  <a:txBody>
                    <a:bodyPr/>
                    <a:lstStyle/>
                    <a:p>
                      <a:pPr indent="0" lvl="0" marL="0" marR="0" rtl="0" algn="ctr">
                        <a:spcBef>
                          <a:spcPts val="0"/>
                        </a:spcBef>
                        <a:spcAft>
                          <a:spcPts val="0"/>
                        </a:spcAft>
                        <a:buNone/>
                      </a:pPr>
                      <a:r>
                        <a:rPr lang="en-US" sz="1200">
                          <a:latin typeface="Helvetica Neue"/>
                          <a:ea typeface="Helvetica Neue"/>
                          <a:cs typeface="Helvetica Neue"/>
                          <a:sym typeface="Helvetica Neue"/>
                        </a:rPr>
                        <a:t>1</a:t>
                      </a:r>
                      <a:r>
                        <a:rPr lang="en-US" sz="1200">
                          <a:latin typeface="Helvetica Neue"/>
                          <a:ea typeface="Helvetica Neue"/>
                          <a:cs typeface="Helvetica Neue"/>
                          <a:sym typeface="Helvetica Neue"/>
                        </a:rPr>
                        <a:t>0</a:t>
                      </a:r>
                      <a:r>
                        <a:rPr b="0" i="0" lang="en-US" sz="1200">
                          <a:latin typeface="Helvetica Neue"/>
                          <a:ea typeface="Helvetica Neue"/>
                          <a:cs typeface="Helvetica Neue"/>
                          <a:sym typeface="Helvetica Neue"/>
                        </a:rPr>
                        <a:t>.</a:t>
                      </a:r>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Sezen Perçin, Michael Färber, Georg Rehm </a:t>
                      </a:r>
                      <a:r>
                        <a:rPr i="1" lang="en-US" sz="1200">
                          <a:latin typeface="Helvetica Neue"/>
                          <a:ea typeface="Helvetica Neue"/>
                          <a:cs typeface="Helvetica Neue"/>
                          <a:sym typeface="Helvetica Neue"/>
                        </a:rPr>
                        <a:t>Investigating the Robustness of Retrieval-Augmented Generation at the Query Level [20]</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2025</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RAG, query perturbation analysis, robustness testing, GEM benchmark</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Shows RAG pipelines sensitive to query variations; proposes robustness evaluation protocols</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95250" lvl="0" marL="171450" marR="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Focuses only on robustness; English-only datasets; mitigation strategies still early-stage</a:t>
                      </a:r>
                      <a:endParaRPr i="0" sz="1200">
                        <a:latin typeface="Helvetica Neue"/>
                        <a:ea typeface="Helvetica Neue"/>
                        <a:cs typeface="Helvetica Neue"/>
                        <a:sym typeface="Helvetica Neue"/>
                      </a:endParaRPr>
                    </a:p>
                  </a:txBody>
                  <a:tcPr marT="45725" marB="45725" marR="91450" marL="91450">
                    <a:solidFill>
                      <a:srgbClr val="F0F0DD"/>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ae280144eb_0_212"/>
          <p:cNvSpPr txBox="1"/>
          <p:nvPr>
            <p:ph type="title"/>
          </p:nvPr>
        </p:nvSpPr>
        <p:spPr>
          <a:xfrm>
            <a:off x="40640" y="30480"/>
            <a:ext cx="8328900" cy="694200"/>
          </a:xfrm>
          <a:prstGeom prst="rect">
            <a:avLst/>
          </a:prstGeom>
        </p:spPr>
        <p:txBody>
          <a:bodyPr anchorCtr="0" anchor="ctr" bIns="45700" lIns="91425" spcFirstLastPara="1" rIns="91425" wrap="square" tIns="45700">
            <a:noAutofit/>
          </a:bodyPr>
          <a:lstStyle/>
          <a:p>
            <a:pPr indent="0" lvl="0" marL="90487" rtl="0" algn="l">
              <a:spcBef>
                <a:spcPts val="0"/>
              </a:spcBef>
              <a:spcAft>
                <a:spcPts val="0"/>
              </a:spcAft>
              <a:buClr>
                <a:schemeClr val="dk1"/>
              </a:buClr>
              <a:buFont typeface="Arial"/>
              <a:buNone/>
            </a:pPr>
            <a:r>
              <a:rPr lang="en-US"/>
              <a:t>Literature Review (cont…)</a:t>
            </a:r>
            <a:endParaRPr/>
          </a:p>
        </p:txBody>
      </p:sp>
      <p:sp>
        <p:nvSpPr>
          <p:cNvPr id="128" name="Google Shape;128;g3ae280144eb_0_212"/>
          <p:cNvSpPr txBox="1"/>
          <p:nvPr>
            <p:ph idx="1" type="body"/>
          </p:nvPr>
        </p:nvSpPr>
        <p:spPr>
          <a:xfrm>
            <a:off x="4131474" y="782323"/>
            <a:ext cx="4908300" cy="3253800"/>
          </a:xfrm>
          <a:prstGeom prst="rect">
            <a:avLst/>
          </a:prstGeom>
        </p:spPr>
        <p:txBody>
          <a:bodyPr anchorCtr="0" anchor="t" bIns="45700" lIns="91425" spcFirstLastPara="1" rIns="91425" wrap="square" tIns="45700">
            <a:noAutofit/>
          </a:bodyPr>
          <a:lstStyle/>
          <a:p>
            <a:pPr indent="0" lvl="0" marL="0" rtl="0" algn="just">
              <a:spcBef>
                <a:spcPts val="630"/>
              </a:spcBef>
              <a:spcAft>
                <a:spcPts val="0"/>
              </a:spcAft>
              <a:buNone/>
            </a:pPr>
            <a:r>
              <a:t/>
            </a:r>
            <a:endParaRPr/>
          </a:p>
        </p:txBody>
      </p:sp>
      <p:sp>
        <p:nvSpPr>
          <p:cNvPr id="129" name="Google Shape;129;g3ae280144eb_0_212"/>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30" name="Google Shape;130;g3ae280144eb_0_212"/>
          <p:cNvGraphicFramePr/>
          <p:nvPr/>
        </p:nvGraphicFramePr>
        <p:xfrm>
          <a:off x="110168" y="804223"/>
          <a:ext cx="3000000" cy="3000000"/>
        </p:xfrm>
        <a:graphic>
          <a:graphicData uri="http://schemas.openxmlformats.org/drawingml/2006/table">
            <a:tbl>
              <a:tblPr bandRow="1" firstRow="1">
                <a:noFill/>
                <a:tableStyleId>{898F8B75-1C41-4D90-AD48-C5B47D00A216}</a:tableStyleId>
              </a:tblPr>
              <a:tblGrid>
                <a:gridCol w="542250"/>
                <a:gridCol w="1760275"/>
                <a:gridCol w="1465250"/>
                <a:gridCol w="1421175"/>
                <a:gridCol w="1828800"/>
                <a:gridCol w="1905925"/>
              </a:tblGrid>
              <a:tr h="759975">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S. No.</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Author &amp; </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Paper Title </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[Citation]</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Journal/</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Conference</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(Year)</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Tools/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Techniques/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Dataset</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Key Findings/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Results</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Limitations/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Gaps Identified</a:t>
                      </a:r>
                      <a:endParaRPr/>
                    </a:p>
                  </a:txBody>
                  <a:tcPr marT="45725" marB="45725" marR="91450" marL="91450">
                    <a:solidFill>
                      <a:srgbClr val="606029"/>
                    </a:solidFill>
                  </a:tcPr>
                </a:tc>
              </a:tr>
              <a:tr h="2126200">
                <a:tc>
                  <a:txBody>
                    <a:bodyPr/>
                    <a:lstStyle/>
                    <a:p>
                      <a:pPr indent="0" lvl="0" marL="0" marR="0" rtl="0" algn="ctr">
                        <a:spcBef>
                          <a:spcPts val="0"/>
                        </a:spcBef>
                        <a:spcAft>
                          <a:spcPts val="0"/>
                        </a:spcAft>
                        <a:buNone/>
                      </a:pPr>
                      <a:r>
                        <a:rPr b="0" i="0" lang="en-US" sz="1200">
                          <a:latin typeface="Helvetica Neue"/>
                          <a:ea typeface="Helvetica Neue"/>
                          <a:cs typeface="Helvetica Neue"/>
                          <a:sym typeface="Helvetica Neue"/>
                        </a:rPr>
                        <a:t>1</a:t>
                      </a:r>
                      <a:r>
                        <a:rPr lang="en-US" sz="1200">
                          <a:latin typeface="Helvetica Neue"/>
                          <a:ea typeface="Helvetica Neue"/>
                          <a:cs typeface="Helvetica Neue"/>
                          <a:sym typeface="Helvetica Neue"/>
                        </a:rPr>
                        <a:t>1</a:t>
                      </a:r>
                      <a:r>
                        <a:rPr b="0" i="0" lang="en-US" sz="1200">
                          <a:latin typeface="Helvetica Neue"/>
                          <a:ea typeface="Helvetica Neue"/>
                          <a:cs typeface="Helvetica Neue"/>
                          <a:sym typeface="Helvetica Neue"/>
                        </a:rPr>
                        <a:t>.</a:t>
                      </a:r>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Romeo et al. — </a:t>
                      </a:r>
                      <a:r>
                        <a:rPr i="1" lang="en-US" sz="1200">
                          <a:latin typeface="Helvetica Neue"/>
                          <a:ea typeface="Helvetica Neue"/>
                          <a:cs typeface="Helvetica Neue"/>
                          <a:sym typeface="Helvetica Neue"/>
                        </a:rPr>
                        <a:t>ARPaCCino: An Agentic-RAG for Policy as Code Compliance [12]</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2025</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Agentic-RAG, Terraform, Rego (OPA), multiple LLMs (Qwen3:30b, GPT-4o, Claude)</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Agentic orchestration reduced hallucinations, enabled compliance validation, smaller open models worked effectively</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95250" lvl="0" marL="17145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Semantic verification still manual, limited Terraform case study, heavy dependence on curated KBs</a:t>
                      </a:r>
                      <a:endParaRPr i="0" sz="1200">
                        <a:latin typeface="Helvetica Neue"/>
                        <a:ea typeface="Helvetica Neue"/>
                        <a:cs typeface="Helvetica Neue"/>
                        <a:sym typeface="Helvetica Neue"/>
                      </a:endParaRPr>
                    </a:p>
                  </a:txBody>
                  <a:tcPr marT="45725" marB="45725" marR="91450" marL="91450">
                    <a:solidFill>
                      <a:srgbClr val="D5D59B"/>
                    </a:solidFill>
                  </a:tcPr>
                </a:tc>
              </a:tr>
              <a:tr h="2908625">
                <a:tc>
                  <a:txBody>
                    <a:bodyPr/>
                    <a:lstStyle/>
                    <a:p>
                      <a:pPr indent="0" lvl="0" marL="0" marR="0" rtl="0" algn="ctr">
                        <a:spcBef>
                          <a:spcPts val="0"/>
                        </a:spcBef>
                        <a:spcAft>
                          <a:spcPts val="0"/>
                        </a:spcAft>
                        <a:buNone/>
                      </a:pPr>
                      <a:r>
                        <a:rPr lang="en-US" sz="1200">
                          <a:latin typeface="Helvetica Neue"/>
                          <a:ea typeface="Helvetica Neue"/>
                          <a:cs typeface="Helvetica Neue"/>
                          <a:sym typeface="Helvetica Neue"/>
                        </a:rPr>
                        <a:t>12</a:t>
                      </a:r>
                      <a:r>
                        <a:rPr b="0" i="0" lang="en-US" sz="1200">
                          <a:latin typeface="Helvetica Neue"/>
                          <a:ea typeface="Helvetica Neue"/>
                          <a:cs typeface="Helvetica Neue"/>
                          <a:sym typeface="Helvetica Neue"/>
                        </a:rPr>
                        <a:t>.</a:t>
                      </a:r>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Zhongxiang Sun, Xiang Li, Lijun Wu, et al. </a:t>
                      </a:r>
                      <a:r>
                        <a:rPr i="1" lang="en-US" sz="1200">
                          <a:latin typeface="Helvetica Neue"/>
                          <a:ea typeface="Helvetica Neue"/>
                          <a:cs typeface="Helvetica Neue"/>
                          <a:sym typeface="Helvetica Neue"/>
                        </a:rPr>
                        <a:t>Logic Rules as Explanations for Legal Case Retrieval [19]</a:t>
                      </a:r>
                      <a:endParaRPr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2024</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Neural-symbolic retrieval, logic rule mining, legal corpora (case law + statutes)</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Improves legal retrieval accuracy with interpretable logic rules; provides case + law level rationales</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95250" lvl="0" marL="171450" marR="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  </a:t>
                      </a:r>
                      <a:r>
                        <a:rPr lang="en-US" sz="1200">
                          <a:latin typeface="Helvetica Neue"/>
                          <a:ea typeface="Helvetica Neue"/>
                          <a:cs typeface="Helvetica Neue"/>
                          <a:sym typeface="Helvetica Neue"/>
                        </a:rPr>
                        <a:t>Depends on rule quality; computationally intensive for large corpora; multilingual/generalization unclear</a:t>
                      </a:r>
                      <a:endParaRPr i="0" sz="1200">
                        <a:latin typeface="Helvetica Neue"/>
                        <a:ea typeface="Helvetica Neue"/>
                        <a:cs typeface="Helvetica Neue"/>
                        <a:sym typeface="Helvetica Neue"/>
                      </a:endParaRPr>
                    </a:p>
                  </a:txBody>
                  <a:tcPr marT="45725" marB="45725" marR="91450" marL="91450">
                    <a:solidFill>
                      <a:srgbClr val="F0F0DD"/>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ae280144eb_0_234"/>
          <p:cNvSpPr txBox="1"/>
          <p:nvPr>
            <p:ph type="title"/>
          </p:nvPr>
        </p:nvSpPr>
        <p:spPr>
          <a:xfrm>
            <a:off x="40640" y="30480"/>
            <a:ext cx="8328900" cy="694200"/>
          </a:xfrm>
          <a:prstGeom prst="rect">
            <a:avLst/>
          </a:prstGeom>
        </p:spPr>
        <p:txBody>
          <a:bodyPr anchorCtr="0" anchor="ctr" bIns="45700" lIns="91425" spcFirstLastPara="1" rIns="91425" wrap="square" tIns="45700">
            <a:noAutofit/>
          </a:bodyPr>
          <a:lstStyle/>
          <a:p>
            <a:pPr indent="0" lvl="0" marL="90487" rtl="0" algn="l">
              <a:spcBef>
                <a:spcPts val="0"/>
              </a:spcBef>
              <a:spcAft>
                <a:spcPts val="0"/>
              </a:spcAft>
              <a:buClr>
                <a:schemeClr val="dk1"/>
              </a:buClr>
              <a:buSzPts val="1100"/>
              <a:buFont typeface="Arial"/>
              <a:buNone/>
            </a:pPr>
            <a:r>
              <a:rPr lang="en-US"/>
              <a:t>Literature Review (cont…)</a:t>
            </a:r>
            <a:endParaRPr/>
          </a:p>
        </p:txBody>
      </p:sp>
      <p:sp>
        <p:nvSpPr>
          <p:cNvPr id="137" name="Google Shape;137;g3ae280144eb_0_234"/>
          <p:cNvSpPr txBox="1"/>
          <p:nvPr>
            <p:ph idx="1" type="body"/>
          </p:nvPr>
        </p:nvSpPr>
        <p:spPr>
          <a:xfrm>
            <a:off x="86197" y="782321"/>
            <a:ext cx="8953500" cy="5976300"/>
          </a:xfrm>
          <a:prstGeom prst="rect">
            <a:avLst/>
          </a:prstGeom>
        </p:spPr>
        <p:txBody>
          <a:bodyPr anchorCtr="0" anchor="t" bIns="45700" lIns="91425" spcFirstLastPara="1" rIns="91425" wrap="square" tIns="45700">
            <a:noAutofit/>
          </a:bodyPr>
          <a:lstStyle/>
          <a:p>
            <a:pPr indent="0" lvl="0" marL="0" rtl="0" algn="just">
              <a:spcBef>
                <a:spcPts val="630"/>
              </a:spcBef>
              <a:spcAft>
                <a:spcPts val="0"/>
              </a:spcAft>
              <a:buNone/>
            </a:pPr>
            <a:r>
              <a:rPr lang="en-US"/>
              <a:t>\</a:t>
            </a:r>
            <a:endParaRPr/>
          </a:p>
        </p:txBody>
      </p:sp>
      <p:sp>
        <p:nvSpPr>
          <p:cNvPr id="138" name="Google Shape;138;g3ae280144eb_0_234"/>
          <p:cNvSpPr txBox="1"/>
          <p:nvPr>
            <p:ph idx="1" type="body"/>
          </p:nvPr>
        </p:nvSpPr>
        <p:spPr>
          <a:xfrm>
            <a:off x="3155149" y="782324"/>
            <a:ext cx="5884500" cy="4206300"/>
          </a:xfrm>
          <a:prstGeom prst="rect">
            <a:avLst/>
          </a:prstGeom>
        </p:spPr>
        <p:txBody>
          <a:bodyPr anchorCtr="0" anchor="t" bIns="45700" lIns="91425" spcFirstLastPara="1" rIns="91425" wrap="square" tIns="45700">
            <a:noAutofit/>
          </a:bodyPr>
          <a:lstStyle/>
          <a:p>
            <a:pPr indent="0" lvl="0" marL="0" rtl="0" algn="just">
              <a:spcBef>
                <a:spcPts val="630"/>
              </a:spcBef>
              <a:spcAft>
                <a:spcPts val="0"/>
              </a:spcAft>
              <a:buNone/>
            </a:pPr>
            <a:r>
              <a:t/>
            </a:r>
            <a:endParaRPr/>
          </a:p>
        </p:txBody>
      </p:sp>
      <p:sp>
        <p:nvSpPr>
          <p:cNvPr id="139" name="Google Shape;139;g3ae280144eb_0_234"/>
          <p:cNvSpPr txBox="1"/>
          <p:nvPr>
            <p:ph idx="1" type="body"/>
          </p:nvPr>
        </p:nvSpPr>
        <p:spPr>
          <a:xfrm>
            <a:off x="6155523" y="782323"/>
            <a:ext cx="2884200" cy="2503800"/>
          </a:xfrm>
          <a:prstGeom prst="rect">
            <a:avLst/>
          </a:prstGeom>
        </p:spPr>
        <p:txBody>
          <a:bodyPr anchorCtr="0" anchor="t" bIns="45700" lIns="91425" spcFirstLastPara="1" rIns="91425" wrap="square" tIns="45700">
            <a:noAutofit/>
          </a:bodyPr>
          <a:lstStyle/>
          <a:p>
            <a:pPr indent="0" lvl="0" marL="0" rtl="0" algn="just">
              <a:spcBef>
                <a:spcPts val="630"/>
              </a:spcBef>
              <a:spcAft>
                <a:spcPts val="0"/>
              </a:spcAft>
              <a:buNone/>
            </a:pPr>
            <a:r>
              <a:t/>
            </a:r>
            <a:endParaRPr/>
          </a:p>
        </p:txBody>
      </p:sp>
      <p:sp>
        <p:nvSpPr>
          <p:cNvPr id="140" name="Google Shape;140;g3ae280144eb_0_234"/>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41" name="Google Shape;141;g3ae280144eb_0_234"/>
          <p:cNvGraphicFramePr/>
          <p:nvPr/>
        </p:nvGraphicFramePr>
        <p:xfrm>
          <a:off x="110168" y="804223"/>
          <a:ext cx="3000000" cy="3000000"/>
        </p:xfrm>
        <a:graphic>
          <a:graphicData uri="http://schemas.openxmlformats.org/drawingml/2006/table">
            <a:tbl>
              <a:tblPr bandRow="1" firstRow="1">
                <a:noFill/>
                <a:tableStyleId>{898F8B75-1C41-4D90-AD48-C5B47D00A216}</a:tableStyleId>
              </a:tblPr>
              <a:tblGrid>
                <a:gridCol w="542250"/>
                <a:gridCol w="1760275"/>
                <a:gridCol w="1465250"/>
                <a:gridCol w="1421175"/>
                <a:gridCol w="1828800"/>
                <a:gridCol w="1905925"/>
              </a:tblGrid>
              <a:tr h="759975">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S. No.</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Author &amp; </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Paper Title </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[Citation]</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Journal/</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Conference</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(Year)</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Tools/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Techniques/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Dataset</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Key Findings/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Results</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Limitations/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Gaps Identified</a:t>
                      </a:r>
                      <a:endParaRPr/>
                    </a:p>
                  </a:txBody>
                  <a:tcPr marT="45725" marB="45725" marR="91450" marL="91450">
                    <a:solidFill>
                      <a:srgbClr val="606029"/>
                    </a:solidFill>
                  </a:tcPr>
                </a:tc>
              </a:tr>
              <a:tr h="2126200">
                <a:tc>
                  <a:txBody>
                    <a:bodyPr/>
                    <a:lstStyle/>
                    <a:p>
                      <a:pPr indent="0" lvl="0" marL="0" marR="0" rtl="0" algn="ctr">
                        <a:spcBef>
                          <a:spcPts val="0"/>
                        </a:spcBef>
                        <a:spcAft>
                          <a:spcPts val="0"/>
                        </a:spcAft>
                        <a:buNone/>
                      </a:pPr>
                      <a:r>
                        <a:rPr b="0" i="0" lang="en-US" sz="1200">
                          <a:latin typeface="Helvetica Neue"/>
                          <a:ea typeface="Helvetica Neue"/>
                          <a:cs typeface="Helvetica Neue"/>
                          <a:sym typeface="Helvetica Neue"/>
                        </a:rPr>
                        <a:t>1</a:t>
                      </a:r>
                      <a:r>
                        <a:rPr lang="en-US" sz="1200">
                          <a:latin typeface="Helvetica Neue"/>
                          <a:ea typeface="Helvetica Neue"/>
                          <a:cs typeface="Helvetica Neue"/>
                          <a:sym typeface="Helvetica Neue"/>
                        </a:rPr>
                        <a:t>3</a:t>
                      </a:r>
                      <a:r>
                        <a:rPr lang="en-US" sz="1200">
                          <a:latin typeface="Helvetica Neue"/>
                          <a:ea typeface="Helvetica Neue"/>
                          <a:cs typeface="Helvetica Neue"/>
                          <a:sym typeface="Helvetica Neue"/>
                        </a:rPr>
                        <a:t>.</a:t>
                      </a:r>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Allu et al. — </a:t>
                      </a:r>
                      <a:r>
                        <a:rPr i="1" lang="en-US" sz="1200">
                          <a:latin typeface="Helvetica Neue"/>
                          <a:ea typeface="Helvetica Neue"/>
                          <a:cs typeface="Helvetica Neue"/>
                          <a:sym typeface="Helvetica Neue"/>
                        </a:rPr>
                        <a:t>Beyond Extraction: Contextualising Tabular Data for Efficient Summarisation by Language Models [11]</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2024</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RAG, Camelot, Llama-2-chat, ChatGPT-3.5, policy-doc corpus (200 queries)</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Table-aware context enrichment improved accuracy (70.0% on table queries vs. 48.2% baseline)</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95250" lvl="0" marL="17145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Struggles with complex tables, domain-limited dataset, reliance on external LLM APIs</a:t>
                      </a:r>
                      <a:endParaRPr sz="1200">
                        <a:latin typeface="Helvetica Neue"/>
                        <a:ea typeface="Helvetica Neue"/>
                        <a:cs typeface="Helvetica Neue"/>
                        <a:sym typeface="Helvetica Neue"/>
                      </a:endParaRPr>
                    </a:p>
                  </a:txBody>
                  <a:tcPr marT="45725" marB="45725" marR="91450" marL="91450">
                    <a:solidFill>
                      <a:srgbClr val="D5D59B"/>
                    </a:solidFill>
                  </a:tcPr>
                </a:tc>
              </a:tr>
              <a:tr h="2932425">
                <a:tc>
                  <a:txBody>
                    <a:bodyPr/>
                    <a:lstStyle/>
                    <a:p>
                      <a:pPr indent="0" lvl="0" marL="0" marR="0" rtl="0" algn="ctr">
                        <a:spcBef>
                          <a:spcPts val="0"/>
                        </a:spcBef>
                        <a:spcAft>
                          <a:spcPts val="0"/>
                        </a:spcAft>
                        <a:buNone/>
                      </a:pPr>
                      <a:r>
                        <a:rPr lang="en-US" sz="1200">
                          <a:latin typeface="Helvetica Neue"/>
                          <a:ea typeface="Helvetica Neue"/>
                          <a:cs typeface="Helvetica Neue"/>
                          <a:sym typeface="Helvetica Neue"/>
                        </a:rPr>
                        <a:t>14.</a:t>
                      </a:r>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Viju Sudhi,Sinchana Ramakanth Bhat,Max Rudat,Roman Teucher.</a:t>
                      </a:r>
                      <a:endParaRPr sz="1200">
                        <a:latin typeface="Helvetica Neue"/>
                        <a:ea typeface="Helvetica Neue"/>
                        <a:cs typeface="Helvetica Neue"/>
                        <a:sym typeface="Helvetica Neue"/>
                      </a:endParaRPr>
                    </a:p>
                    <a:p>
                      <a:pPr indent="0" lvl="0" marL="0" rtl="0" algn="l">
                        <a:spcBef>
                          <a:spcPts val="0"/>
                        </a:spcBef>
                        <a:spcAft>
                          <a:spcPts val="0"/>
                        </a:spcAft>
                        <a:buClr>
                          <a:schemeClr val="dk1"/>
                        </a:buClr>
                        <a:buFont typeface="Arial"/>
                        <a:buNone/>
                      </a:pPr>
                      <a:r>
                        <a:t/>
                      </a:r>
                      <a:endParaRPr sz="1200">
                        <a:latin typeface="Helvetica Neue"/>
                        <a:ea typeface="Helvetica Neue"/>
                        <a:cs typeface="Helvetica Neue"/>
                        <a:sym typeface="Helvetica Neue"/>
                      </a:endParaRPr>
                    </a:p>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RAG-Ex: A Generic Framework for Explaining Retrieval</a:t>
                      </a:r>
                      <a:endParaRPr sz="1200">
                        <a:latin typeface="Helvetica Neue"/>
                        <a:ea typeface="Helvetica Neue"/>
                        <a:cs typeface="Helvetica Neue"/>
                        <a:sym typeface="Helvetica Neue"/>
                      </a:endParaRPr>
                    </a:p>
                    <a:p>
                      <a:pPr indent="0" lvl="0" marL="0" rtl="0" algn="l">
                        <a:spcBef>
                          <a:spcPts val="0"/>
                        </a:spcBef>
                        <a:spcAft>
                          <a:spcPts val="0"/>
                        </a:spcAft>
                        <a:buNone/>
                      </a:pPr>
                      <a:r>
                        <a:rPr lang="en-US" sz="1200">
                          <a:latin typeface="Helvetica Neue"/>
                          <a:ea typeface="Helvetica Neue"/>
                          <a:cs typeface="Helvetica Neue"/>
                          <a:sym typeface="Helvetica Neue"/>
                        </a:rPr>
                        <a:t>Augmented Generation [6]</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p>
                      <a:pPr indent="0" lvl="0" marL="0" marR="0" rtl="0" algn="l">
                        <a:spcBef>
                          <a:spcPts val="0"/>
                        </a:spcBef>
                        <a:spcAft>
                          <a:spcPts val="0"/>
                        </a:spcAft>
                        <a:buNone/>
                      </a:pPr>
                      <a:r>
                        <a:t/>
                      </a:r>
                      <a:endParaRPr i="1"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2024</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Perturbation-based explanation method. </a:t>
                      </a:r>
                      <a:endParaRPr sz="1200">
                        <a:latin typeface="Helvetica Neue"/>
                        <a:ea typeface="Helvetica Neue"/>
                        <a:cs typeface="Helvetica Neue"/>
                        <a:sym typeface="Helvetica Neue"/>
                      </a:endParaRPr>
                    </a:p>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Retrieval-augmented generation (RAG).</a:t>
                      </a:r>
                      <a:endParaRPr sz="1200">
                        <a:latin typeface="Helvetica Neue"/>
                        <a:ea typeface="Helvetica Neue"/>
                        <a:cs typeface="Helvetica Neue"/>
                        <a:sym typeface="Helvetica Neue"/>
                      </a:endParaRPr>
                    </a:p>
                    <a:p>
                      <a:pPr indent="0" lvl="0" marL="0" rtl="0" algn="l">
                        <a:spcBef>
                          <a:spcPts val="0"/>
                        </a:spcBef>
                        <a:spcAft>
                          <a:spcPts val="0"/>
                        </a:spcAft>
                        <a:buClr>
                          <a:schemeClr val="dk1"/>
                        </a:buClr>
                        <a:buFont typeface="Arial"/>
                        <a:buNone/>
                      </a:pPr>
                      <a:r>
                        <a:t/>
                      </a:r>
                      <a:endParaRPr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Developed a framework that produces approximate but faithful explanations showing which retrieved documents influence the LLM's generated response.</a:t>
                      </a:r>
                      <a:endParaRPr sz="1200">
                        <a:latin typeface="Helvetica Neue"/>
                        <a:ea typeface="Helvetica Neue"/>
                        <a:cs typeface="Helvetica Neue"/>
                        <a:sym typeface="Helvetica Neue"/>
                      </a:endParaRPr>
                    </a:p>
                    <a:p>
                      <a:pPr indent="0" lvl="0" marL="0" rtl="0" algn="l">
                        <a:spcBef>
                          <a:spcPts val="0"/>
                        </a:spcBef>
                        <a:spcAft>
                          <a:spcPts val="0"/>
                        </a:spcAft>
                        <a:buClr>
                          <a:schemeClr val="dk1"/>
                        </a:buClr>
                        <a:buFont typeface="Arial"/>
                        <a:buNone/>
                      </a:pPr>
                      <a:r>
                        <a:t/>
                      </a:r>
                      <a:endParaRPr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Explains approximate contributions, not exact.</a:t>
                      </a:r>
                      <a:endParaRPr sz="1200">
                        <a:latin typeface="Helvetica Neue"/>
                        <a:ea typeface="Helvetica Neue"/>
                        <a:cs typeface="Helvetica Neue"/>
                        <a:sym typeface="Helvetica Neue"/>
                      </a:endParaRPr>
                    </a:p>
                    <a:p>
                      <a:pPr indent="0" lvl="0" marL="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Computational overhead with large retrieval sets evaluation mostly synthetic datasets, requires further user study for broad adoption</a:t>
                      </a:r>
                      <a:endParaRPr sz="1200">
                        <a:latin typeface="Helvetica Neue"/>
                        <a:ea typeface="Helvetica Neue"/>
                        <a:cs typeface="Helvetica Neue"/>
                        <a:sym typeface="Helvetica Neue"/>
                      </a:endParaRPr>
                    </a:p>
                    <a:p>
                      <a:pPr indent="-95250" lvl="0" marL="171450" rtl="0" algn="l">
                        <a:spcBef>
                          <a:spcPts val="0"/>
                        </a:spcBef>
                        <a:spcAft>
                          <a:spcPts val="0"/>
                        </a:spcAft>
                        <a:buClr>
                          <a:schemeClr val="dk1"/>
                        </a:buClr>
                        <a:buSzPts val="1200"/>
                        <a:buFont typeface="Arial"/>
                        <a:buNone/>
                      </a:pPr>
                      <a:r>
                        <a:t/>
                      </a:r>
                      <a:endParaRPr sz="1200">
                        <a:latin typeface="Helvetica Neue"/>
                        <a:ea typeface="Helvetica Neue"/>
                        <a:cs typeface="Helvetica Neue"/>
                        <a:sym typeface="Helvetica Neue"/>
                      </a:endParaRPr>
                    </a:p>
                  </a:txBody>
                  <a:tcPr marT="45725" marB="45725" marR="91450" marL="91450">
                    <a:solidFill>
                      <a:srgbClr val="F0F0DD"/>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ae280144eb_0_259"/>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Literature Review </a:t>
            </a:r>
            <a:r>
              <a:rPr lang="en-US"/>
              <a:t>(cont…)</a:t>
            </a:r>
            <a:endParaRPr b="0"/>
          </a:p>
        </p:txBody>
      </p:sp>
      <p:sp>
        <p:nvSpPr>
          <p:cNvPr id="147" name="Google Shape;147;g3ae280144eb_0_259"/>
          <p:cNvSpPr txBox="1"/>
          <p:nvPr/>
        </p:nvSpPr>
        <p:spPr>
          <a:xfrm>
            <a:off x="93606" y="839456"/>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48" name="Google Shape;148;g3ae280144eb_0_259"/>
          <p:cNvGraphicFramePr/>
          <p:nvPr/>
        </p:nvGraphicFramePr>
        <p:xfrm>
          <a:off x="126656" y="839448"/>
          <a:ext cx="3000000" cy="3000000"/>
        </p:xfrm>
        <a:graphic>
          <a:graphicData uri="http://schemas.openxmlformats.org/drawingml/2006/table">
            <a:tbl>
              <a:tblPr bandRow="1" firstRow="1">
                <a:noFill/>
                <a:tableStyleId>{898F8B75-1C41-4D90-AD48-C5B47D00A216}</a:tableStyleId>
              </a:tblPr>
              <a:tblGrid>
                <a:gridCol w="542250"/>
                <a:gridCol w="1760275"/>
                <a:gridCol w="1465250"/>
                <a:gridCol w="1421175"/>
                <a:gridCol w="1828800"/>
                <a:gridCol w="1905925"/>
              </a:tblGrid>
              <a:tr h="674200">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S. No.</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Author &amp; </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Paper Title </a:t>
                      </a:r>
                      <a:br>
                        <a:rPr b="0" i="0" lang="en-US" sz="1400" u="none" cap="none" strike="noStrike">
                          <a:latin typeface="Helvetica Neue"/>
                          <a:ea typeface="Helvetica Neue"/>
                          <a:cs typeface="Helvetica Neue"/>
                          <a:sym typeface="Helvetica Neue"/>
                        </a:rPr>
                      </a:br>
                      <a:r>
                        <a:rPr b="0" i="0" lang="en-US" sz="1400" u="none" cap="none" strike="noStrike">
                          <a:latin typeface="Helvetica Neue"/>
                          <a:ea typeface="Helvetica Neue"/>
                          <a:cs typeface="Helvetica Neue"/>
                          <a:sym typeface="Helvetica Neue"/>
                        </a:rPr>
                        <a:t>[Citation]</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Journal/</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Conference</a:t>
                      </a:r>
                      <a:br>
                        <a:rPr b="0" i="0" lang="en-US" sz="1400" u="none" cap="none" strike="noStrike">
                          <a:latin typeface="Helvetica Neue"/>
                          <a:ea typeface="Helvetica Neue"/>
                          <a:cs typeface="Helvetica Neue"/>
                          <a:sym typeface="Helvetica Neue"/>
                        </a:rPr>
                      </a:br>
                      <a:r>
                        <a:rPr b="0" i="0" lang="en-US" sz="1400" u="none" cap="none" strike="noStrike">
                          <a:latin typeface="Helvetica Neue"/>
                          <a:ea typeface="Helvetica Neue"/>
                          <a:cs typeface="Helvetica Neue"/>
                          <a:sym typeface="Helvetica Neue"/>
                        </a:rPr>
                        <a:t>(Year)</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Tools/</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Techniques/</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Dataset</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Key Findings/</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Results</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Limitations/</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Gaps Identified</a:t>
                      </a:r>
                      <a:endParaRPr/>
                    </a:p>
                  </a:txBody>
                  <a:tcPr marT="45725" marB="45725" marR="91450" marL="91450">
                    <a:solidFill>
                      <a:srgbClr val="606029"/>
                    </a:solidFill>
                  </a:tcPr>
                </a:tc>
              </a:tr>
              <a:tr h="2164900">
                <a:tc>
                  <a:txBody>
                    <a:bodyPr/>
                    <a:lstStyle/>
                    <a:p>
                      <a:pPr indent="0" lvl="0" marL="0" marR="0" rtl="0" algn="ctr">
                        <a:spcBef>
                          <a:spcPts val="0"/>
                        </a:spcBef>
                        <a:spcAft>
                          <a:spcPts val="0"/>
                        </a:spcAft>
                        <a:buNone/>
                      </a:pPr>
                      <a:r>
                        <a:rPr i="0" lang="en-US" sz="1200" u="none" cap="none" strike="noStrike">
                          <a:latin typeface="Helvetica Neue"/>
                          <a:ea typeface="Helvetica Neue"/>
                          <a:cs typeface="Helvetica Neue"/>
                          <a:sym typeface="Helvetica Neue"/>
                        </a:rPr>
                        <a:t>15.</a:t>
                      </a:r>
                      <a:endParaRPr>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Honghua Zhang, Po-Nien Kung, Masahiro Yoshida, Guy Van den Broeck &amp; Nanyun Peng — Adaptable Logical Control for Large Language Models (Ctrl-G) [2]</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NeurIPS (2024)</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Combines a distilled HMM and DFA to guide any LLM under logical constraints; evaluated on CommonGen, text infilling, CoAuthor editing, GSM.</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Ctrl-G achieves 100 % constraint satisfaction and higher human satisfaction vs GPT-4/GPT-3.5 in constrained generation; generalizes to complex constraints; modest gains in reasoning tasks.</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95250" lvl="0" marL="17145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Extra inference cost (O(n m h²)); experiments are still limited to certain benchmarks; applicability to very large/complex constraints or domains remains to be explored</a:t>
                      </a:r>
                      <a:endParaRPr sz="1200">
                        <a:latin typeface="Helvetica Neue"/>
                        <a:ea typeface="Helvetica Neue"/>
                        <a:cs typeface="Helvetica Neue"/>
                        <a:sym typeface="Helvetica Neue"/>
                      </a:endParaRPr>
                    </a:p>
                  </a:txBody>
                  <a:tcPr marT="45725" marB="45725" marR="91450" marL="91450">
                    <a:solidFill>
                      <a:srgbClr val="D5D59B"/>
                    </a:solidFill>
                  </a:tcPr>
                </a:tc>
              </a:tr>
              <a:tr h="2898375">
                <a:tc>
                  <a:txBody>
                    <a:bodyPr/>
                    <a:lstStyle/>
                    <a:p>
                      <a:pPr indent="0" lvl="0" marL="0" marR="0" rtl="0" algn="ctr">
                        <a:spcBef>
                          <a:spcPts val="0"/>
                        </a:spcBef>
                        <a:spcAft>
                          <a:spcPts val="0"/>
                        </a:spcAft>
                        <a:buNone/>
                      </a:pPr>
                      <a:r>
                        <a:rPr lang="en-US" sz="1200">
                          <a:latin typeface="Helvetica Neue"/>
                          <a:ea typeface="Helvetica Neue"/>
                          <a:cs typeface="Helvetica Neue"/>
                          <a:sym typeface="Helvetica Neue"/>
                        </a:rPr>
                        <a:t>16</a:t>
                      </a:r>
                      <a:r>
                        <a:rPr i="0" lang="en-US" sz="1200">
                          <a:latin typeface="Helvetica Neue"/>
                          <a:ea typeface="Helvetica Neue"/>
                          <a:cs typeface="Helvetica Neue"/>
                          <a:sym typeface="Helvetica Neue"/>
                        </a:rPr>
                        <a:t>.</a:t>
                      </a:r>
                      <a:endParaRPr>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None/>
                      </a:pPr>
                      <a:r>
                        <a:rPr lang="en-US" sz="1200">
                          <a:latin typeface="Helvetica Neue"/>
                          <a:ea typeface="Helvetica Neue"/>
                          <a:cs typeface="Helvetica Neue"/>
                          <a:sym typeface="Helvetica Neue"/>
                        </a:rPr>
                        <a:t>Zongmeng Zhang, Tianyang Xu, Hengrui Zhang, et al. </a:t>
                      </a:r>
                      <a:r>
                        <a:rPr i="1" lang="en-US" sz="1200">
                          <a:latin typeface="Helvetica Neue"/>
                          <a:ea typeface="Helvetica Neue"/>
                          <a:cs typeface="Helvetica Neue"/>
                          <a:sym typeface="Helvetica Neue"/>
                        </a:rPr>
                        <a:t>Trustworthy Alignment of Retrieval-Augmented Large Language Models via Reinforcement Learning [17]</a:t>
                      </a:r>
                      <a:endParaRPr i="1" sz="1200">
                        <a:latin typeface="Helvetica Neue"/>
                        <a:ea typeface="Helvetica Neue"/>
                        <a:cs typeface="Helvetica Neue"/>
                        <a:sym typeface="Helvetica Neue"/>
                      </a:endParaRPr>
                    </a:p>
                    <a:p>
                      <a:pPr indent="0" lvl="0" marL="0" rtl="0" algn="l">
                        <a:spcBef>
                          <a:spcPts val="0"/>
                        </a:spcBef>
                        <a:spcAft>
                          <a:spcPts val="0"/>
                        </a:spcAft>
                        <a:buNone/>
                      </a:pPr>
                      <a:r>
                        <a:t/>
                      </a:r>
                      <a:endParaRPr i="1" sz="1200">
                        <a:latin typeface="Helvetica Neue"/>
                        <a:ea typeface="Helvetica Neue"/>
                        <a:cs typeface="Helvetica Neue"/>
                        <a:sym typeface="Helvetica Neue"/>
                      </a:endParaRPr>
                    </a:p>
                    <a:p>
                      <a:pPr indent="0" lvl="0" marL="0" rtl="0" algn="l">
                        <a:spcBef>
                          <a:spcPts val="0"/>
                        </a:spcBef>
                        <a:spcAft>
                          <a:spcPts val="0"/>
                        </a:spcAft>
                        <a:buNone/>
                      </a:pPr>
                      <a:r>
                        <a:t/>
                      </a:r>
                      <a:endParaRPr i="1" sz="1200">
                        <a:latin typeface="Helvetica Neue"/>
                        <a:ea typeface="Helvetica Neue"/>
                        <a:cs typeface="Helvetica Neue"/>
                        <a:sym typeface="Helvetica Neue"/>
                      </a:endParaRPr>
                    </a:p>
                    <a:p>
                      <a:pPr indent="0" lvl="0" marL="0" rtl="0" algn="l">
                        <a:spcBef>
                          <a:spcPts val="0"/>
                        </a:spcBef>
                        <a:spcAft>
                          <a:spcPts val="0"/>
                        </a:spcAft>
                        <a:buNone/>
                      </a:pPr>
                      <a:r>
                        <a:t/>
                      </a:r>
                      <a:endParaRPr i="1" sz="1200">
                        <a:latin typeface="Helvetica Neue"/>
                        <a:ea typeface="Helvetica Neue"/>
                        <a:cs typeface="Helvetica Neue"/>
                        <a:sym typeface="Helvetica Neue"/>
                      </a:endParaRPr>
                    </a:p>
                    <a:p>
                      <a:pPr indent="0" lvl="0" marL="0" rtl="0" algn="l">
                        <a:spcBef>
                          <a:spcPts val="0"/>
                        </a:spcBef>
                        <a:spcAft>
                          <a:spcPts val="0"/>
                        </a:spcAft>
                        <a:buNone/>
                      </a:pPr>
                      <a:r>
                        <a:t/>
                      </a:r>
                      <a:endParaRPr i="1" sz="1200">
                        <a:latin typeface="Helvetica Neue"/>
                        <a:ea typeface="Helvetica Neue"/>
                        <a:cs typeface="Helvetica Neue"/>
                        <a:sym typeface="Helvetica Neue"/>
                      </a:endParaRPr>
                    </a:p>
                    <a:p>
                      <a:pPr indent="0" lvl="0" marL="0" rtl="0" algn="l">
                        <a:spcBef>
                          <a:spcPts val="0"/>
                        </a:spcBef>
                        <a:spcAft>
                          <a:spcPts val="0"/>
                        </a:spcAft>
                        <a:buClr>
                          <a:schemeClr val="dk1"/>
                        </a:buClr>
                        <a:buFont typeface="Arial"/>
                        <a:buNone/>
                      </a:pPr>
                      <a:r>
                        <a:t/>
                      </a:r>
                      <a:endParaRPr i="1"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2024</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Reinforcement Learning (RL), retrieval-based grounding, RAG pipelines</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Reduces hallucinations; aligns LLM outputs with external evidence rather than parametric memory</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95250" lvl="0" marL="17145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  Mostly benchmark-driven; RL adds latency; untested in regulatory/legal domains</a:t>
                      </a:r>
                      <a:endParaRPr i="0" sz="1200">
                        <a:latin typeface="Helvetica Neue"/>
                        <a:ea typeface="Helvetica Neue"/>
                        <a:cs typeface="Helvetica Neue"/>
                        <a:sym typeface="Helvetica Neue"/>
                      </a:endParaRPr>
                    </a:p>
                  </a:txBody>
                  <a:tcPr marT="45725" marB="45725" marR="91450" marL="91450">
                    <a:solidFill>
                      <a:srgbClr val="F0F0DD"/>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ae280144eb_0_279"/>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Literature Review </a:t>
            </a:r>
            <a:r>
              <a:rPr lang="en-US"/>
              <a:t>(cont…)</a:t>
            </a:r>
            <a:endParaRPr b="0"/>
          </a:p>
        </p:txBody>
      </p:sp>
      <p:sp>
        <p:nvSpPr>
          <p:cNvPr id="154" name="Google Shape;154;g3ae280144eb_0_279"/>
          <p:cNvSpPr txBox="1"/>
          <p:nvPr/>
        </p:nvSpPr>
        <p:spPr>
          <a:xfrm>
            <a:off x="93606" y="839456"/>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55" name="Google Shape;155;g3ae280144eb_0_279"/>
          <p:cNvGraphicFramePr/>
          <p:nvPr/>
        </p:nvGraphicFramePr>
        <p:xfrm>
          <a:off x="126656" y="839448"/>
          <a:ext cx="3000000" cy="3000000"/>
        </p:xfrm>
        <a:graphic>
          <a:graphicData uri="http://schemas.openxmlformats.org/drawingml/2006/table">
            <a:tbl>
              <a:tblPr bandRow="1" firstRow="1">
                <a:noFill/>
                <a:tableStyleId>{898F8B75-1C41-4D90-AD48-C5B47D00A216}</a:tableStyleId>
              </a:tblPr>
              <a:tblGrid>
                <a:gridCol w="542250"/>
                <a:gridCol w="1760275"/>
                <a:gridCol w="1465250"/>
                <a:gridCol w="1421175"/>
                <a:gridCol w="1828800"/>
                <a:gridCol w="1905925"/>
              </a:tblGrid>
              <a:tr h="710300">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S. No.</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Author &amp; </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Paper Title </a:t>
                      </a:r>
                      <a:br>
                        <a:rPr b="0" i="0" lang="en-US" sz="1400" u="none" cap="none" strike="noStrike">
                          <a:latin typeface="Helvetica Neue"/>
                          <a:ea typeface="Helvetica Neue"/>
                          <a:cs typeface="Helvetica Neue"/>
                          <a:sym typeface="Helvetica Neue"/>
                        </a:rPr>
                      </a:br>
                      <a:r>
                        <a:rPr b="0" i="0" lang="en-US" sz="1400" u="none" cap="none" strike="noStrike">
                          <a:latin typeface="Helvetica Neue"/>
                          <a:ea typeface="Helvetica Neue"/>
                          <a:cs typeface="Helvetica Neue"/>
                          <a:sym typeface="Helvetica Neue"/>
                        </a:rPr>
                        <a:t>[Citation]</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Journal/</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Conference</a:t>
                      </a:r>
                      <a:br>
                        <a:rPr b="0" i="0" lang="en-US" sz="1400" u="none" cap="none" strike="noStrike">
                          <a:latin typeface="Helvetica Neue"/>
                          <a:ea typeface="Helvetica Neue"/>
                          <a:cs typeface="Helvetica Neue"/>
                          <a:sym typeface="Helvetica Neue"/>
                        </a:rPr>
                      </a:br>
                      <a:r>
                        <a:rPr b="0" i="0" lang="en-US" sz="1400" u="none" cap="none" strike="noStrike">
                          <a:latin typeface="Helvetica Neue"/>
                          <a:ea typeface="Helvetica Neue"/>
                          <a:cs typeface="Helvetica Neue"/>
                          <a:sym typeface="Helvetica Neue"/>
                        </a:rPr>
                        <a:t>(Year)</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Tools/</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Techniques/</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Dataset</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Key Findings/</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Results</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Limitations/</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Gaps Identified</a:t>
                      </a:r>
                      <a:endParaRPr/>
                    </a:p>
                  </a:txBody>
                  <a:tcPr marT="45725" marB="45725" marR="91450" marL="91450">
                    <a:solidFill>
                      <a:srgbClr val="606029"/>
                    </a:solidFill>
                  </a:tcPr>
                </a:tc>
              </a:tr>
              <a:tr h="2752375">
                <a:tc>
                  <a:txBody>
                    <a:bodyPr/>
                    <a:lstStyle/>
                    <a:p>
                      <a:pPr indent="0" lvl="0" marL="0" marR="0" rtl="0" algn="ctr">
                        <a:spcBef>
                          <a:spcPts val="0"/>
                        </a:spcBef>
                        <a:spcAft>
                          <a:spcPts val="0"/>
                        </a:spcAft>
                        <a:buNone/>
                      </a:pPr>
                      <a:r>
                        <a:rPr i="0" lang="en-US" sz="1200" u="none" cap="none" strike="noStrike">
                          <a:latin typeface="Helvetica Neue"/>
                          <a:ea typeface="Helvetica Neue"/>
                          <a:cs typeface="Helvetica Neue"/>
                          <a:sym typeface="Helvetica Neue"/>
                        </a:rPr>
                        <a:t>17.</a:t>
                      </a:r>
                      <a:endParaRPr>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Saibo Geng, Martin Josifoski, Maxime Peyrard &amp; Robert West — </a:t>
                      </a:r>
                      <a:r>
                        <a:rPr i="1" lang="en-US" sz="1200">
                          <a:latin typeface="Helvetica Neue"/>
                          <a:ea typeface="Helvetica Neue"/>
                          <a:cs typeface="Helvetica Neue"/>
                          <a:sym typeface="Helvetica Neue"/>
                        </a:rPr>
                        <a:t>Grammar-Constrained Decoding for Structured NLP Tasks without Finetuning [5]</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EMNLP (2023)</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They use input-dependent formal grammars to constrain LLM decoding (GCD), applying it on tasks like information extraction, entity disambiguation, constituency parsing (few-shot / in-context), no dedicated large dataset.</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GCD substantially outperforms unconstrained LMs and sometimes beats task-specific finetuned models on structured tasks.</a:t>
                      </a:r>
                      <a:endParaRPr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95250" lvl="0" marL="17145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May not scale to very complex grammars; restricted evaluation to a few structured tasks; effect when model is larger or domain shifts unclear. </a:t>
                      </a:r>
                      <a:endParaRPr sz="1200">
                        <a:latin typeface="Helvetica Neue"/>
                        <a:ea typeface="Helvetica Neue"/>
                        <a:cs typeface="Helvetica Neue"/>
                        <a:sym typeface="Helvetica Neue"/>
                      </a:endParaRPr>
                    </a:p>
                  </a:txBody>
                  <a:tcPr marT="45725" marB="45725" marR="91450" marL="91450">
                    <a:solidFill>
                      <a:srgbClr val="D5D59B"/>
                    </a:solidFill>
                  </a:tcPr>
                </a:tc>
              </a:tr>
              <a:tr h="2228650">
                <a:tc>
                  <a:txBody>
                    <a:bodyPr/>
                    <a:lstStyle/>
                    <a:p>
                      <a:pPr indent="0" lvl="0" marL="0" marR="0" rtl="0" algn="ctr">
                        <a:spcBef>
                          <a:spcPts val="0"/>
                        </a:spcBef>
                        <a:spcAft>
                          <a:spcPts val="0"/>
                        </a:spcAft>
                        <a:buNone/>
                      </a:pPr>
                      <a:r>
                        <a:rPr lang="en-US" sz="1200">
                          <a:latin typeface="Helvetica Neue"/>
                          <a:ea typeface="Helvetica Neue"/>
                          <a:cs typeface="Helvetica Neue"/>
                          <a:sym typeface="Helvetica Neue"/>
                        </a:rPr>
                        <a:t>18</a:t>
                      </a:r>
                      <a:r>
                        <a:rPr i="0" lang="en-US" sz="1200">
                          <a:latin typeface="Helvetica Neue"/>
                          <a:ea typeface="Helvetica Neue"/>
                          <a:cs typeface="Helvetica Neue"/>
                          <a:sym typeface="Helvetica Neue"/>
                        </a:rPr>
                        <a:t>.</a:t>
                      </a:r>
                      <a:endParaRPr>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Alexander Bernauer &amp; Richard A. Eisenberg</a:t>
                      </a:r>
                      <a:endParaRPr sz="1200">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sz="1200">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Eiger: Auditable, executable, flexible legal regulations [1]</a:t>
                      </a:r>
                      <a:endParaRPr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ACL (2022)</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Helvetica Neue"/>
                          <a:ea typeface="Helvetica Neue"/>
                          <a:cs typeface="Helvetica Neue"/>
                          <a:sym typeface="Helvetica Neue"/>
                        </a:rPr>
                        <a:t> Haskell-embedded  (Eiger), dependency tracking via monadic DSL, small user study,</a:t>
                      </a:r>
                      <a:endParaRPr sz="1200">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sz="1200">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no large dataset</a:t>
                      </a:r>
                      <a:endParaRPr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ctr">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Domain experts could read/audit code, gained clarity, and Eiger enabled reusable, auditable regulatory logic with “what-if” analysis.</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ctr">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Very limited study; no data sourcing or reporting support; incomplete automation; scalability to large, evolving regulations unproven.</a:t>
                      </a:r>
                      <a:endParaRPr i="0" sz="1200">
                        <a:latin typeface="Helvetica Neue"/>
                        <a:ea typeface="Helvetica Neue"/>
                        <a:cs typeface="Helvetica Neue"/>
                        <a:sym typeface="Helvetica Neue"/>
                      </a:endParaRPr>
                    </a:p>
                  </a:txBody>
                  <a:tcPr marT="45725" marB="45725" marR="91450" marL="91450">
                    <a:solidFill>
                      <a:srgbClr val="F0F0DD"/>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ae280144eb_0_299"/>
          <p:cNvSpPr txBox="1"/>
          <p:nvPr>
            <p:ph type="title"/>
          </p:nvPr>
        </p:nvSpPr>
        <p:spPr>
          <a:xfrm>
            <a:off x="40640" y="30480"/>
            <a:ext cx="8328900" cy="694200"/>
          </a:xfrm>
          <a:prstGeom prst="rect">
            <a:avLst/>
          </a:prstGeom>
        </p:spPr>
        <p:txBody>
          <a:bodyPr anchorCtr="0" anchor="ctr" bIns="45700" lIns="91425" spcFirstLastPara="1" rIns="91425" wrap="square" tIns="45700">
            <a:noAutofit/>
          </a:bodyPr>
          <a:lstStyle/>
          <a:p>
            <a:pPr indent="0" lvl="0" marL="90487" rtl="0" algn="l">
              <a:spcBef>
                <a:spcPts val="0"/>
              </a:spcBef>
              <a:spcAft>
                <a:spcPts val="0"/>
              </a:spcAft>
              <a:buClr>
                <a:schemeClr val="dk1"/>
              </a:buClr>
              <a:buFont typeface="Arial"/>
              <a:buNone/>
            </a:pPr>
            <a:r>
              <a:rPr lang="en-US"/>
              <a:t>Literature Review (cont…)</a:t>
            </a:r>
            <a:endParaRPr/>
          </a:p>
        </p:txBody>
      </p:sp>
      <p:sp>
        <p:nvSpPr>
          <p:cNvPr id="162" name="Google Shape;162;g3ae280144eb_0_299"/>
          <p:cNvSpPr txBox="1"/>
          <p:nvPr>
            <p:ph idx="1" type="body"/>
          </p:nvPr>
        </p:nvSpPr>
        <p:spPr>
          <a:xfrm>
            <a:off x="86200" y="782325"/>
            <a:ext cx="8953500" cy="5794800"/>
          </a:xfrm>
          <a:prstGeom prst="rect">
            <a:avLst/>
          </a:prstGeom>
        </p:spPr>
        <p:txBody>
          <a:bodyPr anchorCtr="0" anchor="t" bIns="45700" lIns="91425" spcFirstLastPara="1" rIns="91425" wrap="square" tIns="45700">
            <a:noAutofit/>
          </a:bodyPr>
          <a:lstStyle/>
          <a:p>
            <a:pPr indent="0" lvl="0" marL="0" rtl="0" algn="just">
              <a:spcBef>
                <a:spcPts val="630"/>
              </a:spcBef>
              <a:spcAft>
                <a:spcPts val="0"/>
              </a:spcAft>
              <a:buNone/>
            </a:pPr>
            <a:r>
              <a:t/>
            </a:r>
            <a:endParaRPr/>
          </a:p>
        </p:txBody>
      </p:sp>
      <p:sp>
        <p:nvSpPr>
          <p:cNvPr id="163" name="Google Shape;163;g3ae280144eb_0_299"/>
          <p:cNvSpPr txBox="1"/>
          <p:nvPr/>
        </p:nvSpPr>
        <p:spPr>
          <a:xfrm>
            <a:off x="84543" y="804231"/>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64" name="Google Shape;164;g3ae280144eb_0_299"/>
          <p:cNvGraphicFramePr/>
          <p:nvPr/>
        </p:nvGraphicFramePr>
        <p:xfrm>
          <a:off x="110168" y="804223"/>
          <a:ext cx="3000000" cy="3000000"/>
        </p:xfrm>
        <a:graphic>
          <a:graphicData uri="http://schemas.openxmlformats.org/drawingml/2006/table">
            <a:tbl>
              <a:tblPr bandRow="1" firstRow="1">
                <a:noFill/>
                <a:tableStyleId>{898F8B75-1C41-4D90-AD48-C5B47D00A216}</a:tableStyleId>
              </a:tblPr>
              <a:tblGrid>
                <a:gridCol w="542250"/>
                <a:gridCol w="1760275"/>
                <a:gridCol w="1465250"/>
                <a:gridCol w="1421175"/>
                <a:gridCol w="1828800"/>
                <a:gridCol w="1905925"/>
              </a:tblGrid>
              <a:tr h="715175">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S. No.</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Author &amp; </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Paper Title </a:t>
                      </a:r>
                      <a:br>
                        <a:rPr b="0" i="0" lang="en-US" sz="1400" u="none" cap="none" strike="noStrike">
                          <a:latin typeface="Helvetica Neue"/>
                          <a:ea typeface="Helvetica Neue"/>
                          <a:cs typeface="Helvetica Neue"/>
                          <a:sym typeface="Helvetica Neue"/>
                        </a:rPr>
                      </a:br>
                      <a:r>
                        <a:rPr b="0" i="0" lang="en-US" sz="1400" u="none" cap="none" strike="noStrike">
                          <a:latin typeface="Helvetica Neue"/>
                          <a:ea typeface="Helvetica Neue"/>
                          <a:cs typeface="Helvetica Neue"/>
                          <a:sym typeface="Helvetica Neue"/>
                        </a:rPr>
                        <a:t>[Citation]</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Journal/</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Conference</a:t>
                      </a:r>
                      <a:br>
                        <a:rPr b="0" i="0" lang="en-US" sz="1400" u="none" cap="none" strike="noStrike">
                          <a:latin typeface="Helvetica Neue"/>
                          <a:ea typeface="Helvetica Neue"/>
                          <a:cs typeface="Helvetica Neue"/>
                          <a:sym typeface="Helvetica Neue"/>
                        </a:rPr>
                      </a:br>
                      <a:r>
                        <a:rPr b="0" i="0" lang="en-US" sz="1400" u="none" cap="none" strike="noStrike">
                          <a:latin typeface="Helvetica Neue"/>
                          <a:ea typeface="Helvetica Neue"/>
                          <a:cs typeface="Helvetica Neue"/>
                          <a:sym typeface="Helvetica Neue"/>
                        </a:rPr>
                        <a:t>(Year)</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Tools/</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Techniques/</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Dataset</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Key Findings/</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Results</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Limitations/</a:t>
                      </a:r>
                      <a:endParaRPr/>
                    </a:p>
                    <a:p>
                      <a:pPr indent="0" lvl="0" marL="0" marR="0" rtl="0" algn="ctr">
                        <a:spcBef>
                          <a:spcPts val="0"/>
                        </a:spcBef>
                        <a:spcAft>
                          <a:spcPts val="0"/>
                        </a:spcAft>
                        <a:buNone/>
                      </a:pPr>
                      <a:r>
                        <a:rPr b="0" i="0" lang="en-US" sz="1400" u="none" cap="none" strike="noStrike">
                          <a:latin typeface="Helvetica Neue"/>
                          <a:ea typeface="Helvetica Neue"/>
                          <a:cs typeface="Helvetica Neue"/>
                          <a:sym typeface="Helvetica Neue"/>
                        </a:rPr>
                        <a:t>Gaps Identified</a:t>
                      </a:r>
                      <a:endParaRPr/>
                    </a:p>
                  </a:txBody>
                  <a:tcPr marT="45725" marB="45725" marR="91450" marL="91450">
                    <a:solidFill>
                      <a:srgbClr val="606029"/>
                    </a:solidFill>
                  </a:tcPr>
                </a:tc>
              </a:tr>
              <a:tr h="1203625">
                <a:tc>
                  <a:txBody>
                    <a:bodyPr/>
                    <a:lstStyle/>
                    <a:p>
                      <a:pPr indent="0" lvl="0" marL="0" marR="0" rtl="0" algn="ctr">
                        <a:spcBef>
                          <a:spcPts val="0"/>
                        </a:spcBef>
                        <a:spcAft>
                          <a:spcPts val="0"/>
                        </a:spcAft>
                        <a:buNone/>
                      </a:pPr>
                      <a:r>
                        <a:rPr lang="en-US" sz="1200">
                          <a:latin typeface="Helvetica Neue"/>
                          <a:ea typeface="Helvetica Neue"/>
                          <a:cs typeface="Helvetica Neue"/>
                          <a:sym typeface="Helvetica Neue"/>
                        </a:rPr>
                        <a:t>19.</a:t>
                      </a:r>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Tim Rocktäschel, Sebastian Riedel &amp; Douwe Kiela — </a:t>
                      </a:r>
                      <a:r>
                        <a:rPr i="1" lang="en-US" sz="1200">
                          <a:latin typeface="Helvetica Neue"/>
                          <a:ea typeface="Helvetica Neue"/>
                          <a:cs typeface="Helvetica Neue"/>
                          <a:sym typeface="Helvetica Neue"/>
                        </a:rPr>
                        <a:t>Retrieval-Augmented Generation for Knowledge-Intensive NLP Tasks [4]</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NeurIPS (2020)</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Combines BART + DPR over Wikipedia as memory; uses RAG-Sequence / RAG-Token latent-document modeling; evaluated on QA, fact verification, generation, MS-MARCO.</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NSM achieves new state-of-the-art F1 under weak supervision on WEBQUESTIONSSP, closing much of the gap to full supervision without feature engineering</a:t>
                      </a:r>
                      <a:endParaRPr i="0" sz="1200">
                        <a:latin typeface="Helvetica Neue"/>
                        <a:ea typeface="Helvetica Neue"/>
                        <a:cs typeface="Helvetica Neue"/>
                        <a:sym typeface="Helvetica Neue"/>
                      </a:endParaRPr>
                    </a:p>
                  </a:txBody>
                  <a:tcPr marT="45725" marB="45725" marR="91450" marL="91450">
                    <a:solidFill>
                      <a:srgbClr val="D5D59B"/>
                    </a:solidFill>
                  </a:tcPr>
                </a:tc>
                <a:tc>
                  <a:txBody>
                    <a:bodyPr/>
                    <a:lstStyle/>
                    <a:p>
                      <a:pPr indent="-95250" lvl="0" marL="17145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Programing is extremely complex, and there is chance of overfitting, and limited function set / scalability remain challenges</a:t>
                      </a:r>
                      <a:endParaRPr i="0" sz="1200">
                        <a:latin typeface="Helvetica Neue"/>
                        <a:ea typeface="Helvetica Neue"/>
                        <a:cs typeface="Helvetica Neue"/>
                        <a:sym typeface="Helvetica Neue"/>
                      </a:endParaRPr>
                    </a:p>
                  </a:txBody>
                  <a:tcPr marT="45725" marB="45725" marR="91450" marL="91450">
                    <a:solidFill>
                      <a:srgbClr val="D5D59B"/>
                    </a:solidFill>
                  </a:tcPr>
                </a:tc>
              </a:tr>
              <a:tr h="2777275">
                <a:tc>
                  <a:txBody>
                    <a:bodyPr/>
                    <a:lstStyle/>
                    <a:p>
                      <a:pPr indent="0" lvl="0" marL="0" marR="0" rtl="0" algn="ctr">
                        <a:spcBef>
                          <a:spcPts val="0"/>
                        </a:spcBef>
                        <a:spcAft>
                          <a:spcPts val="0"/>
                        </a:spcAft>
                        <a:buNone/>
                      </a:pPr>
                      <a:r>
                        <a:rPr lang="en-US" sz="1200">
                          <a:latin typeface="Helvetica Neue"/>
                          <a:ea typeface="Helvetica Neue"/>
                          <a:cs typeface="Helvetica Neue"/>
                          <a:sym typeface="Helvetica Neue"/>
                        </a:rPr>
                        <a:t>20</a:t>
                      </a:r>
                      <a:r>
                        <a:rPr b="0" i="0" lang="en-US" sz="1200">
                          <a:latin typeface="Helvetica Neue"/>
                          <a:ea typeface="Helvetica Neue"/>
                          <a:cs typeface="Helvetica Neue"/>
                          <a:sym typeface="Helvetica Neue"/>
                        </a:rPr>
                        <a:t>.</a:t>
                      </a:r>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Chen Liang, Jonathan Berant, Quoc Le, Kenneth D. Forbus &amp; Ni Lao — </a:t>
                      </a:r>
                      <a:r>
                        <a:rPr i="1" lang="en-US" sz="1200">
                          <a:latin typeface="Helvetica Neue"/>
                          <a:ea typeface="Helvetica Neue"/>
                          <a:cs typeface="Helvetica Neue"/>
                          <a:sym typeface="Helvetica Neue"/>
                        </a:rPr>
                        <a:t>Neural Symbolic Machines: Learning Semantic Parsers on Freebase with Weak Supervision [3]</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ACL (Association for Computational Linguistics) conference, (2017)</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Seq2seq “programmer” + key-variable memory, a symbolic Lisp “computer” with code assistance, augmented REINFORCE + iterative ML training, use of WEBQUESTIONSSP over Freebase</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rtl="0" algn="l">
                        <a:spcBef>
                          <a:spcPts val="0"/>
                        </a:spcBef>
                        <a:spcAft>
                          <a:spcPts val="0"/>
                        </a:spcAft>
                        <a:buClr>
                          <a:schemeClr val="dk1"/>
                        </a:buClr>
                        <a:buFont typeface="Arial"/>
                        <a:buNone/>
                      </a:pPr>
                      <a:r>
                        <a:rPr lang="en-US" sz="1200">
                          <a:latin typeface="Helvetica Neue"/>
                          <a:ea typeface="Helvetica Neue"/>
                          <a:cs typeface="Helvetica Neue"/>
                          <a:sym typeface="Helvetica Neue"/>
                        </a:rPr>
                        <a:t>NSM achieves new state-of-the-art F1 under weak supervision on WEBQUESTIONSSP, closing much of the gap to full supervision without feature engineering</a:t>
                      </a:r>
                      <a:endParaRPr i="0" sz="1200">
                        <a:latin typeface="Helvetica Neue"/>
                        <a:ea typeface="Helvetica Neue"/>
                        <a:cs typeface="Helvetica Neue"/>
                        <a:sym typeface="Helvetica Neue"/>
                      </a:endParaRPr>
                    </a:p>
                  </a:txBody>
                  <a:tcPr marT="45725" marB="45725" marR="91450" marL="91450">
                    <a:solidFill>
                      <a:srgbClr val="F0F0DD"/>
                    </a:solidFill>
                  </a:tcPr>
                </a:tc>
                <a:tc>
                  <a:txBody>
                    <a:bodyPr/>
                    <a:lstStyle/>
                    <a:p>
                      <a:pPr indent="-95250" lvl="0" marL="171450" rtl="0" algn="l">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Programing is extremely complex, and there is chance of overfitting, and limited function set / scalability remain challenges</a:t>
                      </a:r>
                      <a:endParaRPr i="0" sz="1200">
                        <a:latin typeface="Helvetica Neue"/>
                        <a:ea typeface="Helvetica Neue"/>
                        <a:cs typeface="Helvetica Neue"/>
                        <a:sym typeface="Helvetica Neue"/>
                      </a:endParaRPr>
                    </a:p>
                  </a:txBody>
                  <a:tcPr marT="45725" marB="45725" marR="91450" marL="91450">
                    <a:solidFill>
                      <a:srgbClr val="F0F0DD"/>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a:t>Work Done (after Mid-Term Evaluation)</a:t>
            </a:r>
            <a:endParaRPr/>
          </a:p>
        </p:txBody>
      </p:sp>
      <p:sp>
        <p:nvSpPr>
          <p:cNvPr id="170" name="Google Shape;170;p11"/>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342900" lvl="0" marL="457200" marR="0" rtl="0" algn="just">
              <a:lnSpc>
                <a:spcPct val="150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Processed 34 regulatory PDFs using OCR and text cleaning; segmented into 2000+ clause-level units with metadata including issuer, year, category.</a:t>
            </a:r>
            <a:endParaRPr sz="1800">
              <a:solidFill>
                <a:schemeClr val="dk1"/>
              </a:solidFill>
              <a:latin typeface="Helvetica Neue"/>
              <a:ea typeface="Helvetica Neue"/>
              <a:cs typeface="Helvetica Neue"/>
              <a:sym typeface="Helvetica Neue"/>
            </a:endParaRPr>
          </a:p>
          <a:p>
            <a:pPr indent="-342900" lvl="0" marL="457200" marR="0" rtl="0" algn="just">
              <a:lnSpc>
                <a:spcPct val="150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Generated embeddings for all segments using nomic-embed-text and stored them in ChromaDB with SQLite backend for efficient semantic search.</a:t>
            </a:r>
            <a:endParaRPr sz="1800">
              <a:solidFill>
                <a:schemeClr val="dk1"/>
              </a:solidFill>
              <a:latin typeface="Helvetica Neue"/>
              <a:ea typeface="Helvetica Neue"/>
              <a:cs typeface="Helvetica Neue"/>
              <a:sym typeface="Helvetica Neue"/>
            </a:endParaRPr>
          </a:p>
          <a:p>
            <a:pPr indent="-342900" lvl="0" marL="457200" marR="0" rtl="0" algn="just">
              <a:lnSpc>
                <a:spcPct val="150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Integrated Qwen 2.5 LLM with retrieved context; implemented prompt engineering to ensure grounded answers with explicit citations to source documents.</a:t>
            </a:r>
            <a:endParaRPr sz="1800">
              <a:solidFill>
                <a:schemeClr val="dk1"/>
              </a:solidFill>
              <a:latin typeface="Helvetica Neue"/>
              <a:ea typeface="Helvetica Neue"/>
              <a:cs typeface="Helvetica Neue"/>
              <a:sym typeface="Helvetica Neue"/>
            </a:endParaRPr>
          </a:p>
          <a:p>
            <a:pPr indent="-342900" lvl="0" marL="457200" marR="0" rtl="0" algn="just">
              <a:lnSpc>
                <a:spcPct val="150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Tested on realistic compliance queries (UGC-NET dates, RPL objectives, anti-ragging committees); measured retrieval accuracy, answer quality, and response latency.</a:t>
            </a:r>
            <a:endParaRPr sz="1800">
              <a:solidFill>
                <a:schemeClr val="dk1"/>
              </a:solidFill>
              <a:latin typeface="Helvetica Neue"/>
              <a:ea typeface="Helvetica Neue"/>
              <a:cs typeface="Helvetica Neue"/>
              <a:sym typeface="Helvetica Neue"/>
            </a:endParaRPr>
          </a:p>
          <a:p>
            <a:pPr indent="-342900" lvl="0" marL="457200" marR="0" rtl="0" algn="just">
              <a:lnSpc>
                <a:spcPct val="150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Maintained project codebase using Git for version tracking and collaboration; created structured Jupyter notebooks for each pipeline stage (ingestion, embedding, retrieval) with inline comments and markdown explanations</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2"/>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Project Design</a:t>
            </a:r>
            <a:endParaRPr/>
          </a:p>
        </p:txBody>
      </p:sp>
      <p:sp>
        <p:nvSpPr>
          <p:cNvPr id="176" name="Google Shape;176;p12"/>
          <p:cNvSpPr txBox="1"/>
          <p:nvPr/>
        </p:nvSpPr>
        <p:spPr>
          <a:xfrm>
            <a:off x="77125" y="804225"/>
            <a:ext cx="8956800" cy="52836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177" name="Google Shape;177;p12" title="Architecture Diagram.drawio (1).png"/>
          <p:cNvPicPr preferRelativeResize="0"/>
          <p:nvPr/>
        </p:nvPicPr>
        <p:blipFill>
          <a:blip r:embed="rId3">
            <a:alphaModFix/>
          </a:blip>
          <a:stretch>
            <a:fillRect/>
          </a:stretch>
        </p:blipFill>
        <p:spPr>
          <a:xfrm>
            <a:off x="93650" y="1488463"/>
            <a:ext cx="8956699" cy="4426385"/>
          </a:xfrm>
          <a:prstGeom prst="rect">
            <a:avLst/>
          </a:prstGeom>
          <a:noFill/>
          <a:ln>
            <a:noFill/>
          </a:ln>
        </p:spPr>
      </p:pic>
      <p:sp>
        <p:nvSpPr>
          <p:cNvPr id="178" name="Google Shape;178;p12"/>
          <p:cNvSpPr txBox="1"/>
          <p:nvPr/>
        </p:nvSpPr>
        <p:spPr>
          <a:xfrm>
            <a:off x="3209575" y="6167500"/>
            <a:ext cx="4023900" cy="3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Fig 1. System Architecture</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3"/>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Project Design </a:t>
            </a:r>
            <a:r>
              <a:rPr b="0" lang="en-US" sz="2400"/>
              <a:t>(cont…)</a:t>
            </a:r>
            <a:endParaRPr b="0"/>
          </a:p>
        </p:txBody>
      </p:sp>
      <p:sp>
        <p:nvSpPr>
          <p:cNvPr id="184" name="Google Shape;184;p13"/>
          <p:cNvSpPr txBox="1"/>
          <p:nvPr/>
        </p:nvSpPr>
        <p:spPr>
          <a:xfrm>
            <a:off x="77125" y="804225"/>
            <a:ext cx="8956800" cy="47043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185" name="Google Shape;185;p13" title="Untitled Diagram.drawio__.png"/>
          <p:cNvPicPr preferRelativeResize="0"/>
          <p:nvPr/>
        </p:nvPicPr>
        <p:blipFill>
          <a:blip r:embed="rId3">
            <a:alphaModFix/>
          </a:blip>
          <a:stretch>
            <a:fillRect/>
          </a:stretch>
        </p:blipFill>
        <p:spPr>
          <a:xfrm>
            <a:off x="77125" y="2022800"/>
            <a:ext cx="8956700" cy="2754788"/>
          </a:xfrm>
          <a:prstGeom prst="rect">
            <a:avLst/>
          </a:prstGeom>
          <a:noFill/>
          <a:ln>
            <a:noFill/>
          </a:ln>
        </p:spPr>
      </p:pic>
      <p:sp>
        <p:nvSpPr>
          <p:cNvPr id="186" name="Google Shape;186;p13"/>
          <p:cNvSpPr txBox="1"/>
          <p:nvPr/>
        </p:nvSpPr>
        <p:spPr>
          <a:xfrm>
            <a:off x="2875650" y="6196625"/>
            <a:ext cx="5178900" cy="3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Fig 2. Offline Data Ingestion Pipeline</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4"/>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Project Design </a:t>
            </a:r>
            <a:r>
              <a:rPr b="0" lang="en-US" sz="2400"/>
              <a:t>(cont…)</a:t>
            </a:r>
            <a:endParaRPr b="0"/>
          </a:p>
        </p:txBody>
      </p:sp>
      <p:sp>
        <p:nvSpPr>
          <p:cNvPr id="192" name="Google Shape;192;p14"/>
          <p:cNvSpPr txBox="1"/>
          <p:nvPr/>
        </p:nvSpPr>
        <p:spPr>
          <a:xfrm>
            <a:off x="77125" y="804226"/>
            <a:ext cx="8956800" cy="50907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193" name="Google Shape;193;p14" title="Untitled diagram-2025-12-06-082649.png"/>
          <p:cNvPicPr preferRelativeResize="0"/>
          <p:nvPr/>
        </p:nvPicPr>
        <p:blipFill>
          <a:blip r:embed="rId3">
            <a:alphaModFix/>
          </a:blip>
          <a:stretch>
            <a:fillRect/>
          </a:stretch>
        </p:blipFill>
        <p:spPr>
          <a:xfrm>
            <a:off x="-505775" y="1294800"/>
            <a:ext cx="9539599" cy="4453046"/>
          </a:xfrm>
          <a:prstGeom prst="rect">
            <a:avLst/>
          </a:prstGeom>
          <a:noFill/>
          <a:ln>
            <a:noFill/>
          </a:ln>
        </p:spPr>
      </p:pic>
      <p:sp>
        <p:nvSpPr>
          <p:cNvPr id="194" name="Google Shape;194;p14"/>
          <p:cNvSpPr txBox="1"/>
          <p:nvPr/>
        </p:nvSpPr>
        <p:spPr>
          <a:xfrm>
            <a:off x="2833350" y="6160400"/>
            <a:ext cx="4653900" cy="3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Fig 3. Module Interaction Diagram</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5"/>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Tools, Technologies and Languages</a:t>
            </a:r>
            <a:endParaRPr b="0"/>
          </a:p>
        </p:txBody>
      </p:sp>
      <p:sp>
        <p:nvSpPr>
          <p:cNvPr id="200" name="Google Shape;200;p15"/>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200"/>
              </a:spcBef>
              <a:spcAft>
                <a:spcPts val="0"/>
              </a:spcAft>
              <a:buClr>
                <a:schemeClr val="dk1"/>
              </a:buClr>
              <a:buSzPts val="1800"/>
              <a:buFont typeface="Helvetica Neue"/>
              <a:buChar char="●"/>
            </a:pPr>
            <a:r>
              <a:rPr b="1" lang="en-US" sz="1800">
                <a:solidFill>
                  <a:schemeClr val="dk1"/>
                </a:solidFill>
                <a:latin typeface="Helvetica Neue"/>
                <a:ea typeface="Helvetica Neue"/>
                <a:cs typeface="Helvetica Neue"/>
                <a:sym typeface="Helvetica Neue"/>
              </a:rPr>
              <a:t>Programming &amp; Language:</a:t>
            </a:r>
            <a:endParaRPr b="1"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Python 3.13.2 → Primary development language for all backend processing.</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b="1" lang="en-US" sz="1800">
                <a:solidFill>
                  <a:schemeClr val="dk1"/>
                </a:solidFill>
                <a:latin typeface="Helvetica Neue"/>
                <a:ea typeface="Helvetica Neue"/>
                <a:cs typeface="Helvetica Neue"/>
                <a:sym typeface="Helvetica Neue"/>
              </a:rPr>
              <a:t>Document Processing &amp; OCR:</a:t>
            </a:r>
            <a:endParaRPr b="1"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Tesseract OCR  → Converts scanned PDFs to machine-readable text</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pdf2image  → Extracts and processes PDF pages as images</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Pillow   → Image processing and pre-processing for OCR pipeline</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b="1" lang="en-US" sz="1800">
                <a:solidFill>
                  <a:schemeClr val="dk1"/>
                </a:solidFill>
                <a:latin typeface="Helvetica Neue"/>
                <a:ea typeface="Helvetica Neue"/>
                <a:cs typeface="Helvetica Neue"/>
                <a:sym typeface="Helvetica Neue"/>
              </a:rPr>
              <a:t>Machine Learning &amp; AI:</a:t>
            </a:r>
            <a:endParaRPr b="1"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Ollama → Local LLM inference server.</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Qwen 2.5 (7B Quantized) → Open-source LLM for grounded answer generation</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nomic-embed-text  → Semantic embedding model (768-dimensional vectors)</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b="1" lang="en-US" sz="1800">
                <a:solidFill>
                  <a:schemeClr val="dk1"/>
                </a:solidFill>
                <a:latin typeface="Helvetica Neue"/>
                <a:ea typeface="Helvetica Neue"/>
                <a:cs typeface="Helvetica Neue"/>
                <a:sym typeface="Helvetica Neue"/>
              </a:rPr>
              <a:t>Vector Database &amp; Storage:</a:t>
            </a:r>
            <a:endParaRPr b="1"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ChromaDB → Purpose-built vector database for embeddings + metadata</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SQLite → Persistent storage backend.</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6"/>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Tools, Technologies and Languages (cont…)</a:t>
            </a:r>
            <a:endParaRPr b="0"/>
          </a:p>
        </p:txBody>
      </p:sp>
      <p:sp>
        <p:nvSpPr>
          <p:cNvPr id="206" name="Google Shape;206;p16"/>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342900" lvl="0" marL="457200" marR="0" rtl="0" algn="just">
              <a:lnSpc>
                <a:spcPct val="150000"/>
              </a:lnSpc>
              <a:spcBef>
                <a:spcPts val="0"/>
              </a:spcBef>
              <a:spcAft>
                <a:spcPts val="0"/>
              </a:spcAft>
              <a:buClr>
                <a:schemeClr val="dk1"/>
              </a:buClr>
              <a:buSzPts val="1800"/>
              <a:buFont typeface="Helvetica Neue"/>
              <a:buChar char="●"/>
            </a:pPr>
            <a:r>
              <a:rPr b="1" lang="en-US" sz="1800">
                <a:solidFill>
                  <a:schemeClr val="dk1"/>
                </a:solidFill>
                <a:latin typeface="Helvetica Neue"/>
                <a:ea typeface="Helvetica Neue"/>
                <a:cs typeface="Helvetica Neue"/>
                <a:sym typeface="Helvetica Neue"/>
              </a:rPr>
              <a:t>Development Tools:</a:t>
            </a:r>
            <a:endParaRPr b="1" sz="1800">
              <a:solidFill>
                <a:schemeClr val="dk1"/>
              </a:solidFill>
              <a:latin typeface="Helvetica Neue"/>
              <a:ea typeface="Helvetica Neue"/>
              <a:cs typeface="Helvetica Neue"/>
              <a:sym typeface="Helvetica Neue"/>
            </a:endParaRPr>
          </a:p>
          <a:p>
            <a:pPr indent="-342900" lvl="1" marL="914400" marR="0" rtl="0" algn="just">
              <a:lnSpc>
                <a:spcPct val="150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VS Code  → Code editor with Git integration for version control</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Python venv  → Virtual environment for dependency isolation</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b="1" lang="en-US" sz="1800">
                <a:solidFill>
                  <a:schemeClr val="dk1"/>
                </a:solidFill>
                <a:latin typeface="Helvetica Neue"/>
                <a:ea typeface="Helvetica Neue"/>
                <a:cs typeface="Helvetica Neue"/>
                <a:sym typeface="Helvetica Neue"/>
              </a:rPr>
              <a:t>Hardware &amp; Infrastructure:</a:t>
            </a:r>
            <a:endParaRPr b="1"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CPU: Multi-core processor AMD Ryzen 7 4800H.</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GPU: NVIDIA RTX 3050 (4GB VRAM) for LLM and embedding inference.</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RAM: 16GB for data processing and model loading</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Storage: SSD 512GB for OS, tools, and vector database</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OS: Windows 11</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b="1" lang="en-US" sz="1800">
                <a:solidFill>
                  <a:schemeClr val="dk1"/>
                </a:solidFill>
                <a:latin typeface="Helvetica Neue"/>
                <a:ea typeface="Helvetica Neue"/>
                <a:cs typeface="Helvetica Neue"/>
                <a:sym typeface="Helvetica Neue"/>
              </a:rPr>
              <a:t>Model Specifications:</a:t>
            </a:r>
            <a:endParaRPr b="1"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Qwen 2.5 (3B) – ~8-12 seconds latency, ~2-3 GB memory (Q4 quantized)</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Qwen 2.5 (7B) – ~15-25 seconds latency, ~3-4 GB memory (Q4 quantized)</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nomic-embed-text – &lt;1 second latency, ~1 GB memory</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7"/>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Dataset</a:t>
            </a:r>
            <a:endParaRPr/>
          </a:p>
        </p:txBody>
      </p:sp>
      <p:sp>
        <p:nvSpPr>
          <p:cNvPr id="212" name="Google Shape;212;p17"/>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lang="en-US" sz="1800">
                <a:solidFill>
                  <a:schemeClr val="dk1"/>
                </a:solidFill>
                <a:latin typeface="Helvetica Neue"/>
                <a:ea typeface="Helvetica Neue"/>
                <a:cs typeface="Helvetica Neue"/>
                <a:sym typeface="Helvetica Neue"/>
              </a:rPr>
              <a:t>Source Documents:</a:t>
            </a:r>
            <a:endParaRPr b="1"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UGC (University Grants Commission)</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UGC-NET exam notices (dates, subjects, schedules)</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PhD regulations and guidelines</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Anti-ragging regulations &amp; committee requirements</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AICTE (All India Council for Technical Education)</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Approval handbooks for engineering/management programs</a:t>
            </a:r>
            <a:endParaRPr sz="1800">
              <a:solidFill>
                <a:schemeClr val="dk1"/>
              </a:solidFill>
              <a:latin typeface="Helvetica Neue"/>
              <a:ea typeface="Helvetica Neue"/>
              <a:cs typeface="Helvetica Neue"/>
              <a:sym typeface="Helvetica Neue"/>
            </a:endParaRPr>
          </a:p>
          <a:p>
            <a:pPr indent="-342900" lvl="1" marL="9144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Infrastructure and faculty norms</a:t>
            </a:r>
            <a:endParaRPr sz="18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None/>
            </a:pPr>
            <a:r>
              <a:rPr b="1" lang="en-US" sz="1800">
                <a:solidFill>
                  <a:schemeClr val="dk1"/>
                </a:solidFill>
                <a:latin typeface="Helvetica Neue"/>
                <a:ea typeface="Helvetica Neue"/>
                <a:cs typeface="Helvetica Neue"/>
                <a:sym typeface="Helvetica Neue"/>
              </a:rPr>
              <a:t>Dataset Statistics:</a:t>
            </a:r>
            <a:endParaRPr b="1" sz="1800">
              <a:solidFill>
                <a:schemeClr val="dk1"/>
              </a:solidFill>
              <a:latin typeface="Helvetica Neue"/>
              <a:ea typeface="Helvetica Neue"/>
              <a:cs typeface="Helvetica Neue"/>
              <a:sym typeface="Helvetica Neue"/>
            </a:endParaRPr>
          </a:p>
          <a:p>
            <a:pPr indent="-342900" lvl="0" marL="457200" rtl="0" algn="l">
              <a:lnSpc>
                <a:spcPct val="115000"/>
              </a:lnSpc>
              <a:spcBef>
                <a:spcPts val="60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Total Documents: 38 curated PDFs</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Total Segments: 2,000+ clause-level segments</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Metadata Fields: Source, Issuer, Year, Category, Effective Date</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Corpus Size: 5 MB of indexed text</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Coverage: Anti-ragging, RPL, PhD, UGC-NET, examination rules.</a:t>
            </a:r>
            <a:endParaRPr sz="1800">
              <a:solidFill>
                <a:schemeClr val="dk1"/>
              </a:solidFill>
              <a:latin typeface="Helvetica Neue"/>
              <a:ea typeface="Helvetica Neue"/>
              <a:cs typeface="Helvetica Neue"/>
              <a:sym typeface="Helvetica Neue"/>
            </a:endParaRPr>
          </a:p>
          <a:p>
            <a:pPr indent="0" lvl="0" marL="0" marR="0" rtl="0" algn="just">
              <a:lnSpc>
                <a:spcPct val="150000"/>
              </a:lnSpc>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8"/>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Implementation</a:t>
            </a:r>
            <a:endParaRPr/>
          </a:p>
        </p:txBody>
      </p:sp>
      <p:sp>
        <p:nvSpPr>
          <p:cNvPr id="218" name="Google Shape;218;p18"/>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600"/>
              </a:spcBef>
              <a:spcAft>
                <a:spcPts val="0"/>
              </a:spcAft>
              <a:buClr>
                <a:schemeClr val="dk1"/>
              </a:buClr>
              <a:buSzPts val="1100"/>
              <a:buFont typeface="Arial"/>
              <a:buNone/>
            </a:pPr>
            <a:r>
              <a:rPr b="1" lang="en-US" sz="1800">
                <a:solidFill>
                  <a:schemeClr val="dk1"/>
                </a:solidFill>
                <a:latin typeface="Helvetica Neue"/>
                <a:ea typeface="Helvetica Neue"/>
                <a:cs typeface="Helvetica Neue"/>
                <a:sym typeface="Helvetica Neue"/>
              </a:rPr>
              <a:t>Dataset Overview:</a:t>
            </a:r>
            <a:endParaRPr b="1" sz="1800">
              <a:solidFill>
                <a:schemeClr val="dk1"/>
              </a:solidFill>
              <a:latin typeface="Helvetica Neue"/>
              <a:ea typeface="Helvetica Neue"/>
              <a:cs typeface="Helvetica Neue"/>
              <a:sym typeface="Helvetica Neue"/>
            </a:endParaRPr>
          </a:p>
          <a:p>
            <a:pPr indent="-342900" lvl="0" marL="457200" rtl="0" algn="l">
              <a:lnSpc>
                <a:spcPct val="115000"/>
              </a:lnSpc>
              <a:spcBef>
                <a:spcPts val="60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Source Documents:  34 regulatory PDFs (UGC, AICTE, institutional bylaws)</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Total Segments: 2,000+ clause-level units after processing</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Corpus Size: 5 MB of indexed text</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Document Categories: Anti-ragging, RPL, PhD regulations, UGC-NET notices, examination rules, AICTE Handbooks.</a:t>
            </a:r>
            <a:endParaRPr sz="1800">
              <a:solidFill>
                <a:schemeClr val="dk1"/>
              </a:solidFill>
              <a:latin typeface="Helvetica Neue"/>
              <a:ea typeface="Helvetica Neue"/>
              <a:cs typeface="Helvetica Neue"/>
              <a:sym typeface="Helvetica Neue"/>
            </a:endParaRPr>
          </a:p>
          <a:p>
            <a:pPr indent="0" lvl="0" marL="0" marR="0" rtl="0" algn="just">
              <a:lnSpc>
                <a:spcPct val="150000"/>
              </a:lnSpc>
              <a:spcBef>
                <a:spcPts val="630"/>
              </a:spcBef>
              <a:spcAft>
                <a:spcPts val="0"/>
              </a:spcAft>
              <a:buNone/>
            </a:pPr>
            <a:r>
              <a:rPr b="1" lang="en-US" sz="1800">
                <a:solidFill>
                  <a:schemeClr val="dk1"/>
                </a:solidFill>
                <a:latin typeface="Helvetica Neue"/>
                <a:ea typeface="Helvetica Neue"/>
                <a:cs typeface="Helvetica Neue"/>
                <a:sym typeface="Helvetica Neue"/>
              </a:rPr>
              <a:t>Metadata Schema</a:t>
            </a:r>
            <a:r>
              <a:rPr lang="en-US" sz="1800">
                <a:solidFill>
                  <a:schemeClr val="dk1"/>
                </a:solidFill>
                <a:latin typeface="Helvetica Neue"/>
                <a:ea typeface="Helvetica Neue"/>
                <a:cs typeface="Helvetica Neue"/>
                <a:sym typeface="Helvetica Neue"/>
              </a:rPr>
              <a:t>:</a:t>
            </a:r>
            <a:endParaRPr sz="1800">
              <a:solidFill>
                <a:schemeClr val="dk1"/>
              </a:solidFill>
              <a:latin typeface="Helvetica Neue"/>
              <a:ea typeface="Helvetica Neue"/>
              <a:cs typeface="Helvetica Neue"/>
              <a:sym typeface="Helvetica Neue"/>
            </a:endParaRPr>
          </a:p>
          <a:p>
            <a:pPr indent="0" lvl="0" marL="0" rtl="0" algn="just">
              <a:lnSpc>
                <a:spcPct val="115000"/>
              </a:lnSpc>
              <a:spcBef>
                <a:spcPts val="630"/>
              </a:spcBef>
              <a:spcAft>
                <a:spcPts val="0"/>
              </a:spcAft>
              <a:buClr>
                <a:schemeClr val="dk1"/>
              </a:buClr>
              <a:buSzPts val="1100"/>
              <a:buFont typeface="Arial"/>
              <a:buNone/>
            </a:pPr>
            <a:r>
              <a:rPr lang="en-US" sz="1800">
                <a:solidFill>
                  <a:schemeClr val="dk1"/>
                </a:solidFill>
                <a:latin typeface="Helvetica Neue"/>
                <a:ea typeface="Helvetica Neue"/>
                <a:cs typeface="Helvetica Neue"/>
                <a:sym typeface="Helvetica Neue"/>
              </a:rPr>
              <a:t>{</a:t>
            </a:r>
            <a:endParaRPr sz="1800">
              <a:solidFill>
                <a:schemeClr val="dk1"/>
              </a:solidFill>
              <a:latin typeface="Helvetica Neue"/>
              <a:ea typeface="Helvetica Neue"/>
              <a:cs typeface="Helvetica Neue"/>
              <a:sym typeface="Helvetica Neue"/>
            </a:endParaRPr>
          </a:p>
          <a:p>
            <a:pPr indent="0" lvl="0" marL="0" rtl="0" algn="just">
              <a:lnSpc>
                <a:spcPct val="115000"/>
              </a:lnSpc>
              <a:spcBef>
                <a:spcPts val="630"/>
              </a:spcBef>
              <a:spcAft>
                <a:spcPts val="0"/>
              </a:spcAft>
              <a:buNone/>
            </a:pPr>
            <a:r>
              <a:rPr lang="en-US" sz="1800">
                <a:solidFill>
                  <a:schemeClr val="dk1"/>
                </a:solidFill>
                <a:latin typeface="Helvetica Neue"/>
                <a:ea typeface="Helvetica Neue"/>
                <a:cs typeface="Helvetica Neue"/>
                <a:sym typeface="Helvetica Neue"/>
              </a:rPr>
              <a:t>  "source": "UGC_Regulation_2024.txt",</a:t>
            </a:r>
            <a:endParaRPr sz="1800">
              <a:solidFill>
                <a:schemeClr val="dk1"/>
              </a:solidFill>
              <a:latin typeface="Helvetica Neue"/>
              <a:ea typeface="Helvetica Neue"/>
              <a:cs typeface="Helvetica Neue"/>
              <a:sym typeface="Helvetica Neue"/>
            </a:endParaRPr>
          </a:p>
          <a:p>
            <a:pPr indent="0" lvl="0" marL="0" rtl="0" algn="just">
              <a:lnSpc>
                <a:spcPct val="115000"/>
              </a:lnSpc>
              <a:spcBef>
                <a:spcPts val="630"/>
              </a:spcBef>
              <a:spcAft>
                <a:spcPts val="0"/>
              </a:spcAft>
              <a:buClr>
                <a:schemeClr val="dk1"/>
              </a:buClr>
              <a:buSzPts val="1100"/>
              <a:buFont typeface="Arial"/>
              <a:buNone/>
            </a:pPr>
            <a:r>
              <a:rPr lang="en-US" sz="1800">
                <a:solidFill>
                  <a:schemeClr val="dk1"/>
                </a:solidFill>
                <a:latin typeface="Helvetica Neue"/>
                <a:ea typeface="Helvetica Neue"/>
                <a:cs typeface="Helvetica Neue"/>
                <a:sym typeface="Helvetica Neue"/>
              </a:rPr>
              <a:t>  </a:t>
            </a:r>
            <a:r>
              <a:rPr lang="en-US" sz="1800">
                <a:solidFill>
                  <a:schemeClr val="dk1"/>
                </a:solidFill>
                <a:latin typeface="Helvetica Neue"/>
                <a:ea typeface="Helvetica Neue"/>
                <a:cs typeface="Helvetica Neue"/>
                <a:sym typeface="Helvetica Neue"/>
              </a:rPr>
              <a:t>"issuer": "UGC",</a:t>
            </a:r>
            <a:endParaRPr sz="1800">
              <a:solidFill>
                <a:schemeClr val="dk1"/>
              </a:solidFill>
              <a:latin typeface="Helvetica Neue"/>
              <a:ea typeface="Helvetica Neue"/>
              <a:cs typeface="Helvetica Neue"/>
              <a:sym typeface="Helvetica Neue"/>
            </a:endParaRPr>
          </a:p>
          <a:p>
            <a:pPr indent="0" lvl="0" marL="0" rtl="0" algn="just">
              <a:lnSpc>
                <a:spcPct val="115000"/>
              </a:lnSpc>
              <a:spcBef>
                <a:spcPts val="630"/>
              </a:spcBef>
              <a:spcAft>
                <a:spcPts val="0"/>
              </a:spcAft>
              <a:buClr>
                <a:schemeClr val="dk1"/>
              </a:buClr>
              <a:buSzPts val="1100"/>
              <a:buFont typeface="Arial"/>
              <a:buNone/>
            </a:pPr>
            <a:r>
              <a:rPr lang="en-US" sz="1800">
                <a:solidFill>
                  <a:schemeClr val="dk1"/>
                </a:solidFill>
                <a:latin typeface="Helvetica Neue"/>
                <a:ea typeface="Helvetica Neue"/>
                <a:cs typeface="Helvetica Neue"/>
                <a:sym typeface="Helvetica Neue"/>
              </a:rPr>
              <a:t>  "year": 2024,</a:t>
            </a:r>
            <a:endParaRPr sz="1800">
              <a:solidFill>
                <a:schemeClr val="dk1"/>
              </a:solidFill>
              <a:latin typeface="Helvetica Neue"/>
              <a:ea typeface="Helvetica Neue"/>
              <a:cs typeface="Helvetica Neue"/>
              <a:sym typeface="Helvetica Neue"/>
            </a:endParaRPr>
          </a:p>
          <a:p>
            <a:pPr indent="0" lvl="0" marL="0" rtl="0" algn="just">
              <a:lnSpc>
                <a:spcPct val="115000"/>
              </a:lnSpc>
              <a:spcBef>
                <a:spcPts val="630"/>
              </a:spcBef>
              <a:spcAft>
                <a:spcPts val="0"/>
              </a:spcAft>
              <a:buClr>
                <a:schemeClr val="dk1"/>
              </a:buClr>
              <a:buSzPts val="1100"/>
              <a:buFont typeface="Arial"/>
              <a:buNone/>
            </a:pPr>
            <a:r>
              <a:rPr lang="en-US" sz="1800">
                <a:solidFill>
                  <a:schemeClr val="dk1"/>
                </a:solidFill>
                <a:latin typeface="Helvetica Neue"/>
                <a:ea typeface="Helvetica Neue"/>
                <a:cs typeface="Helvetica Neue"/>
                <a:sym typeface="Helvetica Neue"/>
              </a:rPr>
              <a:t>  "category": "PhD",</a:t>
            </a:r>
            <a:endParaRPr sz="1800">
              <a:solidFill>
                <a:schemeClr val="dk1"/>
              </a:solidFill>
              <a:latin typeface="Helvetica Neue"/>
              <a:ea typeface="Helvetica Neue"/>
              <a:cs typeface="Helvetica Neue"/>
              <a:sym typeface="Helvetica Neue"/>
            </a:endParaRPr>
          </a:p>
          <a:p>
            <a:pPr indent="0" lvl="0" marL="0" rtl="0" algn="just">
              <a:lnSpc>
                <a:spcPct val="115000"/>
              </a:lnSpc>
              <a:spcBef>
                <a:spcPts val="630"/>
              </a:spcBef>
              <a:spcAft>
                <a:spcPts val="0"/>
              </a:spcAft>
              <a:buClr>
                <a:schemeClr val="dk1"/>
              </a:buClr>
              <a:buSzPts val="1100"/>
              <a:buFont typeface="Arial"/>
              <a:buNone/>
            </a:pPr>
            <a:r>
              <a:rPr lang="en-US" sz="1800">
                <a:solidFill>
                  <a:schemeClr val="dk1"/>
                </a:solidFill>
                <a:latin typeface="Helvetica Neue"/>
                <a:ea typeface="Helvetica Neue"/>
                <a:cs typeface="Helvetica Neue"/>
                <a:sym typeface="Helvetica Neue"/>
              </a:rPr>
              <a:t>  "effective_date": "2024-01-01",</a:t>
            </a:r>
            <a:endParaRPr sz="1800">
              <a:solidFill>
                <a:schemeClr val="dk1"/>
              </a:solidFill>
              <a:latin typeface="Helvetica Neue"/>
              <a:ea typeface="Helvetica Neue"/>
              <a:cs typeface="Helvetica Neue"/>
              <a:sym typeface="Helvetica Neue"/>
            </a:endParaRPr>
          </a:p>
          <a:p>
            <a:pPr indent="0" lvl="0" marL="0" rtl="0" algn="just">
              <a:lnSpc>
                <a:spcPct val="115000"/>
              </a:lnSpc>
              <a:spcBef>
                <a:spcPts val="630"/>
              </a:spcBef>
              <a:spcAft>
                <a:spcPts val="0"/>
              </a:spcAft>
              <a:buClr>
                <a:schemeClr val="dk1"/>
              </a:buClr>
              <a:buSzPts val="1100"/>
              <a:buFont typeface="Arial"/>
              <a:buNone/>
            </a:pPr>
            <a:r>
              <a:rPr lang="en-US" sz="1800">
                <a:solidFill>
                  <a:schemeClr val="dk1"/>
                </a:solidFill>
                <a:latin typeface="Helvetica Neue"/>
                <a:ea typeface="Helvetica Neue"/>
                <a:cs typeface="Helvetica Neue"/>
                <a:sym typeface="Helvetica Neue"/>
              </a:rPr>
              <a:t>  "page_markers": "Pages 12-15"</a:t>
            </a:r>
            <a:endParaRPr sz="1800">
              <a:solidFill>
                <a:schemeClr val="dk1"/>
              </a:solidFill>
              <a:latin typeface="Helvetica Neue"/>
              <a:ea typeface="Helvetica Neue"/>
              <a:cs typeface="Helvetica Neue"/>
              <a:sym typeface="Helvetica Neue"/>
            </a:endParaRPr>
          </a:p>
          <a:p>
            <a:pPr indent="0" lvl="0" marL="0" rtl="0" algn="just">
              <a:lnSpc>
                <a:spcPct val="115000"/>
              </a:lnSpc>
              <a:spcBef>
                <a:spcPts val="630"/>
              </a:spcBef>
              <a:spcAft>
                <a:spcPts val="0"/>
              </a:spcAft>
              <a:buClr>
                <a:schemeClr val="dk1"/>
              </a:buClr>
              <a:buSzPts val="1100"/>
              <a:buFont typeface="Arial"/>
              <a:buNone/>
            </a:pPr>
            <a:r>
              <a:rPr lang="en-US" sz="1800">
                <a:solidFill>
                  <a:schemeClr val="dk1"/>
                </a:solidFill>
                <a:latin typeface="Helvetica Neue"/>
                <a:ea typeface="Helvetica Neue"/>
                <a:cs typeface="Helvetica Neue"/>
                <a:sym typeface="Helvetica Neue"/>
              </a:rPr>
              <a:t>}</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9"/>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Implementation (cont…)</a:t>
            </a:r>
            <a:endParaRPr/>
          </a:p>
        </p:txBody>
      </p:sp>
      <p:sp>
        <p:nvSpPr>
          <p:cNvPr id="224" name="Google Shape;224;p19"/>
          <p:cNvSpPr txBox="1"/>
          <p:nvPr/>
        </p:nvSpPr>
        <p:spPr>
          <a:xfrm>
            <a:off x="-7" y="-2636844"/>
            <a:ext cx="8956800" cy="5794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630"/>
              </a:spcBef>
              <a:spcAft>
                <a:spcPts val="0"/>
              </a:spcAft>
              <a:buNone/>
            </a:pPr>
            <a:r>
              <a:t/>
            </a:r>
            <a:endParaRPr/>
          </a:p>
        </p:txBody>
      </p:sp>
      <p:pic>
        <p:nvPicPr>
          <p:cNvPr id="225" name="Google Shape;225;p19" title="Screenshot 2025-11-30 131536.png"/>
          <p:cNvPicPr preferRelativeResize="0"/>
          <p:nvPr/>
        </p:nvPicPr>
        <p:blipFill rotWithShape="1">
          <a:blip r:embed="rId3">
            <a:alphaModFix/>
          </a:blip>
          <a:srcRect b="17891" l="0" r="25931" t="0"/>
          <a:stretch/>
        </p:blipFill>
        <p:spPr>
          <a:xfrm>
            <a:off x="77125" y="926775"/>
            <a:ext cx="8646391" cy="2208275"/>
          </a:xfrm>
          <a:prstGeom prst="rect">
            <a:avLst/>
          </a:prstGeom>
          <a:noFill/>
          <a:ln>
            <a:noFill/>
          </a:ln>
        </p:spPr>
      </p:pic>
      <p:sp>
        <p:nvSpPr>
          <p:cNvPr id="226" name="Google Shape;226;p19"/>
          <p:cNvSpPr txBox="1"/>
          <p:nvPr/>
        </p:nvSpPr>
        <p:spPr>
          <a:xfrm>
            <a:off x="1691703" y="3229118"/>
            <a:ext cx="53850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Fig 4. Conversion of pdf to text using pytesseract</a:t>
            </a:r>
            <a:endParaRPr sz="1800">
              <a:solidFill>
                <a:schemeClr val="dk1"/>
              </a:solidFill>
              <a:latin typeface="Helvetica Neue"/>
              <a:ea typeface="Helvetica Neue"/>
              <a:cs typeface="Helvetica Neue"/>
              <a:sym typeface="Helvetica Neue"/>
            </a:endParaRPr>
          </a:p>
        </p:txBody>
      </p:sp>
      <p:pic>
        <p:nvPicPr>
          <p:cNvPr id="227" name="Google Shape;227;p19" title="Screenshot 2025-11-30 131805 (2).png"/>
          <p:cNvPicPr preferRelativeResize="0"/>
          <p:nvPr/>
        </p:nvPicPr>
        <p:blipFill rotWithShape="1">
          <a:blip r:embed="rId4">
            <a:alphaModFix/>
          </a:blip>
          <a:srcRect b="14155" l="0" r="26454" t="0"/>
          <a:stretch/>
        </p:blipFill>
        <p:spPr>
          <a:xfrm>
            <a:off x="152400" y="3997150"/>
            <a:ext cx="7821503" cy="2280700"/>
          </a:xfrm>
          <a:prstGeom prst="rect">
            <a:avLst/>
          </a:prstGeom>
          <a:noFill/>
          <a:ln>
            <a:noFill/>
          </a:ln>
        </p:spPr>
      </p:pic>
      <p:sp>
        <p:nvSpPr>
          <p:cNvPr id="228" name="Google Shape;228;p19"/>
          <p:cNvSpPr txBox="1"/>
          <p:nvPr/>
        </p:nvSpPr>
        <p:spPr>
          <a:xfrm>
            <a:off x="1785900" y="6277850"/>
            <a:ext cx="53850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Fig 5. </a:t>
            </a:r>
            <a:r>
              <a:rPr lang="en-US" sz="1800">
                <a:solidFill>
                  <a:schemeClr val="dk1"/>
                </a:solidFill>
                <a:latin typeface="Helvetica Neue"/>
                <a:ea typeface="Helvetica Neue"/>
                <a:cs typeface="Helvetica Neue"/>
                <a:sym typeface="Helvetica Neue"/>
              </a:rPr>
              <a:t>Cleaning</a:t>
            </a:r>
            <a:r>
              <a:rPr lang="en-US" sz="1800">
                <a:solidFill>
                  <a:schemeClr val="dk1"/>
                </a:solidFill>
                <a:latin typeface="Helvetica Neue"/>
                <a:ea typeface="Helvetica Neue"/>
                <a:cs typeface="Helvetica Neue"/>
                <a:sym typeface="Helvetica Neue"/>
              </a:rPr>
              <a:t> of raw text to remove extra spaces</a:t>
            </a:r>
            <a:r>
              <a:rPr lang="en-US" sz="1800">
                <a:solidFill>
                  <a:schemeClr val="dk1"/>
                </a:solidFill>
                <a:latin typeface="Helvetica Neue"/>
                <a:ea typeface="Helvetica Neue"/>
                <a:cs typeface="Helvetica Neue"/>
                <a:sym typeface="Helvetica Neue"/>
              </a:rPr>
              <a:t>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0"/>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Implementation (cont…)</a:t>
            </a:r>
            <a:endParaRPr/>
          </a:p>
        </p:txBody>
      </p:sp>
      <p:sp>
        <p:nvSpPr>
          <p:cNvPr id="234" name="Google Shape;234;p20"/>
          <p:cNvSpPr txBox="1"/>
          <p:nvPr/>
        </p:nvSpPr>
        <p:spPr>
          <a:xfrm>
            <a:off x="-91900" y="864600"/>
            <a:ext cx="8956800" cy="5476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630"/>
              </a:spcBef>
              <a:spcAft>
                <a:spcPts val="0"/>
              </a:spcAft>
              <a:buNone/>
            </a:pPr>
            <a:r>
              <a:t/>
            </a:r>
            <a:endParaRPr/>
          </a:p>
        </p:txBody>
      </p:sp>
      <p:sp>
        <p:nvSpPr>
          <p:cNvPr id="235" name="Google Shape;235;p20"/>
          <p:cNvSpPr txBox="1"/>
          <p:nvPr/>
        </p:nvSpPr>
        <p:spPr>
          <a:xfrm>
            <a:off x="2041850" y="6281025"/>
            <a:ext cx="64113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Fig 6. </a:t>
            </a:r>
            <a:r>
              <a:rPr lang="en-US" sz="1800">
                <a:solidFill>
                  <a:schemeClr val="dk1"/>
                </a:solidFill>
                <a:latin typeface="Helvetica Neue"/>
                <a:ea typeface="Helvetica Neue"/>
                <a:cs typeface="Helvetica Neue"/>
                <a:sym typeface="Helvetica Neue"/>
              </a:rPr>
              <a:t>Loading all generated embeddings to ChromaDB</a:t>
            </a:r>
            <a:endParaRPr sz="1800">
              <a:solidFill>
                <a:schemeClr val="dk1"/>
              </a:solidFill>
              <a:latin typeface="Helvetica Neue"/>
              <a:ea typeface="Helvetica Neue"/>
              <a:cs typeface="Helvetica Neue"/>
              <a:sym typeface="Helvetica Neue"/>
            </a:endParaRPr>
          </a:p>
        </p:txBody>
      </p:sp>
      <p:pic>
        <p:nvPicPr>
          <p:cNvPr id="236" name="Google Shape;236;p20" title="INgest.png"/>
          <p:cNvPicPr preferRelativeResize="0"/>
          <p:nvPr/>
        </p:nvPicPr>
        <p:blipFill>
          <a:blip r:embed="rId3">
            <a:alphaModFix/>
          </a:blip>
          <a:stretch>
            <a:fillRect/>
          </a:stretch>
        </p:blipFill>
        <p:spPr>
          <a:xfrm>
            <a:off x="226275" y="711600"/>
            <a:ext cx="8009913" cy="55694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ae1340ba12_2_21"/>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Implementation (cont…)</a:t>
            </a:r>
            <a:endParaRPr/>
          </a:p>
        </p:txBody>
      </p:sp>
      <p:sp>
        <p:nvSpPr>
          <p:cNvPr id="242" name="Google Shape;242;g3ae1340ba12_2_21"/>
          <p:cNvSpPr txBox="1"/>
          <p:nvPr/>
        </p:nvSpPr>
        <p:spPr>
          <a:xfrm>
            <a:off x="77125" y="804225"/>
            <a:ext cx="8956800" cy="5476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630"/>
              </a:spcBef>
              <a:spcAft>
                <a:spcPts val="0"/>
              </a:spcAft>
              <a:buNone/>
            </a:pPr>
            <a:r>
              <a:t/>
            </a:r>
            <a:endParaRPr/>
          </a:p>
        </p:txBody>
      </p:sp>
      <p:pic>
        <p:nvPicPr>
          <p:cNvPr id="243" name="Google Shape;243;g3ae1340ba12_2_21" title="Screenshot 2025-11-30 132229.png"/>
          <p:cNvPicPr preferRelativeResize="0"/>
          <p:nvPr/>
        </p:nvPicPr>
        <p:blipFill>
          <a:blip r:embed="rId3">
            <a:alphaModFix/>
          </a:blip>
          <a:stretch>
            <a:fillRect/>
          </a:stretch>
        </p:blipFill>
        <p:spPr>
          <a:xfrm>
            <a:off x="128350" y="804225"/>
            <a:ext cx="8854276" cy="5476899"/>
          </a:xfrm>
          <a:prstGeom prst="rect">
            <a:avLst/>
          </a:prstGeom>
          <a:noFill/>
          <a:ln>
            <a:noFill/>
          </a:ln>
        </p:spPr>
      </p:pic>
      <p:sp>
        <p:nvSpPr>
          <p:cNvPr id="244" name="Google Shape;244;g3ae1340ba12_2_21"/>
          <p:cNvSpPr txBox="1"/>
          <p:nvPr/>
        </p:nvSpPr>
        <p:spPr>
          <a:xfrm>
            <a:off x="2041850" y="6281025"/>
            <a:ext cx="53850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Fig 7. Constructed prompt for the model</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1"/>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Experimental Results and Evaluation</a:t>
            </a:r>
            <a:endParaRPr/>
          </a:p>
        </p:txBody>
      </p:sp>
      <p:sp>
        <p:nvSpPr>
          <p:cNvPr id="250" name="Google Shape;250;p21"/>
          <p:cNvSpPr txBox="1"/>
          <p:nvPr/>
        </p:nvSpPr>
        <p:spPr>
          <a:xfrm>
            <a:off x="77125" y="1402325"/>
            <a:ext cx="8956800" cy="4818600"/>
          </a:xfrm>
          <a:prstGeom prst="rect">
            <a:avLst/>
          </a:prstGeom>
          <a:noFill/>
          <a:ln>
            <a:noFill/>
          </a:ln>
        </p:spPr>
        <p:txBody>
          <a:bodyPr anchorCtr="0" anchor="t" bIns="45700" lIns="91425" spcFirstLastPara="1" rIns="91425" wrap="square" tIns="45700">
            <a:noAutofit/>
          </a:bodyPr>
          <a:lstStyle/>
          <a:p>
            <a:pPr indent="0" lvl="0" marL="457200" marR="0" rtl="0" algn="just">
              <a:lnSpc>
                <a:spcPct val="150000"/>
              </a:lnSpc>
              <a:spcBef>
                <a:spcPts val="630"/>
              </a:spcBef>
              <a:spcAft>
                <a:spcPts val="0"/>
              </a:spcAft>
              <a:buNone/>
            </a:pPr>
            <a:r>
              <a:t/>
            </a:r>
            <a:endParaRPr/>
          </a:p>
        </p:txBody>
      </p:sp>
      <p:pic>
        <p:nvPicPr>
          <p:cNvPr id="251" name="Google Shape;251;p21" title="model_comparison_plots_20251206_165450.png"/>
          <p:cNvPicPr preferRelativeResize="0"/>
          <p:nvPr/>
        </p:nvPicPr>
        <p:blipFill>
          <a:blip r:embed="rId3">
            <a:alphaModFix/>
          </a:blip>
          <a:stretch>
            <a:fillRect/>
          </a:stretch>
        </p:blipFill>
        <p:spPr>
          <a:xfrm>
            <a:off x="77125" y="1137625"/>
            <a:ext cx="9066849" cy="5249724"/>
          </a:xfrm>
          <a:prstGeom prst="rect">
            <a:avLst/>
          </a:prstGeom>
          <a:noFill/>
          <a:ln>
            <a:noFill/>
          </a:ln>
        </p:spPr>
      </p:pic>
      <p:sp>
        <p:nvSpPr>
          <p:cNvPr id="252" name="Google Shape;252;p21"/>
          <p:cNvSpPr txBox="1"/>
          <p:nvPr/>
        </p:nvSpPr>
        <p:spPr>
          <a:xfrm>
            <a:off x="2041850" y="6281025"/>
            <a:ext cx="53850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Fig 8. Comparison between Qwen 3b and 7b </a:t>
            </a:r>
            <a:endParaRPr sz="1800">
              <a:solidFill>
                <a:schemeClr val="dk1"/>
              </a:solidFill>
              <a:latin typeface="Helvetica Neue"/>
              <a:ea typeface="Helvetica Neue"/>
              <a:cs typeface="Helvetica Neue"/>
              <a:sym typeface="Helvetica Neue"/>
            </a:endParaRPr>
          </a:p>
        </p:txBody>
      </p:sp>
      <p:sp>
        <p:nvSpPr>
          <p:cNvPr id="253" name="Google Shape;253;p21"/>
          <p:cNvSpPr txBox="1"/>
          <p:nvPr/>
        </p:nvSpPr>
        <p:spPr>
          <a:xfrm>
            <a:off x="327329" y="787481"/>
            <a:ext cx="6519900" cy="4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chemeClr val="dk1"/>
                </a:solidFill>
                <a:latin typeface="Helvetica Neue"/>
                <a:ea typeface="Helvetica Neue"/>
                <a:cs typeface="Helvetica Neue"/>
                <a:sym typeface="Helvetica Neue"/>
              </a:rPr>
              <a:t>Result:</a:t>
            </a:r>
            <a:r>
              <a:rPr lang="en-US" sz="1800">
                <a:solidFill>
                  <a:schemeClr val="dk1"/>
                </a:solidFill>
                <a:latin typeface="Helvetica Neue"/>
                <a:ea typeface="Helvetica Neue"/>
                <a:cs typeface="Helvetica Neue"/>
                <a:sym typeface="Helvetica Neue"/>
              </a:rPr>
              <a:t> Model </a:t>
            </a:r>
            <a:r>
              <a:rPr lang="en-US" sz="1800" u="sng">
                <a:solidFill>
                  <a:schemeClr val="dk1"/>
                </a:solidFill>
                <a:latin typeface="Helvetica Neue"/>
                <a:ea typeface="Helvetica Neue"/>
                <a:cs typeface="Helvetica Neue"/>
                <a:sym typeface="Helvetica Neue"/>
              </a:rPr>
              <a:t>Qwen3B</a:t>
            </a:r>
            <a:r>
              <a:rPr lang="en-US" sz="1800">
                <a:solidFill>
                  <a:schemeClr val="dk1"/>
                </a:solidFill>
                <a:latin typeface="Helvetica Neue"/>
                <a:ea typeface="Helvetica Neue"/>
                <a:cs typeface="Helvetica Neue"/>
                <a:sym typeface="Helvetica Neue"/>
              </a:rPr>
              <a:t> performed better.</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2"/>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Experimental Results and Evaluation (cont…)</a:t>
            </a:r>
            <a:endParaRPr/>
          </a:p>
        </p:txBody>
      </p:sp>
      <p:sp>
        <p:nvSpPr>
          <p:cNvPr id="259" name="Google Shape;259;p22"/>
          <p:cNvSpPr txBox="1"/>
          <p:nvPr/>
        </p:nvSpPr>
        <p:spPr>
          <a:xfrm>
            <a:off x="221750" y="1295400"/>
            <a:ext cx="8328900" cy="49341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630"/>
              </a:spcBef>
              <a:spcAft>
                <a:spcPts val="0"/>
              </a:spcAft>
              <a:buNone/>
            </a:pPr>
            <a:r>
              <a:t/>
            </a:r>
            <a:endParaRPr/>
          </a:p>
        </p:txBody>
      </p:sp>
      <p:pic>
        <p:nvPicPr>
          <p:cNvPr id="260" name="Google Shape;260;p22" title="topk_plots_20251206_155910.png"/>
          <p:cNvPicPr preferRelativeResize="0"/>
          <p:nvPr/>
        </p:nvPicPr>
        <p:blipFill>
          <a:blip r:embed="rId3">
            <a:alphaModFix/>
          </a:blip>
          <a:stretch>
            <a:fillRect/>
          </a:stretch>
        </p:blipFill>
        <p:spPr>
          <a:xfrm>
            <a:off x="40650" y="1198925"/>
            <a:ext cx="9000525" cy="5247224"/>
          </a:xfrm>
          <a:prstGeom prst="rect">
            <a:avLst/>
          </a:prstGeom>
          <a:noFill/>
          <a:ln>
            <a:noFill/>
          </a:ln>
        </p:spPr>
      </p:pic>
      <p:sp>
        <p:nvSpPr>
          <p:cNvPr id="261" name="Google Shape;261;p22"/>
          <p:cNvSpPr txBox="1"/>
          <p:nvPr/>
        </p:nvSpPr>
        <p:spPr>
          <a:xfrm>
            <a:off x="1643425" y="6305175"/>
            <a:ext cx="68580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Fig 9. Selection of “k” (number of documents used as context) </a:t>
            </a:r>
            <a:endParaRPr sz="1800">
              <a:solidFill>
                <a:schemeClr val="dk1"/>
              </a:solidFill>
              <a:latin typeface="Helvetica Neue"/>
              <a:ea typeface="Helvetica Neue"/>
              <a:cs typeface="Helvetica Neue"/>
              <a:sym typeface="Helvetica Neue"/>
            </a:endParaRPr>
          </a:p>
        </p:txBody>
      </p:sp>
      <p:sp>
        <p:nvSpPr>
          <p:cNvPr id="262" name="Google Shape;262;p22"/>
          <p:cNvSpPr txBox="1"/>
          <p:nvPr/>
        </p:nvSpPr>
        <p:spPr>
          <a:xfrm>
            <a:off x="242812" y="763333"/>
            <a:ext cx="6519900" cy="4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chemeClr val="dk1"/>
                </a:solidFill>
                <a:latin typeface="Helvetica Neue"/>
                <a:ea typeface="Helvetica Neue"/>
                <a:cs typeface="Helvetica Neue"/>
                <a:sym typeface="Helvetica Neue"/>
              </a:rPr>
              <a:t>Result:</a:t>
            </a:r>
            <a:r>
              <a:rPr lang="en-US" sz="1800">
                <a:solidFill>
                  <a:schemeClr val="dk1"/>
                </a:solidFill>
                <a:latin typeface="Helvetica Neue"/>
                <a:ea typeface="Helvetica Neue"/>
                <a:cs typeface="Helvetica Neue"/>
                <a:sym typeface="Helvetica Neue"/>
              </a:rPr>
              <a:t> K=3 is the optimal value.</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3"/>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Experimental Results and Evaluation (cont…)</a:t>
            </a:r>
            <a:endParaRPr/>
          </a:p>
        </p:txBody>
      </p:sp>
      <p:sp>
        <p:nvSpPr>
          <p:cNvPr id="268" name="Google Shape;268;p23"/>
          <p:cNvSpPr txBox="1"/>
          <p:nvPr/>
        </p:nvSpPr>
        <p:spPr>
          <a:xfrm>
            <a:off x="77125" y="689979"/>
            <a:ext cx="6519900" cy="4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chemeClr val="dk1"/>
                </a:solidFill>
                <a:latin typeface="Helvetica Neue"/>
                <a:ea typeface="Helvetica Neue"/>
                <a:cs typeface="Helvetica Neue"/>
                <a:sym typeface="Helvetica Neue"/>
              </a:rPr>
              <a:t>Result:</a:t>
            </a:r>
            <a:r>
              <a:rPr lang="en-US" sz="1800">
                <a:solidFill>
                  <a:schemeClr val="dk1"/>
                </a:solidFill>
                <a:latin typeface="Helvetica Neue"/>
                <a:ea typeface="Helvetica Neue"/>
                <a:cs typeface="Helvetica Neue"/>
                <a:sym typeface="Helvetica Neue"/>
              </a:rPr>
              <a:t> </a:t>
            </a:r>
            <a:r>
              <a:rPr lang="en-US" sz="1800" u="sng">
                <a:solidFill>
                  <a:schemeClr val="dk1"/>
                </a:solidFill>
                <a:latin typeface="Helvetica Neue"/>
                <a:ea typeface="Helvetica Neue"/>
                <a:cs typeface="Helvetica Neue"/>
                <a:sym typeface="Helvetica Neue"/>
              </a:rPr>
              <a:t>Chain of thought </a:t>
            </a:r>
            <a:r>
              <a:rPr lang="en-US" sz="1800">
                <a:solidFill>
                  <a:schemeClr val="dk1"/>
                </a:solidFill>
                <a:latin typeface="Helvetica Neue"/>
                <a:ea typeface="Helvetica Neue"/>
                <a:cs typeface="Helvetica Neue"/>
                <a:sym typeface="Helvetica Neue"/>
              </a:rPr>
              <a:t>is the optimal prompt.</a:t>
            </a:r>
            <a:endParaRPr sz="1800">
              <a:solidFill>
                <a:schemeClr val="dk1"/>
              </a:solidFill>
              <a:latin typeface="Helvetica Neue"/>
              <a:ea typeface="Helvetica Neue"/>
              <a:cs typeface="Helvetica Neue"/>
              <a:sym typeface="Helvetica Neue"/>
            </a:endParaRPr>
          </a:p>
        </p:txBody>
      </p:sp>
      <p:pic>
        <p:nvPicPr>
          <p:cNvPr id="269" name="Google Shape;269;p23" title="prompt_key_metrics_20251207_151750.png"/>
          <p:cNvPicPr preferRelativeResize="0"/>
          <p:nvPr/>
        </p:nvPicPr>
        <p:blipFill>
          <a:blip r:embed="rId3">
            <a:alphaModFix/>
          </a:blip>
          <a:stretch>
            <a:fillRect/>
          </a:stretch>
        </p:blipFill>
        <p:spPr>
          <a:xfrm>
            <a:off x="66000" y="1114925"/>
            <a:ext cx="9078001" cy="5540500"/>
          </a:xfrm>
          <a:prstGeom prst="rect">
            <a:avLst/>
          </a:prstGeom>
          <a:noFill/>
          <a:ln>
            <a:noFill/>
          </a:ln>
        </p:spPr>
      </p:pic>
      <p:sp>
        <p:nvSpPr>
          <p:cNvPr id="270" name="Google Shape;270;p23"/>
          <p:cNvSpPr txBox="1"/>
          <p:nvPr/>
        </p:nvSpPr>
        <p:spPr>
          <a:xfrm>
            <a:off x="2068188" y="6293321"/>
            <a:ext cx="29703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Fig 10. Prompt Engineering</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4"/>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Key Learnings</a:t>
            </a:r>
            <a:endParaRPr/>
          </a:p>
        </p:txBody>
      </p:sp>
      <p:sp>
        <p:nvSpPr>
          <p:cNvPr id="276" name="Google Shape;276;p24"/>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None/>
            </a:pPr>
            <a:r>
              <a:rPr b="1" lang="en-US" sz="1800">
                <a:solidFill>
                  <a:schemeClr val="dk1"/>
                </a:solidFill>
                <a:latin typeface="Helvetica Neue"/>
                <a:ea typeface="Helvetica Neue"/>
                <a:cs typeface="Helvetica Neue"/>
                <a:sym typeface="Helvetica Neue"/>
              </a:rPr>
              <a:t>Technical Learnings</a:t>
            </a:r>
            <a:endParaRPr b="1" sz="1800">
              <a:solidFill>
                <a:schemeClr val="dk1"/>
              </a:solidFill>
              <a:latin typeface="Helvetica Neue"/>
              <a:ea typeface="Helvetica Neue"/>
              <a:cs typeface="Helvetica Neue"/>
              <a:sym typeface="Helvetica Neue"/>
            </a:endParaRPr>
          </a:p>
          <a:p>
            <a:pPr indent="-342900" lvl="0" marL="457200" rtl="0" algn="l">
              <a:lnSpc>
                <a:spcPct val="115000"/>
              </a:lnSpc>
              <a:spcBef>
                <a:spcPts val="40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OCR Quality &amp; Text Processing: Scanned PDFs require careful pre-processing; errors propagate through the pipeline. Semantic embeddings outperform keyword search for capturing user intent.</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LLM Optimization: Clear, structured prompts with explicit instructions ("list ALL items", "cite sources") dramatically improve answer quality and reduce hallucinations.</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Local Inference Viability: Ollama + Qwen 2.5 runs efficiently on modest hardware (4GB VRAM); 10-30 second response times are acceptable for compliance use.</a:t>
            </a:r>
            <a:endParaRPr sz="1800">
              <a:solidFill>
                <a:schemeClr val="dk1"/>
              </a:solidFill>
              <a:latin typeface="Helvetica Neue"/>
              <a:ea typeface="Helvetica Neue"/>
              <a:cs typeface="Helvetica Neue"/>
              <a:sym typeface="Helvetica Neue"/>
            </a:endParaRPr>
          </a:p>
          <a:p>
            <a:pPr indent="0" lvl="0" marL="0" rtl="0" algn="l">
              <a:lnSpc>
                <a:spcPct val="115000"/>
              </a:lnSpc>
              <a:spcBef>
                <a:spcPts val="1800"/>
              </a:spcBef>
              <a:spcAft>
                <a:spcPts val="0"/>
              </a:spcAft>
              <a:buNone/>
            </a:pPr>
            <a:r>
              <a:rPr b="1" lang="en-US" sz="1800">
                <a:solidFill>
                  <a:schemeClr val="dk1"/>
                </a:solidFill>
                <a:latin typeface="Helvetica Neue"/>
                <a:ea typeface="Helvetica Neue"/>
                <a:cs typeface="Helvetica Neue"/>
                <a:sym typeface="Helvetica Neue"/>
              </a:rPr>
              <a:t>System Design Learnings</a:t>
            </a:r>
            <a:endParaRPr b="1" sz="1800">
              <a:solidFill>
                <a:schemeClr val="dk1"/>
              </a:solidFill>
              <a:latin typeface="Helvetica Neue"/>
              <a:ea typeface="Helvetica Neue"/>
              <a:cs typeface="Helvetica Neue"/>
              <a:sym typeface="Helvetica Neue"/>
            </a:endParaRPr>
          </a:p>
          <a:p>
            <a:pPr indent="-342900" lvl="0" marL="457200" rtl="0" algn="l">
              <a:lnSpc>
                <a:spcPct val="115000"/>
              </a:lnSpc>
              <a:spcBef>
                <a:spcPts val="40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Metadata-Driven Reasoning: Simple metadata (issuer, year, category) enables effective Policy-as-Code rules without complex formal logic.</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Modularity Advantage: Separating OCR → cleaning → embedding → retrieval into independent stages allows targeted testing and refinement at each step.</a:t>
            </a:r>
            <a:endParaRPr sz="1800">
              <a:solidFill>
                <a:schemeClr val="dk1"/>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Explainability Requirement: Compliance systems must surface exact supporting clauses; regulators won't trust "black box" LLM answers.</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5"/>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a:t>Work Contribution and Attendance</a:t>
            </a:r>
            <a:endParaRPr b="0"/>
          </a:p>
        </p:txBody>
      </p:sp>
      <p:sp>
        <p:nvSpPr>
          <p:cNvPr id="282" name="Google Shape;282;p25"/>
          <p:cNvSpPr txBox="1"/>
          <p:nvPr/>
        </p:nvSpPr>
        <p:spPr>
          <a:xfrm>
            <a:off x="77118" y="804231"/>
            <a:ext cx="8956714" cy="5172419"/>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283" name="Google Shape;283;p25"/>
          <p:cNvGraphicFramePr/>
          <p:nvPr/>
        </p:nvGraphicFramePr>
        <p:xfrm>
          <a:off x="110168" y="881350"/>
          <a:ext cx="3000000" cy="3000000"/>
        </p:xfrm>
        <a:graphic>
          <a:graphicData uri="http://schemas.openxmlformats.org/drawingml/2006/table">
            <a:tbl>
              <a:tblPr bandRow="1" firstRow="1">
                <a:noFill/>
                <a:tableStyleId>{898F8B75-1C41-4D90-AD48-C5B47D00A216}</a:tableStyleId>
              </a:tblPr>
              <a:tblGrid>
                <a:gridCol w="801275"/>
                <a:gridCol w="1054900"/>
                <a:gridCol w="4089550"/>
                <a:gridCol w="1139000"/>
                <a:gridCol w="786550"/>
                <a:gridCol w="1044000"/>
              </a:tblGrid>
              <a:tr h="507400">
                <a:tc gridSpan="6">
                  <a:txBody>
                    <a:bodyPr/>
                    <a:lstStyle/>
                    <a:p>
                      <a:pPr indent="0" lvl="0" marL="0" marR="0" rtl="0" algn="l">
                        <a:spcBef>
                          <a:spcPts val="0"/>
                        </a:spcBef>
                        <a:spcAft>
                          <a:spcPts val="0"/>
                        </a:spcAft>
                        <a:buNone/>
                      </a:pPr>
                      <a:r>
                        <a:rPr b="1" i="0" lang="en-US" sz="1300">
                          <a:solidFill>
                            <a:schemeClr val="dk1"/>
                          </a:solidFill>
                          <a:latin typeface="Helvetica Neue"/>
                          <a:ea typeface="Helvetica Neue"/>
                          <a:cs typeface="Helvetica Neue"/>
                          <a:sym typeface="Helvetica Neue"/>
                        </a:rPr>
                        <a:t>GitHub Repository URL: https://github.com/abhinavpathania/Policy-as-Code-Engine-for-Academic-Compliance</a:t>
                      </a:r>
                      <a:endParaRPr/>
                    </a:p>
                  </a:txBody>
                  <a:tcPr marT="45725" marB="45725" marR="91450" marL="91450" anchor="ctr">
                    <a:solidFill>
                      <a:srgbClr val="D5D59B"/>
                    </a:solidFill>
                  </a:tcPr>
                </a:tc>
                <a:tc hMerge="1"/>
                <a:tc hMerge="1"/>
                <a:tc hMerge="1"/>
                <a:tc hMerge="1"/>
                <a:tc hMerge="1"/>
              </a:tr>
              <a:tr h="507400">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Team Member</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Roll No.</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Work Done</a:t>
                      </a:r>
                      <a:endParaRPr/>
                    </a:p>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(provide complete details)</a:t>
                      </a:r>
                      <a:endParaRPr/>
                    </a:p>
                  </a:txBody>
                  <a:tcPr marT="45725" marB="45725" marR="91450" marL="91450">
                    <a:solidFill>
                      <a:srgbClr val="D5D59B"/>
                    </a:solidFill>
                  </a:tcPr>
                </a:tc>
                <a:tc>
                  <a:txBody>
                    <a:bodyPr/>
                    <a:lstStyle/>
                    <a:p>
                      <a:pPr indent="0" lvl="0" marL="0" marR="0" rtl="0" algn="ctr">
                        <a:lnSpc>
                          <a:spcPct val="100000"/>
                        </a:lnSpc>
                        <a:spcBef>
                          <a:spcPts val="0"/>
                        </a:spcBef>
                        <a:spcAft>
                          <a:spcPts val="0"/>
                        </a:spcAft>
                        <a:buClr>
                          <a:schemeClr val="dk1"/>
                        </a:buClr>
                        <a:buSzPts val="1300"/>
                        <a:buFont typeface="Helvetica Neue"/>
                        <a:buNone/>
                      </a:pPr>
                      <a:r>
                        <a:rPr b="0" i="0" lang="en-US" sz="1300">
                          <a:solidFill>
                            <a:schemeClr val="dk1"/>
                          </a:solidFill>
                          <a:latin typeface="Helvetica Neue"/>
                          <a:ea typeface="Helvetica Neue"/>
                          <a:cs typeface="Helvetica Neue"/>
                          <a:sym typeface="Helvetica Neue"/>
                        </a:rPr>
                        <a:t>Work Contribution (%)</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Lines of Code</a:t>
                      </a:r>
                      <a:endParaRPr/>
                    </a:p>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(if any)</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Lab Attendance (%)</a:t>
                      </a:r>
                      <a:endParaRPr/>
                    </a:p>
                  </a:txBody>
                  <a:tcPr marT="45725" marB="45725" marR="91450" marL="91450">
                    <a:solidFill>
                      <a:srgbClr val="D5D59B"/>
                    </a:solidFill>
                  </a:tcPr>
                </a:tc>
              </a:tr>
              <a:tr h="828000">
                <a:tc>
                  <a:txBody>
                    <a:bodyPr/>
                    <a:lstStyle/>
                    <a:p>
                      <a:pPr indent="0" lvl="0" marL="0" marR="0" rtl="0" algn="ctr">
                        <a:spcBef>
                          <a:spcPts val="0"/>
                        </a:spcBef>
                        <a:spcAft>
                          <a:spcPts val="0"/>
                        </a:spcAft>
                        <a:buNone/>
                      </a:pPr>
                      <a:r>
                        <a:rPr b="0" i="0" lang="en-US" sz="1300">
                          <a:latin typeface="Helvetica Neue"/>
                          <a:ea typeface="Helvetica Neue"/>
                          <a:cs typeface="Helvetica Neue"/>
                          <a:sym typeface="Helvetica Neue"/>
                        </a:rPr>
                        <a:t>1.</a:t>
                      </a:r>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US" sz="1300">
                          <a:latin typeface="Helvetica Neue"/>
                          <a:ea typeface="Helvetica Neue"/>
                          <a:cs typeface="Helvetica Neue"/>
                          <a:sym typeface="Helvetica Neue"/>
                        </a:rPr>
                        <a:t>221030346</a:t>
                      </a:r>
                      <a:endParaRPr b="0" i="0"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171450" lvl="0" marL="171450" marR="0" rtl="0" algn="l">
                        <a:spcBef>
                          <a:spcPts val="0"/>
                        </a:spcBef>
                        <a:spcAft>
                          <a:spcPts val="0"/>
                        </a:spcAft>
                        <a:buClr>
                          <a:schemeClr val="dk1"/>
                        </a:buClr>
                        <a:buSzPts val="1300"/>
                        <a:buFont typeface="Helvetica Neue"/>
                        <a:buChar char="•"/>
                      </a:pPr>
                      <a:r>
                        <a:rPr lang="en-US" sz="1300">
                          <a:latin typeface="Helvetica Neue"/>
                          <a:ea typeface="Helvetica Neue"/>
                          <a:cs typeface="Helvetica Neue"/>
                          <a:sym typeface="Helvetica Neue"/>
                        </a:rPr>
                        <a:t>Collected and curated UGC, AICTE </a:t>
                      </a:r>
                      <a:r>
                        <a:rPr lang="en-US" sz="1300">
                          <a:latin typeface="Helvetica Neue"/>
                          <a:ea typeface="Helvetica Neue"/>
                          <a:cs typeface="Helvetica Neue"/>
                          <a:sym typeface="Helvetica Neue"/>
                        </a:rPr>
                        <a:t>pdf</a:t>
                      </a:r>
                      <a:r>
                        <a:rPr lang="en-US" sz="1300">
                          <a:latin typeface="Helvetica Neue"/>
                          <a:ea typeface="Helvetica Neue"/>
                          <a:cs typeface="Helvetica Neue"/>
                          <a:sym typeface="Helvetica Neue"/>
                        </a:rPr>
                        <a:t>.</a:t>
                      </a:r>
                      <a:endParaRPr sz="1300">
                        <a:latin typeface="Helvetica Neue"/>
                        <a:ea typeface="Helvetica Neue"/>
                        <a:cs typeface="Helvetica Neue"/>
                        <a:sym typeface="Helvetica Neue"/>
                      </a:endParaRPr>
                    </a:p>
                    <a:p>
                      <a:pPr indent="-171450" lvl="0" marL="171450" marR="0" rtl="0" algn="l">
                        <a:spcBef>
                          <a:spcPts val="0"/>
                        </a:spcBef>
                        <a:spcAft>
                          <a:spcPts val="0"/>
                        </a:spcAft>
                        <a:buSzPts val="1300"/>
                        <a:buFont typeface="Helvetica Neue"/>
                        <a:buChar char="•"/>
                      </a:pPr>
                      <a:r>
                        <a:rPr lang="en-US" sz="1300">
                          <a:latin typeface="Helvetica Neue"/>
                          <a:ea typeface="Helvetica Neue"/>
                          <a:cs typeface="Helvetica Neue"/>
                          <a:sym typeface="Helvetica Neue"/>
                        </a:rPr>
                        <a:t>Prepared the project presentation deck and report</a:t>
                      </a:r>
                      <a:endParaRPr sz="1300">
                        <a:latin typeface="Helvetica Neue"/>
                        <a:ea typeface="Helvetica Neue"/>
                        <a:cs typeface="Helvetica Neue"/>
                        <a:sym typeface="Helvetica Neue"/>
                      </a:endParaRPr>
                    </a:p>
                    <a:p>
                      <a:pPr indent="-171450" lvl="0" marL="171450" marR="0" rtl="0" algn="l">
                        <a:spcBef>
                          <a:spcPts val="0"/>
                        </a:spcBef>
                        <a:spcAft>
                          <a:spcPts val="0"/>
                        </a:spcAft>
                        <a:buSzPts val="1300"/>
                        <a:buFont typeface="Helvetica Neue"/>
                        <a:buChar char="•"/>
                      </a:pPr>
                      <a:r>
                        <a:rPr lang="en-US" sz="1300">
                          <a:latin typeface="Helvetica Neue"/>
                          <a:ea typeface="Helvetica Neue"/>
                          <a:cs typeface="Helvetica Neue"/>
                          <a:sym typeface="Helvetica Neue"/>
                        </a:rPr>
                        <a:t>Designed and ran the </a:t>
                      </a:r>
                      <a:r>
                        <a:rPr lang="en-US" sz="1300" u="sng">
                          <a:latin typeface="Helvetica Neue"/>
                          <a:ea typeface="Helvetica Neue"/>
                          <a:cs typeface="Helvetica Neue"/>
                          <a:sym typeface="Helvetica Neue"/>
                        </a:rPr>
                        <a:t>Prompt Engineering</a:t>
                      </a:r>
                      <a:r>
                        <a:rPr lang="en-US" sz="1300">
                          <a:latin typeface="Helvetica Neue"/>
                          <a:ea typeface="Helvetica Neue"/>
                          <a:cs typeface="Helvetica Neue"/>
                          <a:sym typeface="Helvetica Neue"/>
                        </a:rPr>
                        <a:t> testing.</a:t>
                      </a:r>
                      <a:endParaRPr sz="1300">
                        <a:latin typeface="Helvetica Neue"/>
                        <a:ea typeface="Helvetica Neue"/>
                        <a:cs typeface="Helvetica Neue"/>
                        <a:sym typeface="Helvetica Neue"/>
                      </a:endParaRPr>
                    </a:p>
                    <a:p>
                      <a:pPr indent="-88900" lvl="0" marL="171450" marR="0" rtl="0" algn="l">
                        <a:spcBef>
                          <a:spcPts val="0"/>
                        </a:spcBef>
                        <a:spcAft>
                          <a:spcPts val="0"/>
                        </a:spcAft>
                        <a:buClr>
                          <a:schemeClr val="dk1"/>
                        </a:buClr>
                        <a:buSzPts val="1300"/>
                        <a:buFont typeface="Arial"/>
                        <a:buNone/>
                      </a:pPr>
                      <a:r>
                        <a:t/>
                      </a:r>
                      <a:endParaRPr i="0"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25%</a:t>
                      </a:r>
                      <a:endParaRPr b="0" i="0"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720</a:t>
                      </a:r>
                      <a:endParaRPr b="0" i="0"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100%</a:t>
                      </a:r>
                      <a:endParaRPr b="0" i="0" sz="1300">
                        <a:latin typeface="Helvetica Neue"/>
                        <a:ea typeface="Helvetica Neue"/>
                        <a:cs typeface="Helvetica Neue"/>
                        <a:sym typeface="Helvetica Neue"/>
                      </a:endParaRPr>
                    </a:p>
                  </a:txBody>
                  <a:tcPr marT="45725" marB="45725" marR="91450" marL="91450">
                    <a:solidFill>
                      <a:srgbClr val="F4F9ED"/>
                    </a:solidFill>
                  </a:tcPr>
                </a:tc>
              </a:tr>
              <a:tr h="1060050">
                <a:tc>
                  <a:txBody>
                    <a:bodyPr/>
                    <a:lstStyle/>
                    <a:p>
                      <a:pPr indent="0" lvl="0" marL="0" marR="0" rtl="0" algn="ctr">
                        <a:spcBef>
                          <a:spcPts val="0"/>
                        </a:spcBef>
                        <a:spcAft>
                          <a:spcPts val="0"/>
                        </a:spcAft>
                        <a:buNone/>
                      </a:pPr>
                      <a:r>
                        <a:rPr b="0" i="0" lang="en-US" sz="1300">
                          <a:latin typeface="Helvetica Neue"/>
                          <a:ea typeface="Helvetica Neue"/>
                          <a:cs typeface="Helvetica Neue"/>
                          <a:sym typeface="Helvetica Neue"/>
                        </a:rPr>
                        <a:t>2.</a:t>
                      </a:r>
                      <a:endParaRPr/>
                    </a:p>
                  </a:txBody>
                  <a:tcPr marT="45725" marB="45725" marR="91450" marL="91450">
                    <a:solidFill>
                      <a:srgbClr val="F0F0DD"/>
                    </a:solidFill>
                  </a:tcPr>
                </a:tc>
                <a:tc>
                  <a:txBody>
                    <a:bodyPr/>
                    <a:lstStyle/>
                    <a:p>
                      <a:pPr indent="0" lvl="0" marL="0" marR="0" rtl="0" algn="ctr">
                        <a:spcBef>
                          <a:spcPts val="0"/>
                        </a:spcBef>
                        <a:spcAft>
                          <a:spcPts val="0"/>
                        </a:spcAft>
                        <a:buNone/>
                      </a:pPr>
                      <a:r>
                        <a:rPr lang="en-US" sz="1300">
                          <a:latin typeface="Helvetica Neue"/>
                          <a:ea typeface="Helvetica Neue"/>
                          <a:cs typeface="Helvetica Neue"/>
                          <a:sym typeface="Helvetica Neue"/>
                        </a:rPr>
                        <a:t>221030171</a:t>
                      </a:r>
                      <a:endParaRPr b="0" i="0" sz="1300">
                        <a:latin typeface="Helvetica Neue"/>
                        <a:ea typeface="Helvetica Neue"/>
                        <a:cs typeface="Helvetica Neue"/>
                        <a:sym typeface="Helvetica Neue"/>
                      </a:endParaRPr>
                    </a:p>
                  </a:txBody>
                  <a:tcPr marT="45725" marB="45725" marR="91450" marL="91450">
                    <a:solidFill>
                      <a:srgbClr val="F0F0DD"/>
                    </a:solidFill>
                  </a:tcPr>
                </a:tc>
                <a:tc>
                  <a:txBody>
                    <a:bodyPr/>
                    <a:lstStyle/>
                    <a:p>
                      <a:pPr indent="-171450" lvl="0" marL="171450" marR="0" rtl="0" algn="l">
                        <a:spcBef>
                          <a:spcPts val="0"/>
                        </a:spcBef>
                        <a:spcAft>
                          <a:spcPts val="0"/>
                        </a:spcAft>
                        <a:buClr>
                          <a:schemeClr val="dk1"/>
                        </a:buClr>
                        <a:buSzPts val="1300"/>
                        <a:buFont typeface="Helvetica Neue"/>
                        <a:buChar char="•"/>
                      </a:pPr>
                      <a:r>
                        <a:rPr lang="en-US" sz="1300">
                          <a:latin typeface="Helvetica Neue"/>
                          <a:ea typeface="Helvetica Neue"/>
                          <a:cs typeface="Helvetica Neue"/>
                          <a:sym typeface="Helvetica Neue"/>
                        </a:rPr>
                        <a:t>Engineered the </a:t>
                      </a:r>
                      <a:r>
                        <a:rPr lang="en-US" sz="1300">
                          <a:latin typeface="Helvetica Neue"/>
                          <a:ea typeface="Helvetica Neue"/>
                          <a:cs typeface="Helvetica Neue"/>
                          <a:sym typeface="Helvetica Neue"/>
                        </a:rPr>
                        <a:t>system</a:t>
                      </a:r>
                      <a:r>
                        <a:rPr lang="en-US" sz="1300">
                          <a:latin typeface="Helvetica Neue"/>
                          <a:ea typeface="Helvetica Neue"/>
                          <a:cs typeface="Helvetica Neue"/>
                          <a:sym typeface="Helvetica Neue"/>
                        </a:rPr>
                        <a:t> architecture diagram.</a:t>
                      </a:r>
                      <a:endParaRPr sz="1300">
                        <a:latin typeface="Helvetica Neue"/>
                        <a:ea typeface="Helvetica Neue"/>
                        <a:cs typeface="Helvetica Neue"/>
                        <a:sym typeface="Helvetica Neue"/>
                      </a:endParaRPr>
                    </a:p>
                    <a:p>
                      <a:pPr indent="-171450" lvl="0" marL="171450" marR="0" rtl="0" algn="l">
                        <a:spcBef>
                          <a:spcPts val="0"/>
                        </a:spcBef>
                        <a:spcAft>
                          <a:spcPts val="0"/>
                        </a:spcAft>
                        <a:buSzPts val="1300"/>
                        <a:buFont typeface="Helvetica Neue"/>
                        <a:buChar char="•"/>
                      </a:pPr>
                      <a:r>
                        <a:rPr lang="en-US" sz="1300">
                          <a:latin typeface="Helvetica Neue"/>
                          <a:ea typeface="Helvetica Neue"/>
                          <a:cs typeface="Helvetica Neue"/>
                          <a:sym typeface="Helvetica Neue"/>
                        </a:rPr>
                        <a:t>Implemented Data Ingestion pipeline.</a:t>
                      </a:r>
                      <a:endParaRPr sz="1300">
                        <a:latin typeface="Helvetica Neue"/>
                        <a:ea typeface="Helvetica Neue"/>
                        <a:cs typeface="Helvetica Neue"/>
                        <a:sym typeface="Helvetica Neue"/>
                      </a:endParaRPr>
                    </a:p>
                    <a:p>
                      <a:pPr indent="-171450" lvl="0" marL="171450" marR="0" rtl="0" algn="l">
                        <a:spcBef>
                          <a:spcPts val="0"/>
                        </a:spcBef>
                        <a:spcAft>
                          <a:spcPts val="0"/>
                        </a:spcAft>
                        <a:buSzPts val="1300"/>
                        <a:buFont typeface="Helvetica Neue"/>
                        <a:buChar char="•"/>
                      </a:pPr>
                      <a:r>
                        <a:rPr lang="en-US" sz="1300">
                          <a:latin typeface="Helvetica Neue"/>
                          <a:ea typeface="Helvetica Neue"/>
                          <a:cs typeface="Helvetica Neue"/>
                          <a:sym typeface="Helvetica Neue"/>
                        </a:rPr>
                        <a:t>Prepared the project presentation deck and report</a:t>
                      </a:r>
                      <a:endParaRPr sz="1300">
                        <a:latin typeface="Helvetica Neue"/>
                        <a:ea typeface="Helvetica Neue"/>
                        <a:cs typeface="Helvetica Neue"/>
                        <a:sym typeface="Helvetica Neue"/>
                      </a:endParaRPr>
                    </a:p>
                    <a:p>
                      <a:pPr indent="-171450" lvl="0" marL="171450" marR="0" rtl="0" algn="l">
                        <a:spcBef>
                          <a:spcPts val="0"/>
                        </a:spcBef>
                        <a:spcAft>
                          <a:spcPts val="0"/>
                        </a:spcAft>
                        <a:buSzPts val="1300"/>
                        <a:buFont typeface="Helvetica Neue"/>
                        <a:buChar char="•"/>
                      </a:pPr>
                      <a:r>
                        <a:rPr lang="en-US" sz="1300">
                          <a:latin typeface="Helvetica Neue"/>
                          <a:ea typeface="Helvetica Neue"/>
                          <a:cs typeface="Helvetica Neue"/>
                          <a:sym typeface="Helvetica Neue"/>
                        </a:rPr>
                        <a:t>Designed and ran the </a:t>
                      </a:r>
                      <a:r>
                        <a:rPr lang="en-US" sz="1300" u="sng">
                          <a:latin typeface="Helvetica Neue"/>
                          <a:ea typeface="Helvetica Neue"/>
                          <a:cs typeface="Helvetica Neue"/>
                          <a:sym typeface="Helvetica Neue"/>
                        </a:rPr>
                        <a:t>Comparison of LLM</a:t>
                      </a:r>
                      <a:r>
                        <a:rPr lang="en-US" sz="1300">
                          <a:latin typeface="Helvetica Neue"/>
                          <a:ea typeface="Helvetica Neue"/>
                          <a:cs typeface="Helvetica Neue"/>
                          <a:sym typeface="Helvetica Neue"/>
                        </a:rPr>
                        <a:t> testing.</a:t>
                      </a:r>
                      <a:endParaRPr sz="13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25%</a:t>
                      </a:r>
                      <a:endParaRPr b="0" i="0" sz="13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830</a:t>
                      </a:r>
                      <a:endParaRPr b="0" i="0" sz="13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100%</a:t>
                      </a:r>
                      <a:endParaRPr b="0" i="0" sz="1300">
                        <a:latin typeface="Helvetica Neue"/>
                        <a:ea typeface="Helvetica Neue"/>
                        <a:cs typeface="Helvetica Neue"/>
                        <a:sym typeface="Helvetica Neue"/>
                      </a:endParaRPr>
                    </a:p>
                  </a:txBody>
                  <a:tcPr marT="45725" marB="45725" marR="91450" marL="91450">
                    <a:solidFill>
                      <a:srgbClr val="F0F0DD"/>
                    </a:solidFill>
                  </a:tcPr>
                </a:tc>
              </a:tr>
              <a:tr h="828000">
                <a:tc>
                  <a:txBody>
                    <a:bodyPr/>
                    <a:lstStyle/>
                    <a:p>
                      <a:pPr indent="0" lvl="0" marL="0" marR="0" rtl="0" algn="ctr">
                        <a:spcBef>
                          <a:spcPts val="0"/>
                        </a:spcBef>
                        <a:spcAft>
                          <a:spcPts val="0"/>
                        </a:spcAft>
                        <a:buNone/>
                      </a:pPr>
                      <a:r>
                        <a:rPr b="0" i="0" lang="en-US" sz="1300">
                          <a:latin typeface="Helvetica Neue"/>
                          <a:ea typeface="Helvetica Neue"/>
                          <a:cs typeface="Helvetica Neue"/>
                          <a:sym typeface="Helvetica Neue"/>
                        </a:rPr>
                        <a:t>3.</a:t>
                      </a:r>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US" sz="1300">
                          <a:latin typeface="Helvetica Neue"/>
                          <a:ea typeface="Helvetica Neue"/>
                          <a:cs typeface="Helvetica Neue"/>
                          <a:sym typeface="Helvetica Neue"/>
                        </a:rPr>
                        <a:t>221030196</a:t>
                      </a:r>
                      <a:endParaRPr b="0" i="0"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171450" lvl="0" marL="171450" marR="0" rtl="0" algn="l">
                        <a:spcBef>
                          <a:spcPts val="0"/>
                        </a:spcBef>
                        <a:spcAft>
                          <a:spcPts val="0"/>
                        </a:spcAft>
                        <a:buClr>
                          <a:schemeClr val="dk1"/>
                        </a:buClr>
                        <a:buSzPts val="1300"/>
                        <a:buFont typeface="Helvetica Neue"/>
                        <a:buChar char="•"/>
                      </a:pPr>
                      <a:r>
                        <a:rPr lang="en-US" sz="1300">
                          <a:latin typeface="Helvetica Neue"/>
                          <a:ea typeface="Helvetica Neue"/>
                          <a:cs typeface="Helvetica Neue"/>
                          <a:sym typeface="Helvetica Neue"/>
                        </a:rPr>
                        <a:t>Collected and curated UGC, AICTE pdf.</a:t>
                      </a:r>
                      <a:endParaRPr sz="1300">
                        <a:latin typeface="Helvetica Neue"/>
                        <a:ea typeface="Helvetica Neue"/>
                        <a:cs typeface="Helvetica Neue"/>
                        <a:sym typeface="Helvetica Neue"/>
                      </a:endParaRPr>
                    </a:p>
                    <a:p>
                      <a:pPr indent="-171450" lvl="0" marL="171450" marR="0" rtl="0" algn="l">
                        <a:spcBef>
                          <a:spcPts val="0"/>
                        </a:spcBef>
                        <a:spcAft>
                          <a:spcPts val="0"/>
                        </a:spcAft>
                        <a:buSzPts val="1300"/>
                        <a:buFont typeface="Helvetica Neue"/>
                        <a:buChar char="•"/>
                      </a:pPr>
                      <a:r>
                        <a:rPr lang="en-US" sz="1300">
                          <a:latin typeface="Helvetica Neue"/>
                          <a:ea typeface="Helvetica Neue"/>
                          <a:cs typeface="Helvetica Neue"/>
                          <a:sym typeface="Helvetica Neue"/>
                        </a:rPr>
                        <a:t>Optimized the embedding-based retrieval pipeline.</a:t>
                      </a:r>
                      <a:endParaRPr sz="1300">
                        <a:latin typeface="Helvetica Neue"/>
                        <a:ea typeface="Helvetica Neue"/>
                        <a:cs typeface="Helvetica Neue"/>
                        <a:sym typeface="Helvetica Neue"/>
                      </a:endParaRPr>
                    </a:p>
                    <a:p>
                      <a:pPr indent="-171450" lvl="0" marL="171450" marR="0" rtl="0" algn="l">
                        <a:spcBef>
                          <a:spcPts val="0"/>
                        </a:spcBef>
                        <a:spcAft>
                          <a:spcPts val="0"/>
                        </a:spcAft>
                        <a:buSzPts val="1300"/>
                        <a:buFont typeface="Helvetica Neue"/>
                        <a:buChar char="•"/>
                      </a:pPr>
                      <a:r>
                        <a:rPr lang="en-US" sz="1300">
                          <a:latin typeface="Helvetica Neue"/>
                          <a:ea typeface="Helvetica Neue"/>
                          <a:cs typeface="Helvetica Neue"/>
                          <a:sym typeface="Helvetica Neue"/>
                        </a:rPr>
                        <a:t>Prepared the project presentation deck and report</a:t>
                      </a:r>
                      <a:endParaRPr sz="1300">
                        <a:latin typeface="Helvetica Neue"/>
                        <a:ea typeface="Helvetica Neue"/>
                        <a:cs typeface="Helvetica Neue"/>
                        <a:sym typeface="Helvetica Neue"/>
                      </a:endParaRPr>
                    </a:p>
                    <a:p>
                      <a:pPr indent="-171450" lvl="0" marL="171450" marR="0" rtl="0" algn="l">
                        <a:spcBef>
                          <a:spcPts val="0"/>
                        </a:spcBef>
                        <a:spcAft>
                          <a:spcPts val="0"/>
                        </a:spcAft>
                        <a:buSzPts val="1300"/>
                        <a:buFont typeface="Helvetica Neue"/>
                        <a:buChar char="•"/>
                      </a:pPr>
                      <a:r>
                        <a:rPr lang="en-US" sz="1300">
                          <a:latin typeface="Helvetica Neue"/>
                          <a:ea typeface="Helvetica Neue"/>
                          <a:cs typeface="Helvetica Neue"/>
                          <a:sym typeface="Helvetica Neue"/>
                        </a:rPr>
                        <a:t>Designed and ran the </a:t>
                      </a:r>
                      <a:r>
                        <a:rPr lang="en-US" sz="1300" u="sng">
                          <a:latin typeface="Helvetica Neue"/>
                          <a:ea typeface="Helvetica Neue"/>
                          <a:cs typeface="Helvetica Neue"/>
                          <a:sym typeface="Helvetica Neue"/>
                        </a:rPr>
                        <a:t>Top‑K retrieval</a:t>
                      </a:r>
                      <a:r>
                        <a:rPr lang="en-US" sz="1300">
                          <a:latin typeface="Helvetica Neue"/>
                          <a:ea typeface="Helvetica Neue"/>
                          <a:cs typeface="Helvetica Neue"/>
                          <a:sym typeface="Helvetica Neue"/>
                        </a:rPr>
                        <a:t> testing.</a:t>
                      </a:r>
                      <a:endParaRPr i="0" sz="1300">
                        <a:latin typeface="Helvetica Neue"/>
                        <a:ea typeface="Helvetica Neue"/>
                        <a:cs typeface="Helvetica Neue"/>
                        <a:sym typeface="Helvetica Neue"/>
                      </a:endParaRPr>
                    </a:p>
                    <a:p>
                      <a:pPr indent="-88900" lvl="0" marL="171450" marR="0" rtl="0" algn="l">
                        <a:spcBef>
                          <a:spcPts val="0"/>
                        </a:spcBef>
                        <a:spcAft>
                          <a:spcPts val="0"/>
                        </a:spcAft>
                        <a:buClr>
                          <a:schemeClr val="dk1"/>
                        </a:buClr>
                        <a:buSzPts val="1300"/>
                        <a:buFont typeface="Arial"/>
                        <a:buNone/>
                      </a:pPr>
                      <a:r>
                        <a:t/>
                      </a:r>
                      <a:endParaRPr i="0"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25%</a:t>
                      </a:r>
                      <a:endParaRPr b="0" i="0"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710</a:t>
                      </a:r>
                      <a:endParaRPr b="0" i="0"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100%</a:t>
                      </a:r>
                      <a:endParaRPr b="0" i="0" sz="1300">
                        <a:latin typeface="Helvetica Neue"/>
                        <a:ea typeface="Helvetica Neue"/>
                        <a:cs typeface="Helvetica Neue"/>
                        <a:sym typeface="Helvetica Neue"/>
                      </a:endParaRPr>
                    </a:p>
                  </a:txBody>
                  <a:tcPr marT="45725" marB="45725" marR="91450" marL="91450">
                    <a:solidFill>
                      <a:srgbClr val="F4F9ED"/>
                    </a:solidFill>
                  </a:tcPr>
                </a:tc>
              </a:tr>
              <a:tr h="1225325">
                <a:tc>
                  <a:txBody>
                    <a:bodyPr/>
                    <a:lstStyle/>
                    <a:p>
                      <a:pPr indent="0" lvl="0" marL="0" marR="0" rtl="0" algn="ctr">
                        <a:spcBef>
                          <a:spcPts val="0"/>
                        </a:spcBef>
                        <a:spcAft>
                          <a:spcPts val="0"/>
                        </a:spcAft>
                        <a:buNone/>
                      </a:pPr>
                      <a:r>
                        <a:rPr b="0" i="0" lang="en-US" sz="1300">
                          <a:latin typeface="Helvetica Neue"/>
                          <a:ea typeface="Helvetica Neue"/>
                          <a:cs typeface="Helvetica Neue"/>
                          <a:sym typeface="Helvetica Neue"/>
                        </a:rPr>
                        <a:t>4.</a:t>
                      </a:r>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US" sz="1300">
                          <a:latin typeface="Helvetica Neue"/>
                          <a:ea typeface="Helvetica Neue"/>
                          <a:cs typeface="Helvetica Neue"/>
                          <a:sym typeface="Helvetica Neue"/>
                        </a:rPr>
                        <a:t>221030439</a:t>
                      </a:r>
                      <a:endParaRPr b="0" i="0"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171450" lvl="0" marL="171450" marR="0" rtl="0" algn="l">
                        <a:spcBef>
                          <a:spcPts val="0"/>
                        </a:spcBef>
                        <a:spcAft>
                          <a:spcPts val="0"/>
                        </a:spcAft>
                        <a:buClr>
                          <a:schemeClr val="dk1"/>
                        </a:buClr>
                        <a:buSzPts val="1300"/>
                        <a:buFont typeface="Helvetica Neue"/>
                        <a:buChar char="•"/>
                      </a:pPr>
                      <a:r>
                        <a:rPr lang="en-US" sz="1300">
                          <a:latin typeface="Helvetica Neue"/>
                          <a:ea typeface="Helvetica Neue"/>
                          <a:cs typeface="Helvetica Neue"/>
                          <a:sym typeface="Helvetica Neue"/>
                        </a:rPr>
                        <a:t>Initial testing of scalability of the project.</a:t>
                      </a:r>
                      <a:endParaRPr sz="1300">
                        <a:latin typeface="Helvetica Neue"/>
                        <a:ea typeface="Helvetica Neue"/>
                        <a:cs typeface="Helvetica Neue"/>
                        <a:sym typeface="Helvetica Neue"/>
                      </a:endParaRPr>
                    </a:p>
                    <a:p>
                      <a:pPr indent="-171450" lvl="0" marL="171450" marR="0" rtl="0" algn="l">
                        <a:spcBef>
                          <a:spcPts val="0"/>
                        </a:spcBef>
                        <a:spcAft>
                          <a:spcPts val="0"/>
                        </a:spcAft>
                        <a:buSzPts val="1300"/>
                        <a:buFont typeface="Helvetica Neue"/>
                        <a:buChar char="•"/>
                      </a:pPr>
                      <a:r>
                        <a:rPr lang="en-US" sz="1300">
                          <a:latin typeface="Helvetica Neue"/>
                          <a:ea typeface="Helvetica Neue"/>
                          <a:cs typeface="Helvetica Neue"/>
                          <a:sym typeface="Helvetica Neue"/>
                        </a:rPr>
                        <a:t>P</a:t>
                      </a:r>
                      <a:r>
                        <a:rPr lang="en-US" sz="1300">
                          <a:latin typeface="Helvetica Neue"/>
                          <a:ea typeface="Helvetica Neue"/>
                          <a:cs typeface="Helvetica Neue"/>
                          <a:sym typeface="Helvetica Neue"/>
                        </a:rPr>
                        <a:t>repared examples and test cases.</a:t>
                      </a:r>
                      <a:endParaRPr sz="1300">
                        <a:latin typeface="Helvetica Neue"/>
                        <a:ea typeface="Helvetica Neue"/>
                        <a:cs typeface="Helvetica Neue"/>
                        <a:sym typeface="Helvetica Neue"/>
                      </a:endParaRPr>
                    </a:p>
                    <a:p>
                      <a:pPr indent="-171450" lvl="0" marL="171450" marR="0" rtl="0" algn="l">
                        <a:spcBef>
                          <a:spcPts val="0"/>
                        </a:spcBef>
                        <a:spcAft>
                          <a:spcPts val="0"/>
                        </a:spcAft>
                        <a:buSzPts val="1300"/>
                        <a:buFont typeface="Helvetica Neue"/>
                        <a:buChar char="•"/>
                      </a:pPr>
                      <a:r>
                        <a:rPr lang="en-US" sz="1300">
                          <a:latin typeface="Helvetica Neue"/>
                          <a:ea typeface="Helvetica Neue"/>
                          <a:cs typeface="Helvetica Neue"/>
                          <a:sym typeface="Helvetica Neue"/>
                        </a:rPr>
                        <a:t>Prepared the project presentation deck and report</a:t>
                      </a:r>
                      <a:endParaRPr sz="1300">
                        <a:latin typeface="Helvetica Neue"/>
                        <a:ea typeface="Helvetica Neue"/>
                        <a:cs typeface="Helvetica Neue"/>
                        <a:sym typeface="Helvetica Neue"/>
                      </a:endParaRPr>
                    </a:p>
                    <a:p>
                      <a:pPr indent="-88900" lvl="0" marL="171450" marR="0" rtl="0" algn="l">
                        <a:lnSpc>
                          <a:spcPct val="100000"/>
                        </a:lnSpc>
                        <a:spcBef>
                          <a:spcPts val="0"/>
                        </a:spcBef>
                        <a:spcAft>
                          <a:spcPts val="0"/>
                        </a:spcAft>
                        <a:buClr>
                          <a:schemeClr val="dk1"/>
                        </a:buClr>
                        <a:buSzPts val="1300"/>
                        <a:buFont typeface="Arial"/>
                        <a:buNone/>
                      </a:pPr>
                      <a:r>
                        <a:t/>
                      </a:r>
                      <a:endParaRPr i="0" sz="1300">
                        <a:latin typeface="Helvetica Neue"/>
                        <a:ea typeface="Helvetica Neue"/>
                        <a:cs typeface="Helvetica Neue"/>
                        <a:sym typeface="Helvetica Neue"/>
                      </a:endParaRPr>
                    </a:p>
                    <a:p>
                      <a:pPr indent="-88900" lvl="0" marL="171450" marR="0" rtl="0" algn="l">
                        <a:lnSpc>
                          <a:spcPct val="100000"/>
                        </a:lnSpc>
                        <a:spcBef>
                          <a:spcPts val="0"/>
                        </a:spcBef>
                        <a:spcAft>
                          <a:spcPts val="0"/>
                        </a:spcAft>
                        <a:buClr>
                          <a:schemeClr val="dk1"/>
                        </a:buClr>
                        <a:buSzPts val="1300"/>
                        <a:buFont typeface="Arial"/>
                        <a:buNone/>
                      </a:pPr>
                      <a:r>
                        <a:t/>
                      </a:r>
                      <a:endParaRPr i="0" sz="1300">
                        <a:latin typeface="Helvetica Neue"/>
                        <a:ea typeface="Helvetica Neue"/>
                        <a:cs typeface="Helvetica Neue"/>
                        <a:sym typeface="Helvetica Neue"/>
                      </a:endParaRPr>
                    </a:p>
                    <a:p>
                      <a:pPr indent="-88900" lvl="0" marL="171450" marR="0" rtl="0" algn="l">
                        <a:lnSpc>
                          <a:spcPct val="100000"/>
                        </a:lnSpc>
                        <a:spcBef>
                          <a:spcPts val="0"/>
                        </a:spcBef>
                        <a:spcAft>
                          <a:spcPts val="0"/>
                        </a:spcAft>
                        <a:buClr>
                          <a:schemeClr val="dk1"/>
                        </a:buClr>
                        <a:buSzPts val="1300"/>
                        <a:buFont typeface="Arial"/>
                        <a:buNone/>
                      </a:pPr>
                      <a:r>
                        <a:t/>
                      </a:r>
                      <a:endParaRPr i="0"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25%</a:t>
                      </a:r>
                      <a:endParaRPr b="0" i="0"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480</a:t>
                      </a:r>
                      <a:endParaRPr b="0" i="0"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100%</a:t>
                      </a:r>
                      <a:endParaRPr b="0" i="0" sz="1300">
                        <a:latin typeface="Helvetica Neue"/>
                        <a:ea typeface="Helvetica Neue"/>
                        <a:cs typeface="Helvetica Neue"/>
                        <a:sym typeface="Helvetica Neue"/>
                      </a:endParaRPr>
                    </a:p>
                  </a:txBody>
                  <a:tcPr marT="45725" marB="45725" marR="91450" marL="91450">
                    <a:solidFill>
                      <a:srgbClr val="F4F9ED"/>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ae280144eb_0_341"/>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Supervisor </a:t>
            </a:r>
            <a:r>
              <a:rPr lang="en-US"/>
              <a:t>Interactions </a:t>
            </a:r>
            <a:r>
              <a:rPr b="0" lang="en-US"/>
              <a:t>(as mentioned in weekly log)</a:t>
            </a:r>
            <a:endParaRPr b="0"/>
          </a:p>
        </p:txBody>
      </p:sp>
      <p:sp>
        <p:nvSpPr>
          <p:cNvPr id="289" name="Google Shape;289;g3ae280144eb_0_341"/>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290" name="Google Shape;290;g3ae280144eb_0_341"/>
          <p:cNvGraphicFramePr/>
          <p:nvPr/>
        </p:nvGraphicFramePr>
        <p:xfrm>
          <a:off x="110168" y="881350"/>
          <a:ext cx="3000000" cy="3000000"/>
        </p:xfrm>
        <a:graphic>
          <a:graphicData uri="http://schemas.openxmlformats.org/drawingml/2006/table">
            <a:tbl>
              <a:tblPr bandRow="1" firstRow="1">
                <a:noFill/>
                <a:tableStyleId>{898F8B75-1C41-4D90-AD48-C5B47D00A216}</a:tableStyleId>
              </a:tblPr>
              <a:tblGrid>
                <a:gridCol w="651825"/>
                <a:gridCol w="1364250"/>
                <a:gridCol w="5596575"/>
                <a:gridCol w="1222875"/>
              </a:tblGrid>
              <a:tr h="426075">
                <a:tc gridSpan="4">
                  <a:txBody>
                    <a:bodyPr/>
                    <a:lstStyle/>
                    <a:p>
                      <a:pPr indent="0" lvl="0" marL="0" marR="0" rtl="0" algn="ctr">
                        <a:spcBef>
                          <a:spcPts val="0"/>
                        </a:spcBef>
                        <a:spcAft>
                          <a:spcPts val="0"/>
                        </a:spcAft>
                        <a:buNone/>
                      </a:pPr>
                      <a:r>
                        <a:rPr b="1" i="0" lang="en-US" sz="1300">
                          <a:solidFill>
                            <a:schemeClr val="dk1"/>
                          </a:solidFill>
                          <a:latin typeface="Helvetica Neue"/>
                          <a:ea typeface="Helvetica Neue"/>
                          <a:cs typeface="Helvetica Neue"/>
                          <a:sym typeface="Helvetica Neue"/>
                        </a:rPr>
                        <a:t>No. of Meetings with Supervisor: </a:t>
                      </a:r>
                      <a:endParaRPr/>
                    </a:p>
                  </a:txBody>
                  <a:tcPr marT="45725" marB="45725" marR="91450" marL="91450" anchor="ctr">
                    <a:solidFill>
                      <a:srgbClr val="D5D59B"/>
                    </a:solidFill>
                  </a:tcPr>
                </a:tc>
                <a:tc hMerge="1"/>
                <a:tc hMerge="1"/>
                <a:tc hMerge="1"/>
              </a:tr>
              <a:tr h="507400">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Week No.</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Duration</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Remarks (</a:t>
                      </a:r>
                      <a:r>
                        <a:rPr b="1" i="0" lang="en-US" sz="1300">
                          <a:solidFill>
                            <a:schemeClr val="dk1"/>
                          </a:solidFill>
                          <a:latin typeface="Helvetica Neue"/>
                          <a:ea typeface="Helvetica Neue"/>
                          <a:cs typeface="Helvetica Neue"/>
                          <a:sym typeface="Helvetica Neue"/>
                        </a:rPr>
                        <a:t>as mentioned in the weekly log</a:t>
                      </a:r>
                      <a:r>
                        <a:rPr b="0" i="0" lang="en-US" sz="1300">
                          <a:solidFill>
                            <a:schemeClr val="dk1"/>
                          </a:solidFill>
                          <a:latin typeface="Helvetica Neue"/>
                          <a:ea typeface="Helvetica Neue"/>
                          <a:cs typeface="Helvetica Neue"/>
                          <a:sym typeface="Helvetica Neue"/>
                        </a:rPr>
                        <a:t>)</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Incorporated</a:t>
                      </a:r>
                      <a:endParaRPr/>
                    </a:p>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(Yes/No)</a:t>
                      </a:r>
                      <a:endParaRPr/>
                    </a:p>
                  </a:txBody>
                  <a:tcPr marT="45725" marB="45725" marR="91450" marL="91450">
                    <a:solidFill>
                      <a:srgbClr val="D5D59B"/>
                    </a:solidFill>
                  </a:tcPr>
                </a:tc>
              </a:tr>
              <a:tr h="828000">
                <a:tc>
                  <a:txBody>
                    <a:bodyPr/>
                    <a:lstStyle/>
                    <a:p>
                      <a:pPr indent="0" lvl="0" marL="0" marR="0" rtl="0" algn="ctr">
                        <a:spcBef>
                          <a:spcPts val="0"/>
                        </a:spcBef>
                        <a:spcAft>
                          <a:spcPts val="0"/>
                        </a:spcAft>
                        <a:buNone/>
                      </a:pPr>
                      <a:r>
                        <a:rPr b="0" i="0" lang="en-US" sz="1300">
                          <a:latin typeface="Helvetica Neue"/>
                          <a:ea typeface="Helvetica Neue"/>
                          <a:cs typeface="Helvetica Neue"/>
                          <a:sym typeface="Helvetica Neue"/>
                        </a:rPr>
                        <a:t>1.</a:t>
                      </a:r>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US" sz="1300">
                          <a:latin typeface="Helvetica Neue"/>
                          <a:ea typeface="Helvetica Neue"/>
                          <a:cs typeface="Helvetica Neue"/>
                          <a:sym typeface="Helvetica Neue"/>
                        </a:rPr>
                        <a:t>18</a:t>
                      </a:r>
                      <a:r>
                        <a:rPr b="0" i="0" lang="en-US" sz="1300">
                          <a:latin typeface="Helvetica Neue"/>
                          <a:ea typeface="Helvetica Neue"/>
                          <a:cs typeface="Helvetica Neue"/>
                          <a:sym typeface="Helvetica Neue"/>
                        </a:rPr>
                        <a:t>/0</a:t>
                      </a:r>
                      <a:r>
                        <a:rPr lang="en-US" sz="1300">
                          <a:latin typeface="Helvetica Neue"/>
                          <a:ea typeface="Helvetica Neue"/>
                          <a:cs typeface="Helvetica Neue"/>
                          <a:sym typeface="Helvetica Neue"/>
                        </a:rPr>
                        <a:t>8</a:t>
                      </a:r>
                      <a:r>
                        <a:rPr b="0" i="0" lang="en-US" sz="1300">
                          <a:latin typeface="Helvetica Neue"/>
                          <a:ea typeface="Helvetica Neue"/>
                          <a:cs typeface="Helvetica Neue"/>
                          <a:sym typeface="Helvetica Neue"/>
                        </a:rPr>
                        <a:t>/2025 </a:t>
                      </a:r>
                      <a:endParaRPr/>
                    </a:p>
                    <a:p>
                      <a:pPr indent="0" lvl="0" marL="0" marR="0" rtl="0" algn="ctr">
                        <a:spcBef>
                          <a:spcPts val="0"/>
                        </a:spcBef>
                        <a:spcAft>
                          <a:spcPts val="0"/>
                        </a:spcAft>
                        <a:buNone/>
                      </a:pPr>
                      <a:r>
                        <a:rPr b="0" i="0" lang="en-US" sz="1300">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25</a:t>
                      </a:r>
                      <a:r>
                        <a:rPr b="0" i="0" lang="en-US" sz="1300">
                          <a:latin typeface="Helvetica Neue"/>
                          <a:ea typeface="Helvetica Neue"/>
                          <a:cs typeface="Helvetica Neue"/>
                          <a:sym typeface="Helvetica Neue"/>
                        </a:rPr>
                        <a:t>/</a:t>
                      </a:r>
                      <a:r>
                        <a:rPr lang="en-US" sz="1300">
                          <a:latin typeface="Helvetica Neue"/>
                          <a:ea typeface="Helvetica Neue"/>
                          <a:cs typeface="Helvetica Neue"/>
                          <a:sym typeface="Helvetica Neue"/>
                        </a:rPr>
                        <a:t>08</a:t>
                      </a:r>
                      <a:r>
                        <a:rPr b="0" i="0" lang="en-US" sz="1300">
                          <a:latin typeface="Helvetica Neue"/>
                          <a:ea typeface="Helvetica Neue"/>
                          <a:cs typeface="Helvetica Neue"/>
                          <a:sym typeface="Helvetica Neue"/>
                        </a:rPr>
                        <a:t>/2025</a:t>
                      </a:r>
                      <a:endParaRPr/>
                    </a:p>
                  </a:txBody>
                  <a:tcPr marT="45725" marB="45725" marR="91450" marL="91450">
                    <a:solidFill>
                      <a:srgbClr val="F4F9ED"/>
                    </a:solidFill>
                  </a:tcPr>
                </a:tc>
                <a:tc>
                  <a:txBody>
                    <a:bodyPr/>
                    <a:lstStyle/>
                    <a:p>
                      <a:pPr indent="-171450" lvl="0" marL="171450" rtl="0" algn="l">
                        <a:spcBef>
                          <a:spcPts val="0"/>
                        </a:spcBef>
                        <a:spcAft>
                          <a:spcPts val="0"/>
                        </a:spcAft>
                        <a:buClr>
                          <a:schemeClr val="dk1"/>
                        </a:buClr>
                        <a:buSzPts val="1300"/>
                        <a:buChar char="•"/>
                      </a:pPr>
                      <a:r>
                        <a:rPr lang="en-US" sz="1300">
                          <a:latin typeface="Helvetica Neue"/>
                          <a:ea typeface="Helvetica Neue"/>
                          <a:cs typeface="Helvetica Neue"/>
                          <a:sym typeface="Helvetica Neue"/>
                        </a:rPr>
                        <a:t>Explore variety of topics with real life relevance.</a:t>
                      </a:r>
                      <a:endParaRPr/>
                    </a:p>
                    <a:p>
                      <a:pPr indent="-165100" lvl="0" marL="171450" marR="0" rtl="0" algn="l">
                        <a:spcBef>
                          <a:spcPts val="0"/>
                        </a:spcBef>
                        <a:spcAft>
                          <a:spcPts val="0"/>
                        </a:spcAft>
                        <a:buClr>
                          <a:schemeClr val="dk1"/>
                        </a:buClr>
                        <a:buSzPts val="1200"/>
                        <a:buFont typeface="Arial"/>
                        <a:buChar char="•"/>
                      </a:pPr>
                      <a:r>
                        <a:rPr lang="en-US" sz="1300"/>
                        <a:t>Make sure the topic must be new, not a copied one.</a:t>
                      </a:r>
                      <a:endParaRPr sz="1300"/>
                    </a:p>
                    <a:p>
                      <a:pPr indent="0" lvl="0" marL="457200" marR="0" rtl="0" algn="l">
                        <a:lnSpc>
                          <a:spcPct val="100000"/>
                        </a:lnSpc>
                        <a:spcBef>
                          <a:spcPts val="0"/>
                        </a:spcBef>
                        <a:spcAft>
                          <a:spcPts val="0"/>
                        </a:spcAft>
                        <a:buNone/>
                      </a:pPr>
                      <a:r>
                        <a:t/>
                      </a:r>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Yes</a:t>
                      </a:r>
                      <a:endParaRPr b="0" i="0" sz="1300">
                        <a:latin typeface="Helvetica Neue"/>
                        <a:ea typeface="Helvetica Neue"/>
                        <a:cs typeface="Helvetica Neue"/>
                        <a:sym typeface="Helvetica Neue"/>
                      </a:endParaRPr>
                    </a:p>
                  </a:txBody>
                  <a:tcPr marT="45725" marB="45725" marR="91450" marL="91450">
                    <a:solidFill>
                      <a:srgbClr val="F4F9ED"/>
                    </a:solidFill>
                  </a:tcPr>
                </a:tc>
              </a:tr>
              <a:tr h="828000">
                <a:tc>
                  <a:txBody>
                    <a:bodyPr/>
                    <a:lstStyle/>
                    <a:p>
                      <a:pPr indent="0" lvl="0" marL="0" marR="0" rtl="0" algn="ctr">
                        <a:spcBef>
                          <a:spcPts val="0"/>
                        </a:spcBef>
                        <a:spcAft>
                          <a:spcPts val="0"/>
                        </a:spcAft>
                        <a:buNone/>
                      </a:pPr>
                      <a:r>
                        <a:rPr b="0" i="0" lang="en-US" sz="1300">
                          <a:latin typeface="Helvetica Neue"/>
                          <a:ea typeface="Helvetica Neue"/>
                          <a:cs typeface="Helvetica Neue"/>
                          <a:sym typeface="Helvetica Neue"/>
                        </a:rPr>
                        <a:t>2.</a:t>
                      </a:r>
                      <a:endParaRPr/>
                    </a:p>
                  </a:txBody>
                  <a:tcPr marT="45725" marB="45725" marR="91450" marL="91450">
                    <a:solidFill>
                      <a:srgbClr val="F0F0DD"/>
                    </a:solidFill>
                  </a:tcPr>
                </a:tc>
                <a:tc>
                  <a:txBody>
                    <a:bodyPr/>
                    <a:lstStyle/>
                    <a:p>
                      <a:pPr indent="0" lvl="0" marL="0" marR="0" rtl="0" algn="ctr">
                        <a:spcBef>
                          <a:spcPts val="0"/>
                        </a:spcBef>
                        <a:spcAft>
                          <a:spcPts val="0"/>
                        </a:spcAft>
                        <a:buNone/>
                      </a:pPr>
                      <a:r>
                        <a:rPr lang="en-US" sz="1300">
                          <a:latin typeface="Helvetica Neue"/>
                          <a:ea typeface="Helvetica Neue"/>
                          <a:cs typeface="Helvetica Neue"/>
                          <a:sym typeface="Helvetica Neue"/>
                        </a:rPr>
                        <a:t>26</a:t>
                      </a:r>
                      <a:r>
                        <a:rPr b="0" i="0" lang="en-US" sz="1300">
                          <a:latin typeface="Helvetica Neue"/>
                          <a:ea typeface="Helvetica Neue"/>
                          <a:cs typeface="Helvetica Neue"/>
                          <a:sym typeface="Helvetica Neue"/>
                        </a:rPr>
                        <a:t>/</a:t>
                      </a:r>
                      <a:r>
                        <a:rPr lang="en-US" sz="1300">
                          <a:latin typeface="Helvetica Neue"/>
                          <a:ea typeface="Helvetica Neue"/>
                          <a:cs typeface="Helvetica Neue"/>
                          <a:sym typeface="Helvetica Neue"/>
                        </a:rPr>
                        <a:t>09</a:t>
                      </a:r>
                      <a:r>
                        <a:rPr b="0" i="0" lang="en-US" sz="1300">
                          <a:latin typeface="Helvetica Neue"/>
                          <a:ea typeface="Helvetica Neue"/>
                          <a:cs typeface="Helvetica Neue"/>
                          <a:sym typeface="Helvetica Neue"/>
                        </a:rPr>
                        <a:t>/2025 </a:t>
                      </a:r>
                      <a:endParaRPr/>
                    </a:p>
                    <a:p>
                      <a:pPr indent="0" lvl="0" marL="0" marR="0" rtl="0" algn="ctr">
                        <a:spcBef>
                          <a:spcPts val="0"/>
                        </a:spcBef>
                        <a:spcAft>
                          <a:spcPts val="0"/>
                        </a:spcAft>
                        <a:buNone/>
                      </a:pPr>
                      <a:r>
                        <a:rPr b="0" i="0" lang="en-US" sz="1300">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16</a:t>
                      </a:r>
                      <a:r>
                        <a:rPr b="0" i="0" lang="en-US" sz="1300">
                          <a:latin typeface="Helvetica Neue"/>
                          <a:ea typeface="Helvetica Neue"/>
                          <a:cs typeface="Helvetica Neue"/>
                          <a:sym typeface="Helvetica Neue"/>
                        </a:rPr>
                        <a:t>/</a:t>
                      </a:r>
                      <a:r>
                        <a:rPr lang="en-US" sz="1300">
                          <a:latin typeface="Helvetica Neue"/>
                          <a:ea typeface="Helvetica Neue"/>
                          <a:cs typeface="Helvetica Neue"/>
                          <a:sym typeface="Helvetica Neue"/>
                        </a:rPr>
                        <a:t>09</a:t>
                      </a:r>
                      <a:r>
                        <a:rPr b="0" i="0" lang="en-US" sz="1300">
                          <a:latin typeface="Helvetica Neue"/>
                          <a:ea typeface="Helvetica Neue"/>
                          <a:cs typeface="Helvetica Neue"/>
                          <a:sym typeface="Helvetica Neue"/>
                        </a:rPr>
                        <a:t>/2025</a:t>
                      </a:r>
                      <a:endParaRPr/>
                    </a:p>
                  </a:txBody>
                  <a:tcPr marT="45725" marB="45725" marR="91450" marL="91450">
                    <a:solidFill>
                      <a:srgbClr val="F0F0DD"/>
                    </a:solidFill>
                  </a:tcPr>
                </a:tc>
                <a:tc>
                  <a:txBody>
                    <a:bodyPr/>
                    <a:lstStyle/>
                    <a:p>
                      <a:pPr indent="-171450" lvl="0" marL="171450" marR="0" rtl="0" algn="l">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Collect research paper relevant to the topic.</a:t>
                      </a:r>
                      <a:endParaRPr/>
                    </a:p>
                    <a:p>
                      <a:pPr indent="-171450" lvl="0" marL="171450" marR="0" rtl="0" algn="l">
                        <a:spcBef>
                          <a:spcPts val="0"/>
                        </a:spcBef>
                        <a:spcAft>
                          <a:spcPts val="0"/>
                        </a:spcAft>
                        <a:buClr>
                          <a:schemeClr val="dk1"/>
                        </a:buClr>
                        <a:buSzPts val="1300"/>
                        <a:buFont typeface="Arial"/>
                        <a:buChar char="•"/>
                      </a:pPr>
                      <a:r>
                        <a:rPr lang="en-US" sz="1300"/>
                        <a:t>Gather knowledge regarding the current technology in use.</a:t>
                      </a:r>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Yes</a:t>
                      </a:r>
                      <a:endParaRPr b="0" i="0" sz="1300">
                        <a:latin typeface="Helvetica Neue"/>
                        <a:ea typeface="Helvetica Neue"/>
                        <a:cs typeface="Helvetica Neue"/>
                        <a:sym typeface="Helvetica Neue"/>
                      </a:endParaRPr>
                    </a:p>
                  </a:txBody>
                  <a:tcPr marT="45725" marB="45725" marR="91450" marL="91450">
                    <a:solidFill>
                      <a:srgbClr val="F0F0DD"/>
                    </a:solidFill>
                  </a:tcPr>
                </a:tc>
              </a:tr>
              <a:tr h="828000">
                <a:tc>
                  <a:txBody>
                    <a:bodyPr/>
                    <a:lstStyle/>
                    <a:p>
                      <a:pPr indent="0" lvl="0" marL="0" marR="0" rtl="0" algn="ctr">
                        <a:spcBef>
                          <a:spcPts val="0"/>
                        </a:spcBef>
                        <a:spcAft>
                          <a:spcPts val="0"/>
                        </a:spcAft>
                        <a:buNone/>
                      </a:pPr>
                      <a:r>
                        <a:rPr b="0" i="0" lang="en-US" sz="1300">
                          <a:latin typeface="Helvetica Neue"/>
                          <a:ea typeface="Helvetica Neue"/>
                          <a:cs typeface="Helvetica Neue"/>
                          <a:sym typeface="Helvetica Neue"/>
                        </a:rPr>
                        <a:t>3.</a:t>
                      </a:r>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US" sz="1300">
                          <a:latin typeface="Helvetica Neue"/>
                          <a:ea typeface="Helvetica Neue"/>
                          <a:cs typeface="Helvetica Neue"/>
                          <a:sym typeface="Helvetica Neue"/>
                        </a:rPr>
                        <a:t>17</a:t>
                      </a:r>
                      <a:r>
                        <a:rPr b="0" i="0" lang="en-US" sz="1300">
                          <a:latin typeface="Helvetica Neue"/>
                          <a:ea typeface="Helvetica Neue"/>
                          <a:cs typeface="Helvetica Neue"/>
                          <a:sym typeface="Helvetica Neue"/>
                        </a:rPr>
                        <a:t>/</a:t>
                      </a:r>
                      <a:r>
                        <a:rPr lang="en-US" sz="1300">
                          <a:latin typeface="Helvetica Neue"/>
                          <a:ea typeface="Helvetica Neue"/>
                          <a:cs typeface="Helvetica Neue"/>
                          <a:sym typeface="Helvetica Neue"/>
                        </a:rPr>
                        <a:t>09</a:t>
                      </a:r>
                      <a:r>
                        <a:rPr b="0" i="0" lang="en-US" sz="1300">
                          <a:latin typeface="Helvetica Neue"/>
                          <a:ea typeface="Helvetica Neue"/>
                          <a:cs typeface="Helvetica Neue"/>
                          <a:sym typeface="Helvetica Neue"/>
                        </a:rPr>
                        <a:t>/2025 </a:t>
                      </a:r>
                      <a:endParaRPr/>
                    </a:p>
                    <a:p>
                      <a:pPr indent="0" lvl="0" marL="0" marR="0" rtl="0" algn="ctr">
                        <a:spcBef>
                          <a:spcPts val="0"/>
                        </a:spcBef>
                        <a:spcAft>
                          <a:spcPts val="0"/>
                        </a:spcAft>
                        <a:buNone/>
                      </a:pPr>
                      <a:r>
                        <a:rPr b="0" i="0" lang="en-US" sz="1300">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25</a:t>
                      </a:r>
                      <a:r>
                        <a:rPr b="0" i="0" lang="en-US" sz="1300">
                          <a:latin typeface="Helvetica Neue"/>
                          <a:ea typeface="Helvetica Neue"/>
                          <a:cs typeface="Helvetica Neue"/>
                          <a:sym typeface="Helvetica Neue"/>
                        </a:rPr>
                        <a:t>/</a:t>
                      </a:r>
                      <a:r>
                        <a:rPr lang="en-US" sz="1300">
                          <a:latin typeface="Helvetica Neue"/>
                          <a:ea typeface="Helvetica Neue"/>
                          <a:cs typeface="Helvetica Neue"/>
                          <a:sym typeface="Helvetica Neue"/>
                        </a:rPr>
                        <a:t>09</a:t>
                      </a:r>
                      <a:r>
                        <a:rPr b="0" i="0" lang="en-US" sz="1300">
                          <a:latin typeface="Helvetica Neue"/>
                          <a:ea typeface="Helvetica Neue"/>
                          <a:cs typeface="Helvetica Neue"/>
                          <a:sym typeface="Helvetica Neue"/>
                        </a:rPr>
                        <a:t>/2025</a:t>
                      </a:r>
                      <a:endParaRPr/>
                    </a:p>
                  </a:txBody>
                  <a:tcPr marT="45725" marB="45725" marR="91450" marL="91450">
                    <a:solidFill>
                      <a:srgbClr val="F4F9ED"/>
                    </a:solidFill>
                  </a:tcPr>
                </a:tc>
                <a:tc>
                  <a:txBody>
                    <a:bodyPr/>
                    <a:lstStyle/>
                    <a:p>
                      <a:pPr indent="-171450" lvl="0" marL="171450" marR="0" rtl="0" algn="l">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Read more research papers on RAG and LLMs</a:t>
                      </a:r>
                      <a:endParaRPr sz="1300">
                        <a:latin typeface="Helvetica Neue"/>
                        <a:ea typeface="Helvetica Neue"/>
                        <a:cs typeface="Helvetica Neue"/>
                        <a:sym typeface="Helvetica Neue"/>
                      </a:endParaRPr>
                    </a:p>
                    <a:p>
                      <a:pPr indent="-165100" lvl="0" marL="171450" marR="0" rtl="0" algn="l">
                        <a:spcBef>
                          <a:spcPts val="0"/>
                        </a:spcBef>
                        <a:spcAft>
                          <a:spcPts val="0"/>
                        </a:spcAft>
                        <a:buClr>
                          <a:schemeClr val="dk1"/>
                        </a:buClr>
                        <a:buSzPts val="1200"/>
                        <a:buFont typeface="Arial"/>
                        <a:buChar char="•"/>
                      </a:pPr>
                      <a:r>
                        <a:rPr lang="en-US" sz="1300"/>
                        <a:t>Get an idea about the accuracy achieved by previous models.</a:t>
                      </a:r>
                      <a:endParaRPr sz="1300"/>
                    </a:p>
                    <a:p>
                      <a:pPr indent="-171450" lvl="0" marL="171450" marR="0" rtl="0" algn="l">
                        <a:spcBef>
                          <a:spcPts val="0"/>
                        </a:spcBef>
                        <a:spcAft>
                          <a:spcPts val="0"/>
                        </a:spcAft>
                        <a:buSzPts val="1300"/>
                        <a:buChar char="•"/>
                      </a:pPr>
                      <a:r>
                        <a:rPr lang="en-US" sz="1300"/>
                        <a:t>Design your workflow and documentation.</a:t>
                      </a:r>
                      <a:endParaRPr sz="1300"/>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Yes</a:t>
                      </a:r>
                      <a:endParaRPr b="0" i="0" sz="1300">
                        <a:latin typeface="Helvetica Neue"/>
                        <a:ea typeface="Helvetica Neue"/>
                        <a:cs typeface="Helvetica Neue"/>
                        <a:sym typeface="Helvetica Neue"/>
                      </a:endParaRPr>
                    </a:p>
                  </a:txBody>
                  <a:tcPr marT="45725" marB="45725" marR="91450" marL="91450">
                    <a:solidFill>
                      <a:srgbClr val="F4F9ED"/>
                    </a:solidFill>
                  </a:tcPr>
                </a:tc>
              </a:tr>
              <a:tr h="828000">
                <a:tc>
                  <a:txBody>
                    <a:bodyPr/>
                    <a:lstStyle/>
                    <a:p>
                      <a:pPr indent="0" lvl="0" marL="0" marR="0" rtl="0" algn="ctr">
                        <a:spcBef>
                          <a:spcPts val="0"/>
                        </a:spcBef>
                        <a:spcAft>
                          <a:spcPts val="0"/>
                        </a:spcAft>
                        <a:buNone/>
                      </a:pPr>
                      <a:r>
                        <a:rPr b="0" i="0" lang="en-US" sz="1300">
                          <a:latin typeface="Helvetica Neue"/>
                          <a:ea typeface="Helvetica Neue"/>
                          <a:cs typeface="Helvetica Neue"/>
                          <a:sym typeface="Helvetica Neue"/>
                        </a:rPr>
                        <a:t>4.</a:t>
                      </a:r>
                      <a:endParaRPr/>
                    </a:p>
                  </a:txBody>
                  <a:tcPr marT="45725" marB="45725" marR="91450" marL="91450">
                    <a:solidFill>
                      <a:srgbClr val="F0F0DD"/>
                    </a:solidFill>
                  </a:tcPr>
                </a:tc>
                <a:tc>
                  <a:txBody>
                    <a:bodyPr/>
                    <a:lstStyle/>
                    <a:p>
                      <a:pPr indent="0" lvl="0" marL="0" marR="0" rtl="0" algn="ctr">
                        <a:spcBef>
                          <a:spcPts val="0"/>
                        </a:spcBef>
                        <a:spcAft>
                          <a:spcPts val="0"/>
                        </a:spcAft>
                        <a:buNone/>
                      </a:pPr>
                      <a:r>
                        <a:rPr lang="en-US" sz="1300">
                          <a:latin typeface="Helvetica Neue"/>
                          <a:ea typeface="Helvetica Neue"/>
                          <a:cs typeface="Helvetica Neue"/>
                          <a:sym typeface="Helvetica Neue"/>
                        </a:rPr>
                        <a:t>26</a:t>
                      </a:r>
                      <a:r>
                        <a:rPr b="0" i="0" lang="en-US" sz="1300">
                          <a:latin typeface="Helvetica Neue"/>
                          <a:ea typeface="Helvetica Neue"/>
                          <a:cs typeface="Helvetica Neue"/>
                          <a:sym typeface="Helvetica Neue"/>
                        </a:rPr>
                        <a:t>/</a:t>
                      </a:r>
                      <a:r>
                        <a:rPr lang="en-US" sz="1300">
                          <a:latin typeface="Helvetica Neue"/>
                          <a:ea typeface="Helvetica Neue"/>
                          <a:cs typeface="Helvetica Neue"/>
                          <a:sym typeface="Helvetica Neue"/>
                        </a:rPr>
                        <a:t>09</a:t>
                      </a:r>
                      <a:r>
                        <a:rPr b="0" i="0" lang="en-US" sz="1300">
                          <a:latin typeface="Helvetica Neue"/>
                          <a:ea typeface="Helvetica Neue"/>
                          <a:cs typeface="Helvetica Neue"/>
                          <a:sym typeface="Helvetica Neue"/>
                        </a:rPr>
                        <a:t>/2025 </a:t>
                      </a:r>
                      <a:endParaRPr/>
                    </a:p>
                    <a:p>
                      <a:pPr indent="0" lvl="0" marL="0" marR="0" rtl="0" algn="ctr">
                        <a:spcBef>
                          <a:spcPts val="0"/>
                        </a:spcBef>
                        <a:spcAft>
                          <a:spcPts val="0"/>
                        </a:spcAft>
                        <a:buNone/>
                      </a:pPr>
                      <a:r>
                        <a:rPr b="0" i="0" lang="en-US" sz="1300">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29</a:t>
                      </a:r>
                      <a:r>
                        <a:rPr b="0" i="0" lang="en-US" sz="1300">
                          <a:latin typeface="Helvetica Neue"/>
                          <a:ea typeface="Helvetica Neue"/>
                          <a:cs typeface="Helvetica Neue"/>
                          <a:sym typeface="Helvetica Neue"/>
                        </a:rPr>
                        <a:t>/09/2025</a:t>
                      </a:r>
                      <a:endParaRPr/>
                    </a:p>
                  </a:txBody>
                  <a:tcPr marT="45725" marB="45725" marR="91450" marL="91450">
                    <a:solidFill>
                      <a:srgbClr val="F0F0DD"/>
                    </a:solidFill>
                  </a:tcPr>
                </a:tc>
                <a:tc>
                  <a:txBody>
                    <a:bodyPr/>
                    <a:lstStyle/>
                    <a:p>
                      <a:pPr indent="-171450" lvl="0" marL="171450" marR="0" rtl="0" algn="l">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Modify your documentation.</a:t>
                      </a:r>
                      <a:endParaRPr sz="1300">
                        <a:latin typeface="Helvetica Neue"/>
                        <a:ea typeface="Helvetica Neue"/>
                        <a:cs typeface="Helvetica Neue"/>
                        <a:sym typeface="Helvetica Neue"/>
                      </a:endParaRPr>
                    </a:p>
                    <a:p>
                      <a:pPr indent="-165100" lvl="0" marL="171450" rtl="0" algn="l">
                        <a:spcBef>
                          <a:spcPts val="0"/>
                        </a:spcBef>
                        <a:spcAft>
                          <a:spcPts val="0"/>
                        </a:spcAft>
                        <a:buClr>
                          <a:schemeClr val="dk1"/>
                        </a:buClr>
                        <a:buSzPts val="1200"/>
                        <a:buChar char="•"/>
                      </a:pPr>
                      <a:r>
                        <a:rPr lang="en-US" sz="1300"/>
                        <a:t>Remove all the shortcomings.</a:t>
                      </a:r>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Yes</a:t>
                      </a:r>
                      <a:endParaRPr b="0" i="0" sz="1300">
                        <a:latin typeface="Helvetica Neue"/>
                        <a:ea typeface="Helvetica Neue"/>
                        <a:cs typeface="Helvetica Neue"/>
                        <a:sym typeface="Helvetica Neue"/>
                      </a:endParaRPr>
                    </a:p>
                  </a:txBody>
                  <a:tcPr marT="45725" marB="45725" marR="91450" marL="91450">
                    <a:solidFill>
                      <a:srgbClr val="F0F0DD"/>
                    </a:solidFill>
                  </a:tcPr>
                </a:tc>
              </a:tr>
              <a:tr h="840575">
                <a:tc>
                  <a:txBody>
                    <a:bodyPr/>
                    <a:lstStyle/>
                    <a:p>
                      <a:pPr indent="0" lvl="0" marL="0" marR="0" rtl="0" algn="ctr">
                        <a:spcBef>
                          <a:spcPts val="0"/>
                        </a:spcBef>
                        <a:spcAft>
                          <a:spcPts val="0"/>
                        </a:spcAft>
                        <a:buNone/>
                      </a:pPr>
                      <a:r>
                        <a:rPr lang="en-US"/>
                        <a:t>5.</a:t>
                      </a:r>
                      <a:endParaRPr/>
                    </a:p>
                  </a:txBody>
                  <a:tcPr marT="45725" marB="45725" marR="91450" marL="91450">
                    <a:solidFill>
                      <a:srgbClr val="F4F9ED"/>
                    </a:solidFill>
                  </a:tcPr>
                </a:tc>
                <a:tc>
                  <a:txBody>
                    <a:bodyPr/>
                    <a:lstStyle/>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30</a:t>
                      </a:r>
                      <a:r>
                        <a:rPr lang="en-US" sz="1300">
                          <a:latin typeface="Helvetica Neue"/>
                          <a:ea typeface="Helvetica Neue"/>
                          <a:cs typeface="Helvetica Neue"/>
                          <a:sym typeface="Helvetica Neue"/>
                        </a:rPr>
                        <a:t>/09/2025 </a:t>
                      </a:r>
                      <a:endParaRPr/>
                    </a:p>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to</a:t>
                      </a:r>
                      <a:endParaRPr/>
                    </a:p>
                    <a:p>
                      <a:pPr indent="0" lvl="0" marL="0" rtl="0" algn="ctr">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03/10/2025</a:t>
                      </a:r>
                      <a:endParaRPr/>
                    </a:p>
                  </a:txBody>
                  <a:tcPr marT="45725" marB="45725" marR="91450" marL="91450">
                    <a:solidFill>
                      <a:srgbClr val="F4F9ED"/>
                    </a:solidFill>
                  </a:tcPr>
                </a:tc>
                <a:tc>
                  <a:txBody>
                    <a:bodyPr/>
                    <a:lstStyle/>
                    <a:p>
                      <a:pPr indent="-171450" lvl="0" marL="171450" rtl="0" algn="l">
                        <a:spcBef>
                          <a:spcPts val="0"/>
                        </a:spcBef>
                        <a:spcAft>
                          <a:spcPts val="0"/>
                        </a:spcAft>
                        <a:buClr>
                          <a:schemeClr val="dk1"/>
                        </a:buClr>
                        <a:buSzPts val="1300"/>
                        <a:buChar char="•"/>
                      </a:pPr>
                      <a:r>
                        <a:rPr lang="en-US" sz="1300">
                          <a:latin typeface="Helvetica Neue"/>
                          <a:ea typeface="Helvetica Neue"/>
                          <a:cs typeface="Helvetica Neue"/>
                          <a:sym typeface="Helvetica Neue"/>
                        </a:rPr>
                        <a:t>NULL</a:t>
                      </a:r>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a:t>
                      </a:r>
                      <a:endParaRPr b="0" i="0" sz="1300">
                        <a:latin typeface="Helvetica Neue"/>
                        <a:ea typeface="Helvetica Neue"/>
                        <a:cs typeface="Helvetica Neue"/>
                        <a:sym typeface="Helvetica Neue"/>
                      </a:endParaRPr>
                    </a:p>
                  </a:txBody>
                  <a:tcPr marT="45725" marB="45725" marR="91450" marL="91450">
                    <a:solidFill>
                      <a:srgbClr val="F4F9ED"/>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7"/>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Supervisor </a:t>
            </a:r>
            <a:r>
              <a:rPr lang="en-US"/>
              <a:t>Interactions</a:t>
            </a:r>
            <a:r>
              <a:rPr lang="en-US" sz="2400"/>
              <a:t> </a:t>
            </a:r>
            <a:r>
              <a:rPr b="0" lang="en-US" sz="2400"/>
              <a:t>(cont…)</a:t>
            </a:r>
            <a:endParaRPr b="0"/>
          </a:p>
        </p:txBody>
      </p:sp>
      <p:sp>
        <p:nvSpPr>
          <p:cNvPr id="296" name="Google Shape;296;p27"/>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297" name="Google Shape;297;p27"/>
          <p:cNvGraphicFramePr/>
          <p:nvPr/>
        </p:nvGraphicFramePr>
        <p:xfrm>
          <a:off x="110168" y="881350"/>
          <a:ext cx="3000000" cy="3000000"/>
        </p:xfrm>
        <a:graphic>
          <a:graphicData uri="http://schemas.openxmlformats.org/drawingml/2006/table">
            <a:tbl>
              <a:tblPr bandRow="1" firstRow="1">
                <a:noFill/>
                <a:tableStyleId>{898F8B75-1C41-4D90-AD48-C5B47D00A216}</a:tableStyleId>
              </a:tblPr>
              <a:tblGrid>
                <a:gridCol w="651825"/>
                <a:gridCol w="1364250"/>
                <a:gridCol w="5596575"/>
                <a:gridCol w="1222875"/>
              </a:tblGrid>
              <a:tr h="507400">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Week No.</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Duration</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Remarks (</a:t>
                      </a:r>
                      <a:r>
                        <a:rPr b="1" i="0" lang="en-US" sz="1300">
                          <a:solidFill>
                            <a:schemeClr val="dk1"/>
                          </a:solidFill>
                          <a:latin typeface="Helvetica Neue"/>
                          <a:ea typeface="Helvetica Neue"/>
                          <a:cs typeface="Helvetica Neue"/>
                          <a:sym typeface="Helvetica Neue"/>
                        </a:rPr>
                        <a:t>as mentioned in the weekly log</a:t>
                      </a:r>
                      <a:r>
                        <a:rPr b="0" i="0" lang="en-US" sz="1300">
                          <a:solidFill>
                            <a:schemeClr val="dk1"/>
                          </a:solidFill>
                          <a:latin typeface="Helvetica Neue"/>
                          <a:ea typeface="Helvetica Neue"/>
                          <a:cs typeface="Helvetica Neue"/>
                          <a:sym typeface="Helvetica Neue"/>
                        </a:rPr>
                        <a:t>)</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Incorporated</a:t>
                      </a:r>
                      <a:endParaRPr/>
                    </a:p>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(Yes/No)</a:t>
                      </a:r>
                      <a:endParaRPr/>
                    </a:p>
                  </a:txBody>
                  <a:tcPr marT="45725" marB="45725" marR="91450" marL="91450">
                    <a:solidFill>
                      <a:srgbClr val="D5D59B"/>
                    </a:solidFill>
                  </a:tcPr>
                </a:tc>
              </a:tr>
              <a:tr h="828000">
                <a:tc>
                  <a:txBody>
                    <a:bodyPr/>
                    <a:lstStyle/>
                    <a:p>
                      <a:pPr indent="0" lvl="0" marL="0" marR="0" rtl="0" algn="ctr">
                        <a:spcBef>
                          <a:spcPts val="0"/>
                        </a:spcBef>
                        <a:spcAft>
                          <a:spcPts val="0"/>
                        </a:spcAft>
                        <a:buNone/>
                      </a:pPr>
                      <a:r>
                        <a:rPr b="0" i="0" lang="en-US" sz="1300">
                          <a:latin typeface="Helvetica Neue"/>
                          <a:ea typeface="Helvetica Neue"/>
                          <a:cs typeface="Helvetica Neue"/>
                          <a:sym typeface="Helvetica Neue"/>
                        </a:rPr>
                        <a:t>6.</a:t>
                      </a:r>
                      <a:endParaRPr/>
                    </a:p>
                  </a:txBody>
                  <a:tcPr marT="45725" marB="45725" marR="91450" marL="91450">
                    <a:solidFill>
                      <a:srgbClr val="F4F9ED"/>
                    </a:solidFill>
                  </a:tcPr>
                </a:tc>
                <a:tc>
                  <a:txBody>
                    <a:bodyPr/>
                    <a:lstStyle/>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04</a:t>
                      </a:r>
                      <a:r>
                        <a:rPr lang="en-US" sz="1300">
                          <a:latin typeface="Helvetica Neue"/>
                          <a:ea typeface="Helvetica Neue"/>
                          <a:cs typeface="Helvetica Neue"/>
                          <a:sym typeface="Helvetica Neue"/>
                        </a:rPr>
                        <a:t>/10/2025 </a:t>
                      </a:r>
                      <a:endParaRPr/>
                    </a:p>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to</a:t>
                      </a:r>
                      <a:endParaRPr/>
                    </a:p>
                    <a:p>
                      <a:pPr indent="0" lvl="0" marL="0" rtl="0" algn="ctr">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09/10/2025</a:t>
                      </a:r>
                      <a:endParaRPr/>
                    </a:p>
                  </a:txBody>
                  <a:tcPr marT="45725" marB="45725" marR="91450" marL="91450">
                    <a:solidFill>
                      <a:srgbClr val="F4F9ED"/>
                    </a:solidFill>
                  </a:tcPr>
                </a:tc>
                <a:tc>
                  <a:txBody>
                    <a:bodyPr/>
                    <a:lstStyle/>
                    <a:p>
                      <a:pPr indent="-171450" lvl="0" marL="171450" rtl="0" algn="l">
                        <a:spcBef>
                          <a:spcPts val="0"/>
                        </a:spcBef>
                        <a:spcAft>
                          <a:spcPts val="0"/>
                        </a:spcAft>
                        <a:buClr>
                          <a:schemeClr val="dk1"/>
                        </a:buClr>
                        <a:buSzPts val="1300"/>
                        <a:buChar char="•"/>
                      </a:pPr>
                      <a:r>
                        <a:rPr lang="en-US" sz="1300">
                          <a:latin typeface="Helvetica Neue"/>
                          <a:ea typeface="Helvetica Neue"/>
                          <a:cs typeface="Helvetica Neue"/>
                          <a:sym typeface="Helvetica Neue"/>
                        </a:rPr>
                        <a:t>NULL</a:t>
                      </a:r>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a:t>
                      </a:r>
                      <a:endParaRPr b="0" i="0" sz="1300">
                        <a:latin typeface="Helvetica Neue"/>
                        <a:ea typeface="Helvetica Neue"/>
                        <a:cs typeface="Helvetica Neue"/>
                        <a:sym typeface="Helvetica Neue"/>
                      </a:endParaRPr>
                    </a:p>
                  </a:txBody>
                  <a:tcPr marT="45725" marB="45725" marR="91450" marL="91450">
                    <a:solidFill>
                      <a:srgbClr val="F4F9ED"/>
                    </a:solidFill>
                  </a:tcPr>
                </a:tc>
              </a:tr>
              <a:tr h="828000">
                <a:tc>
                  <a:txBody>
                    <a:bodyPr/>
                    <a:lstStyle/>
                    <a:p>
                      <a:pPr indent="0" lvl="0" marL="0" marR="0" rtl="0" algn="ctr">
                        <a:spcBef>
                          <a:spcPts val="0"/>
                        </a:spcBef>
                        <a:spcAft>
                          <a:spcPts val="0"/>
                        </a:spcAft>
                        <a:buNone/>
                      </a:pPr>
                      <a:r>
                        <a:rPr b="0" i="0" lang="en-US" sz="1300">
                          <a:latin typeface="Helvetica Neue"/>
                          <a:ea typeface="Helvetica Neue"/>
                          <a:cs typeface="Helvetica Neue"/>
                          <a:sym typeface="Helvetica Neue"/>
                        </a:rPr>
                        <a:t>7.</a:t>
                      </a:r>
                      <a:endParaRPr/>
                    </a:p>
                  </a:txBody>
                  <a:tcPr marT="45725" marB="45725" marR="91450" marL="91450">
                    <a:solidFill>
                      <a:srgbClr val="F0F0DD"/>
                    </a:solidFill>
                  </a:tcPr>
                </a:tc>
                <a:tc>
                  <a:txBody>
                    <a:bodyPr/>
                    <a:lstStyle/>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10</a:t>
                      </a:r>
                      <a:r>
                        <a:rPr lang="en-US" sz="1300">
                          <a:latin typeface="Helvetica Neue"/>
                          <a:ea typeface="Helvetica Neue"/>
                          <a:cs typeface="Helvetica Neue"/>
                          <a:sym typeface="Helvetica Neue"/>
                        </a:rPr>
                        <a:t>/10/2025 </a:t>
                      </a:r>
                      <a:endParaRPr/>
                    </a:p>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to</a:t>
                      </a:r>
                      <a:endParaRPr/>
                    </a:p>
                    <a:p>
                      <a:pPr indent="0" lvl="0" marL="0" rtl="0" algn="ctr">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27/10/2025</a:t>
                      </a:r>
                      <a:endParaRPr sz="1300">
                        <a:latin typeface="Helvetica Neue"/>
                        <a:ea typeface="Helvetica Neue"/>
                        <a:cs typeface="Helvetica Neue"/>
                        <a:sym typeface="Helvetica Neue"/>
                      </a:endParaRPr>
                    </a:p>
                  </a:txBody>
                  <a:tcPr marT="45725" marB="45725" marR="91450" marL="91450">
                    <a:solidFill>
                      <a:srgbClr val="F0F0DD"/>
                    </a:solidFill>
                  </a:tcPr>
                </a:tc>
                <a:tc>
                  <a:txBody>
                    <a:bodyPr/>
                    <a:lstStyle/>
                    <a:p>
                      <a:pPr indent="-171450" lvl="0" marL="171450" rtl="0" algn="l">
                        <a:spcBef>
                          <a:spcPts val="0"/>
                        </a:spcBef>
                        <a:spcAft>
                          <a:spcPts val="0"/>
                        </a:spcAft>
                        <a:buClr>
                          <a:schemeClr val="dk1"/>
                        </a:buClr>
                        <a:buSzPts val="1300"/>
                        <a:buChar char="•"/>
                      </a:pPr>
                      <a:r>
                        <a:rPr lang="en-US" sz="1300">
                          <a:latin typeface="Helvetica Neue"/>
                          <a:ea typeface="Helvetica Neue"/>
                          <a:cs typeface="Helvetica Neue"/>
                          <a:sym typeface="Helvetica Neue"/>
                        </a:rPr>
                        <a:t>NULL</a:t>
                      </a:r>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a:t>
                      </a:r>
                      <a:endParaRPr b="0" i="0" sz="1300">
                        <a:latin typeface="Helvetica Neue"/>
                        <a:ea typeface="Helvetica Neue"/>
                        <a:cs typeface="Helvetica Neue"/>
                        <a:sym typeface="Helvetica Neue"/>
                      </a:endParaRPr>
                    </a:p>
                  </a:txBody>
                  <a:tcPr marT="45725" marB="45725" marR="91450" marL="91450">
                    <a:solidFill>
                      <a:srgbClr val="F0F0DD"/>
                    </a:solidFill>
                  </a:tcPr>
                </a:tc>
              </a:tr>
              <a:tr h="828000">
                <a:tc>
                  <a:txBody>
                    <a:bodyPr/>
                    <a:lstStyle/>
                    <a:p>
                      <a:pPr indent="0" lvl="0" marL="0" marR="0" rtl="0" algn="ctr">
                        <a:spcBef>
                          <a:spcPts val="0"/>
                        </a:spcBef>
                        <a:spcAft>
                          <a:spcPts val="0"/>
                        </a:spcAft>
                        <a:buNone/>
                      </a:pPr>
                      <a:r>
                        <a:rPr b="0" i="0" lang="en-US" sz="1300">
                          <a:latin typeface="Helvetica Neue"/>
                          <a:ea typeface="Helvetica Neue"/>
                          <a:cs typeface="Helvetica Neue"/>
                          <a:sym typeface="Helvetica Neue"/>
                        </a:rPr>
                        <a:t>8.</a:t>
                      </a:r>
                      <a:endParaRPr/>
                    </a:p>
                  </a:txBody>
                  <a:tcPr marT="45725" marB="45725" marR="91450" marL="91450">
                    <a:solidFill>
                      <a:srgbClr val="F4F9ED"/>
                    </a:solidFill>
                  </a:tcPr>
                </a:tc>
                <a:tc>
                  <a:txBody>
                    <a:bodyPr/>
                    <a:lstStyle/>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28</a:t>
                      </a:r>
                      <a:r>
                        <a:rPr lang="en-US" sz="1300">
                          <a:latin typeface="Helvetica Neue"/>
                          <a:ea typeface="Helvetica Neue"/>
                          <a:cs typeface="Helvetica Neue"/>
                          <a:sym typeface="Helvetica Neue"/>
                        </a:rPr>
                        <a:t>/10/2025 </a:t>
                      </a:r>
                      <a:endParaRPr/>
                    </a:p>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to</a:t>
                      </a:r>
                      <a:endParaRPr/>
                    </a:p>
                    <a:p>
                      <a:pPr indent="0" lvl="0" marL="0" rtl="0" algn="ctr">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03/11/2025</a:t>
                      </a:r>
                      <a:endParaRPr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171450" lvl="0" marL="171450" rtl="0" algn="l">
                        <a:spcBef>
                          <a:spcPts val="0"/>
                        </a:spcBef>
                        <a:spcAft>
                          <a:spcPts val="0"/>
                        </a:spcAft>
                        <a:buClr>
                          <a:schemeClr val="dk1"/>
                        </a:buClr>
                        <a:buSzPts val="1300"/>
                        <a:buChar char="•"/>
                      </a:pPr>
                      <a:r>
                        <a:rPr lang="en-US" sz="1300">
                          <a:latin typeface="Helvetica Neue"/>
                          <a:ea typeface="Helvetica Neue"/>
                          <a:cs typeface="Helvetica Neue"/>
                          <a:sym typeface="Helvetica Neue"/>
                        </a:rPr>
                        <a:t>NULL</a:t>
                      </a:r>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a:t>
                      </a:r>
                      <a:endParaRPr b="0" i="0" sz="1300">
                        <a:latin typeface="Helvetica Neue"/>
                        <a:ea typeface="Helvetica Neue"/>
                        <a:cs typeface="Helvetica Neue"/>
                        <a:sym typeface="Helvetica Neue"/>
                      </a:endParaRPr>
                    </a:p>
                  </a:txBody>
                  <a:tcPr marT="45725" marB="45725" marR="91450" marL="91450">
                    <a:solidFill>
                      <a:srgbClr val="F4F9ED"/>
                    </a:solidFill>
                  </a:tcPr>
                </a:tc>
              </a:tr>
              <a:tr h="828000">
                <a:tc>
                  <a:txBody>
                    <a:bodyPr/>
                    <a:lstStyle/>
                    <a:p>
                      <a:pPr indent="0" lvl="0" marL="0" marR="0" rtl="0" algn="ctr">
                        <a:spcBef>
                          <a:spcPts val="0"/>
                        </a:spcBef>
                        <a:spcAft>
                          <a:spcPts val="0"/>
                        </a:spcAft>
                        <a:buNone/>
                      </a:pPr>
                      <a:r>
                        <a:rPr b="0" i="0" lang="en-US" sz="1300">
                          <a:latin typeface="Helvetica Neue"/>
                          <a:ea typeface="Helvetica Neue"/>
                          <a:cs typeface="Helvetica Neue"/>
                          <a:sym typeface="Helvetica Neue"/>
                        </a:rPr>
                        <a:t>9.</a:t>
                      </a:r>
                      <a:endParaRPr/>
                    </a:p>
                  </a:txBody>
                  <a:tcPr marT="45725" marB="45725" marR="91450" marL="91450">
                    <a:solidFill>
                      <a:srgbClr val="F0F0DD"/>
                    </a:solidFill>
                  </a:tcPr>
                </a:tc>
                <a:tc>
                  <a:txBody>
                    <a:bodyPr/>
                    <a:lstStyle/>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04/11/2025 </a:t>
                      </a:r>
                      <a:endParaRPr/>
                    </a:p>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to</a:t>
                      </a:r>
                      <a:endParaRPr/>
                    </a:p>
                    <a:p>
                      <a:pPr indent="0" lvl="0" marL="0" rtl="0" algn="ctr">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10/11/2025</a:t>
                      </a:r>
                      <a:endParaRPr sz="1300">
                        <a:latin typeface="Helvetica Neue"/>
                        <a:ea typeface="Helvetica Neue"/>
                        <a:cs typeface="Helvetica Neue"/>
                        <a:sym typeface="Helvetica Neue"/>
                      </a:endParaRPr>
                    </a:p>
                  </a:txBody>
                  <a:tcPr marT="45725" marB="45725" marR="91450" marL="91450">
                    <a:solidFill>
                      <a:srgbClr val="F0F0DD"/>
                    </a:solidFill>
                  </a:tcPr>
                </a:tc>
                <a:tc>
                  <a:txBody>
                    <a:bodyPr/>
                    <a:lstStyle/>
                    <a:p>
                      <a:pPr indent="-171450" lvl="0" marL="171450" rtl="0" algn="l">
                        <a:spcBef>
                          <a:spcPts val="0"/>
                        </a:spcBef>
                        <a:spcAft>
                          <a:spcPts val="0"/>
                        </a:spcAft>
                        <a:buClr>
                          <a:schemeClr val="dk1"/>
                        </a:buClr>
                        <a:buSzPts val="1300"/>
                        <a:buChar char="•"/>
                      </a:pPr>
                      <a:r>
                        <a:rPr lang="en-US" sz="1300">
                          <a:latin typeface="Helvetica Neue"/>
                          <a:ea typeface="Helvetica Neue"/>
                          <a:cs typeface="Helvetica Neue"/>
                          <a:sym typeface="Helvetica Neue"/>
                        </a:rPr>
                        <a:t>NULL</a:t>
                      </a:r>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a:t>
                      </a:r>
                      <a:endParaRPr b="0" i="0" sz="1300">
                        <a:latin typeface="Helvetica Neue"/>
                        <a:ea typeface="Helvetica Neue"/>
                        <a:cs typeface="Helvetica Neue"/>
                        <a:sym typeface="Helvetica Neue"/>
                      </a:endParaRPr>
                    </a:p>
                  </a:txBody>
                  <a:tcPr marT="45725" marB="45725" marR="91450" marL="91450">
                    <a:solidFill>
                      <a:srgbClr val="F0F0DD"/>
                    </a:solidFill>
                  </a:tcPr>
                </a:tc>
              </a:tr>
              <a:tr h="828000">
                <a:tc>
                  <a:txBody>
                    <a:bodyPr/>
                    <a:lstStyle/>
                    <a:p>
                      <a:pPr indent="0" lvl="0" marL="0" marR="0" rtl="0" algn="ctr">
                        <a:spcBef>
                          <a:spcPts val="0"/>
                        </a:spcBef>
                        <a:spcAft>
                          <a:spcPts val="0"/>
                        </a:spcAft>
                        <a:buNone/>
                      </a:pPr>
                      <a:r>
                        <a:rPr b="0" i="0" lang="en-US" sz="1300">
                          <a:latin typeface="Helvetica Neue"/>
                          <a:ea typeface="Helvetica Neue"/>
                          <a:cs typeface="Helvetica Neue"/>
                          <a:sym typeface="Helvetica Neue"/>
                        </a:rPr>
                        <a:t>10.</a:t>
                      </a:r>
                      <a:endParaRPr/>
                    </a:p>
                  </a:txBody>
                  <a:tcPr marT="45725" marB="45725" marR="91450" marL="91450">
                    <a:solidFill>
                      <a:srgbClr val="F4F9ED"/>
                    </a:solidFill>
                  </a:tcPr>
                </a:tc>
                <a:tc>
                  <a:txBody>
                    <a:bodyPr/>
                    <a:lstStyle/>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11</a:t>
                      </a:r>
                      <a:r>
                        <a:rPr lang="en-US" sz="1300">
                          <a:latin typeface="Helvetica Neue"/>
                          <a:ea typeface="Helvetica Neue"/>
                          <a:cs typeface="Helvetica Neue"/>
                          <a:sym typeface="Helvetica Neue"/>
                        </a:rPr>
                        <a:t>/11/2025 </a:t>
                      </a:r>
                      <a:endParaRPr/>
                    </a:p>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to</a:t>
                      </a:r>
                      <a:endParaRPr/>
                    </a:p>
                    <a:p>
                      <a:pPr indent="0" lvl="0" marL="0" rtl="0" algn="ctr">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15/11/2025</a:t>
                      </a:r>
                      <a:endParaRPr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171450" lvl="0" marL="171450" rtl="0" algn="l">
                        <a:spcBef>
                          <a:spcPts val="0"/>
                        </a:spcBef>
                        <a:spcAft>
                          <a:spcPts val="0"/>
                        </a:spcAft>
                        <a:buClr>
                          <a:schemeClr val="dk1"/>
                        </a:buClr>
                        <a:buSzPts val="1300"/>
                        <a:buChar char="•"/>
                      </a:pPr>
                      <a:r>
                        <a:rPr lang="en-US" sz="1300">
                          <a:latin typeface="Helvetica Neue"/>
                          <a:ea typeface="Helvetica Neue"/>
                          <a:cs typeface="Helvetica Neue"/>
                          <a:sym typeface="Helvetica Neue"/>
                        </a:rPr>
                        <a:t>NULL</a:t>
                      </a:r>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a:t>
                      </a:r>
                      <a:endParaRPr b="0" i="0" sz="1300">
                        <a:latin typeface="Helvetica Neue"/>
                        <a:ea typeface="Helvetica Neue"/>
                        <a:cs typeface="Helvetica Neue"/>
                        <a:sym typeface="Helvetica Neue"/>
                      </a:endParaRPr>
                    </a:p>
                  </a:txBody>
                  <a:tcPr marT="45725" marB="45725" marR="91450" marL="91450">
                    <a:solidFill>
                      <a:srgbClr val="F4F9ED"/>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ae280144eb_0_361"/>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Supervisor </a:t>
            </a:r>
            <a:r>
              <a:rPr lang="en-US"/>
              <a:t>Interactions</a:t>
            </a:r>
            <a:r>
              <a:rPr lang="en-US" sz="2400"/>
              <a:t> </a:t>
            </a:r>
            <a:r>
              <a:rPr b="0" lang="en-US" sz="2400"/>
              <a:t>(cont…)</a:t>
            </a:r>
            <a:endParaRPr b="0"/>
          </a:p>
        </p:txBody>
      </p:sp>
      <p:sp>
        <p:nvSpPr>
          <p:cNvPr id="303" name="Google Shape;303;g3ae280144eb_0_361"/>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304" name="Google Shape;304;g3ae280144eb_0_361"/>
          <p:cNvGraphicFramePr/>
          <p:nvPr/>
        </p:nvGraphicFramePr>
        <p:xfrm>
          <a:off x="110168" y="881350"/>
          <a:ext cx="3000000" cy="3000000"/>
        </p:xfrm>
        <a:graphic>
          <a:graphicData uri="http://schemas.openxmlformats.org/drawingml/2006/table">
            <a:tbl>
              <a:tblPr bandRow="1" firstRow="1">
                <a:noFill/>
                <a:tableStyleId>{898F8B75-1C41-4D90-AD48-C5B47D00A216}</a:tableStyleId>
              </a:tblPr>
              <a:tblGrid>
                <a:gridCol w="651825"/>
                <a:gridCol w="1364250"/>
                <a:gridCol w="5596575"/>
                <a:gridCol w="1222875"/>
              </a:tblGrid>
              <a:tr h="507400">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Week No.</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Duration</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Remarks (</a:t>
                      </a:r>
                      <a:r>
                        <a:rPr b="1" i="0" lang="en-US" sz="1300">
                          <a:solidFill>
                            <a:schemeClr val="dk1"/>
                          </a:solidFill>
                          <a:latin typeface="Helvetica Neue"/>
                          <a:ea typeface="Helvetica Neue"/>
                          <a:cs typeface="Helvetica Neue"/>
                          <a:sym typeface="Helvetica Neue"/>
                        </a:rPr>
                        <a:t>as mentioned in the weekly log</a:t>
                      </a:r>
                      <a:r>
                        <a:rPr b="0" i="0" lang="en-US" sz="1300">
                          <a:solidFill>
                            <a:schemeClr val="dk1"/>
                          </a:solidFill>
                          <a:latin typeface="Helvetica Neue"/>
                          <a:ea typeface="Helvetica Neue"/>
                          <a:cs typeface="Helvetica Neue"/>
                          <a:sym typeface="Helvetica Neue"/>
                        </a:rPr>
                        <a:t>)</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Incorporated</a:t>
                      </a:r>
                      <a:endParaRPr/>
                    </a:p>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(Yes/No)</a:t>
                      </a:r>
                      <a:endParaRPr/>
                    </a:p>
                  </a:txBody>
                  <a:tcPr marT="45725" marB="45725" marR="91450" marL="91450">
                    <a:solidFill>
                      <a:srgbClr val="D5D59B"/>
                    </a:solidFill>
                  </a:tcPr>
                </a:tc>
              </a:tr>
              <a:tr h="828000">
                <a:tc>
                  <a:txBody>
                    <a:bodyPr/>
                    <a:lstStyle/>
                    <a:p>
                      <a:pPr indent="0" lvl="0" marL="0" marR="0" rtl="0" algn="ctr">
                        <a:spcBef>
                          <a:spcPts val="0"/>
                        </a:spcBef>
                        <a:spcAft>
                          <a:spcPts val="0"/>
                        </a:spcAft>
                        <a:buNone/>
                      </a:pPr>
                      <a:r>
                        <a:rPr lang="en-US" sz="1300">
                          <a:latin typeface="Helvetica Neue"/>
                          <a:ea typeface="Helvetica Neue"/>
                          <a:cs typeface="Helvetica Neue"/>
                          <a:sym typeface="Helvetica Neue"/>
                        </a:rPr>
                        <a:t>11</a:t>
                      </a:r>
                      <a:r>
                        <a:rPr b="0" i="0" lang="en-US" sz="1300">
                          <a:latin typeface="Helvetica Neue"/>
                          <a:ea typeface="Helvetica Neue"/>
                          <a:cs typeface="Helvetica Neue"/>
                          <a:sym typeface="Helvetica Neue"/>
                        </a:rPr>
                        <a:t>.</a:t>
                      </a:r>
                      <a:endParaRPr/>
                    </a:p>
                  </a:txBody>
                  <a:tcPr marT="45725" marB="45725" marR="91450" marL="91450">
                    <a:solidFill>
                      <a:srgbClr val="F4F9ED"/>
                    </a:solidFill>
                  </a:tcPr>
                </a:tc>
                <a:tc>
                  <a:txBody>
                    <a:bodyPr/>
                    <a:lstStyle/>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16/11/2025 </a:t>
                      </a:r>
                      <a:endParaRPr/>
                    </a:p>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to</a:t>
                      </a:r>
                      <a:endParaRPr/>
                    </a:p>
                    <a:p>
                      <a:pPr indent="0" lvl="0" marL="0" rtl="0" algn="ctr">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19/11/2025</a:t>
                      </a:r>
                      <a:endParaRPr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171450" lvl="0" marL="171450" marR="0" rtl="0" algn="l">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Try implementing other models for better accuracy and efficiency</a:t>
                      </a:r>
                      <a:endParaRPr/>
                    </a:p>
                    <a:p>
                      <a:pPr indent="-171450" lvl="0" marL="171450" marR="0" rtl="0" algn="l">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summarize all the coding part </a:t>
                      </a:r>
                      <a:endParaRPr/>
                    </a:p>
                    <a:p>
                      <a:pPr indent="-171450" lvl="0" marL="171450" marR="0" rtl="0" algn="l">
                        <a:lnSpc>
                          <a:spcPct val="100000"/>
                        </a:lnSpc>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Add summary tables to the report </a:t>
                      </a:r>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Yes</a:t>
                      </a:r>
                      <a:endParaRPr b="0" i="0" sz="1300">
                        <a:latin typeface="Helvetica Neue"/>
                        <a:ea typeface="Helvetica Neue"/>
                        <a:cs typeface="Helvetica Neue"/>
                        <a:sym typeface="Helvetica Neue"/>
                      </a:endParaRPr>
                    </a:p>
                  </a:txBody>
                  <a:tcPr marT="45725" marB="45725" marR="91450" marL="91450">
                    <a:solidFill>
                      <a:srgbClr val="F4F9ED"/>
                    </a:solidFill>
                  </a:tcPr>
                </a:tc>
              </a:tr>
              <a:tr h="828000">
                <a:tc>
                  <a:txBody>
                    <a:bodyPr/>
                    <a:lstStyle/>
                    <a:p>
                      <a:pPr indent="0" lvl="0" marL="0" marR="0" rtl="0" algn="ctr">
                        <a:spcBef>
                          <a:spcPts val="0"/>
                        </a:spcBef>
                        <a:spcAft>
                          <a:spcPts val="0"/>
                        </a:spcAft>
                        <a:buNone/>
                      </a:pPr>
                      <a:r>
                        <a:rPr lang="en-US" sz="1300">
                          <a:latin typeface="Helvetica Neue"/>
                          <a:ea typeface="Helvetica Neue"/>
                          <a:cs typeface="Helvetica Neue"/>
                          <a:sym typeface="Helvetica Neue"/>
                        </a:rPr>
                        <a:t>12</a:t>
                      </a:r>
                      <a:r>
                        <a:rPr b="0" i="0" lang="en-US" sz="1300">
                          <a:latin typeface="Helvetica Neue"/>
                          <a:ea typeface="Helvetica Neue"/>
                          <a:cs typeface="Helvetica Neue"/>
                          <a:sym typeface="Helvetica Neue"/>
                        </a:rPr>
                        <a:t>.</a:t>
                      </a:r>
                      <a:endParaRPr/>
                    </a:p>
                  </a:txBody>
                  <a:tcPr marT="45725" marB="45725" marR="91450" marL="91450">
                    <a:solidFill>
                      <a:srgbClr val="F0F0DD"/>
                    </a:solidFill>
                  </a:tcPr>
                </a:tc>
                <a:tc>
                  <a:txBody>
                    <a:bodyPr/>
                    <a:lstStyle/>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20/11/2025 </a:t>
                      </a:r>
                      <a:endParaRPr/>
                    </a:p>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to</a:t>
                      </a:r>
                      <a:endParaRPr/>
                    </a:p>
                    <a:p>
                      <a:pPr indent="0" lvl="0" marL="0" rtl="0" algn="ctr">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26/10/2025</a:t>
                      </a:r>
                      <a:endParaRPr sz="1300">
                        <a:latin typeface="Helvetica Neue"/>
                        <a:ea typeface="Helvetica Neue"/>
                        <a:cs typeface="Helvetica Neue"/>
                        <a:sym typeface="Helvetica Neue"/>
                      </a:endParaRPr>
                    </a:p>
                  </a:txBody>
                  <a:tcPr marT="45725" marB="45725" marR="91450" marL="91450">
                    <a:solidFill>
                      <a:srgbClr val="F0F0DD"/>
                    </a:solidFill>
                  </a:tcPr>
                </a:tc>
                <a:tc>
                  <a:txBody>
                    <a:bodyPr/>
                    <a:lstStyle/>
                    <a:p>
                      <a:pPr indent="-171450" lvl="0" marL="171450" marR="0" rtl="0" algn="l">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Add more test cases.</a:t>
                      </a:r>
                      <a:endParaRPr/>
                    </a:p>
                    <a:p>
                      <a:pPr indent="-171450" lvl="0" marL="171450" marR="0" rtl="0" algn="l">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calibrate the results.</a:t>
                      </a:r>
                      <a:endParaRPr/>
                    </a:p>
                    <a:p>
                      <a:pPr indent="-171450" lvl="0" marL="171450" marR="0" rtl="0" algn="l">
                        <a:lnSpc>
                          <a:spcPct val="100000"/>
                        </a:lnSpc>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compare results of different used models </a:t>
                      </a:r>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Yes</a:t>
                      </a:r>
                      <a:endParaRPr b="0" i="0" sz="1300">
                        <a:latin typeface="Helvetica Neue"/>
                        <a:ea typeface="Helvetica Neue"/>
                        <a:cs typeface="Helvetica Neue"/>
                        <a:sym typeface="Helvetica Neue"/>
                      </a:endParaRPr>
                    </a:p>
                  </a:txBody>
                  <a:tcPr marT="45725" marB="45725" marR="91450" marL="91450">
                    <a:solidFill>
                      <a:srgbClr val="F0F0DD"/>
                    </a:solidFill>
                  </a:tcPr>
                </a:tc>
              </a:tr>
              <a:tr h="828000">
                <a:tc>
                  <a:txBody>
                    <a:bodyPr/>
                    <a:lstStyle/>
                    <a:p>
                      <a:pPr indent="0" lvl="0" marL="0" marR="0" rtl="0" algn="ctr">
                        <a:spcBef>
                          <a:spcPts val="0"/>
                        </a:spcBef>
                        <a:spcAft>
                          <a:spcPts val="0"/>
                        </a:spcAft>
                        <a:buNone/>
                      </a:pPr>
                      <a:r>
                        <a:rPr lang="en-US" sz="1300">
                          <a:latin typeface="Helvetica Neue"/>
                          <a:ea typeface="Helvetica Neue"/>
                          <a:cs typeface="Helvetica Neue"/>
                          <a:sym typeface="Helvetica Neue"/>
                        </a:rPr>
                        <a:t>13</a:t>
                      </a:r>
                      <a:r>
                        <a:rPr b="0" i="0" lang="en-US" sz="1300">
                          <a:latin typeface="Helvetica Neue"/>
                          <a:ea typeface="Helvetica Neue"/>
                          <a:cs typeface="Helvetica Neue"/>
                          <a:sym typeface="Helvetica Neue"/>
                        </a:rPr>
                        <a:t>.</a:t>
                      </a:r>
                      <a:endParaRPr/>
                    </a:p>
                  </a:txBody>
                  <a:tcPr marT="45725" marB="45725" marR="91450" marL="91450">
                    <a:solidFill>
                      <a:srgbClr val="F4F9ED"/>
                    </a:solidFill>
                  </a:tcPr>
                </a:tc>
                <a:tc>
                  <a:txBody>
                    <a:bodyPr/>
                    <a:lstStyle/>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27/10/2025 </a:t>
                      </a:r>
                      <a:endParaRPr/>
                    </a:p>
                    <a:p>
                      <a:pPr indent="0" lvl="0" marL="0" rtl="0" algn="ctr">
                        <a:spcBef>
                          <a:spcPts val="0"/>
                        </a:spcBef>
                        <a:spcAft>
                          <a:spcPts val="0"/>
                        </a:spcAft>
                        <a:buClr>
                          <a:schemeClr val="dk1"/>
                        </a:buClr>
                        <a:buFont typeface="Arial"/>
                        <a:buNone/>
                      </a:pPr>
                      <a:r>
                        <a:rPr lang="en-US" sz="1300">
                          <a:latin typeface="Helvetica Neue"/>
                          <a:ea typeface="Helvetica Neue"/>
                          <a:cs typeface="Helvetica Neue"/>
                          <a:sym typeface="Helvetica Neue"/>
                        </a:rPr>
                        <a:t>to</a:t>
                      </a:r>
                      <a:endParaRPr/>
                    </a:p>
                    <a:p>
                      <a:pPr indent="0" lvl="0" marL="0" rtl="0" algn="ctr">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29/11/2025</a:t>
                      </a:r>
                      <a:endParaRPr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171450" lvl="0" marL="171450" marR="0" rtl="0" algn="l">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Add pipeline architecture to the report.</a:t>
                      </a:r>
                      <a:endParaRPr/>
                    </a:p>
                    <a:p>
                      <a:pPr indent="-171450" lvl="0" marL="171450" marR="0" rtl="0" algn="l">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Add performance tables.</a:t>
                      </a:r>
                      <a:endParaRPr/>
                    </a:p>
                    <a:p>
                      <a:pPr indent="-171450" lvl="0" marL="171450" marR="0" rtl="0" algn="l">
                        <a:lnSpc>
                          <a:spcPct val="100000"/>
                        </a:lnSpc>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Mention all comparison parameters.</a:t>
                      </a:r>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Yes</a:t>
                      </a:r>
                      <a:endParaRPr b="0" i="0" sz="1300">
                        <a:latin typeface="Helvetica Neue"/>
                        <a:ea typeface="Helvetica Neue"/>
                        <a:cs typeface="Helvetica Neue"/>
                        <a:sym typeface="Helvetica Neue"/>
                      </a:endParaRPr>
                    </a:p>
                  </a:txBody>
                  <a:tcPr marT="45725" marB="45725" marR="91450" marL="91450">
                    <a:solidFill>
                      <a:srgbClr val="F4F9ED"/>
                    </a:solidFill>
                  </a:tcPr>
                </a:tc>
              </a:tr>
              <a:tr h="828000">
                <a:tc>
                  <a:txBody>
                    <a:bodyPr/>
                    <a:lstStyle/>
                    <a:p>
                      <a:pPr indent="0" lvl="0" marL="0" marR="0" rtl="0" algn="l">
                        <a:spcBef>
                          <a:spcPts val="0"/>
                        </a:spcBef>
                        <a:spcAft>
                          <a:spcPts val="0"/>
                        </a:spcAft>
                        <a:buNone/>
                      </a:pPr>
                      <a:r>
                        <a:t/>
                      </a:r>
                      <a:endParaRPr/>
                    </a:p>
                  </a:txBody>
                  <a:tcPr marT="45725" marB="45725" marR="91450" marL="91450">
                    <a:solidFill>
                      <a:srgbClr val="F0F0DD"/>
                    </a:solidFill>
                  </a:tcPr>
                </a:tc>
                <a:tc>
                  <a:txBody>
                    <a:bodyPr/>
                    <a:lstStyle/>
                    <a:p>
                      <a:pPr indent="0" lvl="0" marL="0" rtl="0" algn="ctr">
                        <a:spcBef>
                          <a:spcPts val="0"/>
                        </a:spcBef>
                        <a:spcAft>
                          <a:spcPts val="0"/>
                        </a:spcAft>
                        <a:buClr>
                          <a:schemeClr val="dk1"/>
                        </a:buClr>
                        <a:buSzPts val="1300"/>
                        <a:buFont typeface="Helvetica Neue"/>
                        <a:buNone/>
                      </a:pPr>
                      <a:r>
                        <a:t/>
                      </a:r>
                      <a:endParaRPr sz="13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457200" marR="0" rtl="0" algn="l">
                        <a:lnSpc>
                          <a:spcPct val="100000"/>
                        </a:lnSpc>
                        <a:spcBef>
                          <a:spcPts val="0"/>
                        </a:spcBef>
                        <a:spcAft>
                          <a:spcPts val="0"/>
                        </a:spcAft>
                        <a:buNone/>
                      </a:pPr>
                      <a:r>
                        <a:t/>
                      </a:r>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t/>
                      </a:r>
                      <a:endParaRPr b="0" i="0" sz="1300">
                        <a:latin typeface="Helvetica Neue"/>
                        <a:ea typeface="Helvetica Neue"/>
                        <a:cs typeface="Helvetica Neue"/>
                        <a:sym typeface="Helvetica Neue"/>
                      </a:endParaRPr>
                    </a:p>
                  </a:txBody>
                  <a:tcPr marT="45725" marB="45725" marR="91450" marL="91450">
                    <a:solidFill>
                      <a:srgbClr val="F0F0DD"/>
                    </a:solidFill>
                  </a:tcPr>
                </a:tc>
              </a:tr>
              <a:tr h="828000">
                <a:tc>
                  <a:txBody>
                    <a:bodyPr/>
                    <a:lstStyle/>
                    <a:p>
                      <a:pPr indent="0" lvl="0" marL="0" marR="0" rtl="0" algn="ctr">
                        <a:spcBef>
                          <a:spcPts val="0"/>
                        </a:spcBef>
                        <a:spcAft>
                          <a:spcPts val="0"/>
                        </a:spcAft>
                        <a:buNone/>
                      </a:pPr>
                      <a:r>
                        <a:t/>
                      </a:r>
                      <a:endParaRPr/>
                    </a:p>
                  </a:txBody>
                  <a:tcPr marT="45725" marB="45725" marR="91450" marL="91450">
                    <a:solidFill>
                      <a:srgbClr val="F4F9ED"/>
                    </a:solidFill>
                  </a:tcPr>
                </a:tc>
                <a:tc>
                  <a:txBody>
                    <a:bodyPr/>
                    <a:lstStyle/>
                    <a:p>
                      <a:pPr indent="0" lvl="0" marL="0" rtl="0" algn="ctr">
                        <a:spcBef>
                          <a:spcPts val="0"/>
                        </a:spcBef>
                        <a:spcAft>
                          <a:spcPts val="0"/>
                        </a:spcAft>
                        <a:buClr>
                          <a:schemeClr val="dk1"/>
                        </a:buClr>
                        <a:buFont typeface="Arial"/>
                        <a:buNone/>
                      </a:pPr>
                      <a:r>
                        <a:t/>
                      </a:r>
                      <a:endParaRPr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457200" marR="0" rtl="0" algn="l">
                        <a:lnSpc>
                          <a:spcPct val="100000"/>
                        </a:lnSpc>
                        <a:spcBef>
                          <a:spcPts val="0"/>
                        </a:spcBef>
                        <a:spcAft>
                          <a:spcPts val="0"/>
                        </a:spcAft>
                        <a:buNone/>
                      </a:pPr>
                      <a:r>
                        <a:t/>
                      </a:r>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t/>
                      </a:r>
                      <a:endParaRPr b="0" i="0" sz="1300">
                        <a:latin typeface="Helvetica Neue"/>
                        <a:ea typeface="Helvetica Neue"/>
                        <a:cs typeface="Helvetica Neue"/>
                        <a:sym typeface="Helvetica Neue"/>
                      </a:endParaRPr>
                    </a:p>
                  </a:txBody>
                  <a:tcPr marT="45725" marB="45725" marR="91450" marL="91450">
                    <a:solidFill>
                      <a:srgbClr val="F4F9ED"/>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8"/>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Future Work</a:t>
            </a:r>
            <a:endParaRPr/>
          </a:p>
        </p:txBody>
      </p:sp>
      <p:sp>
        <p:nvSpPr>
          <p:cNvPr id="310" name="Google Shape;310;p28"/>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342900" lvl="0" marL="457200" marR="0" rtl="0" algn="just">
              <a:lnSpc>
                <a:spcPct val="150000"/>
              </a:lnSpc>
              <a:spcBef>
                <a:spcPts val="0"/>
              </a:spcBef>
              <a:spcAft>
                <a:spcPts val="0"/>
              </a:spcAft>
              <a:buClr>
                <a:schemeClr val="dk1"/>
              </a:buClr>
              <a:buSzPts val="1800"/>
              <a:buFont typeface="Times New Roman"/>
              <a:buChar char="●"/>
            </a:pPr>
            <a:r>
              <a:rPr b="1" lang="en-US" sz="1800">
                <a:solidFill>
                  <a:schemeClr val="dk1"/>
                </a:solidFill>
                <a:latin typeface="Helvetica Neue"/>
                <a:ea typeface="Helvetica Neue"/>
                <a:cs typeface="Helvetica Neue"/>
                <a:sym typeface="Helvetica Neue"/>
              </a:rPr>
              <a:t>Establish Evaluation &amp; Explainability Mechanisms</a:t>
            </a:r>
            <a:r>
              <a:rPr lang="en-US" sz="1800">
                <a:solidFill>
                  <a:schemeClr val="dk1"/>
                </a:solidFill>
                <a:latin typeface="Helvetica Neue"/>
                <a:ea typeface="Helvetica Neue"/>
                <a:cs typeface="Helvetica Neue"/>
                <a:sym typeface="Helvetica Neue"/>
              </a:rPr>
              <a:t> – Design frameworks for answer quality assessment, evidence transparency, and manual validation of retrieval-generated pairs.</a:t>
            </a:r>
            <a:endParaRPr sz="1800">
              <a:solidFill>
                <a:schemeClr val="dk1"/>
              </a:solidFill>
              <a:latin typeface="Helvetica Neue"/>
              <a:ea typeface="Helvetica Neue"/>
              <a:cs typeface="Helvetica Neue"/>
              <a:sym typeface="Helvetica Neue"/>
            </a:endParaRPr>
          </a:p>
          <a:p>
            <a:pPr indent="-342900" lvl="0" marL="457200" marR="0" rtl="0" algn="just">
              <a:lnSpc>
                <a:spcPct val="150000"/>
              </a:lnSpc>
              <a:spcBef>
                <a:spcPts val="0"/>
              </a:spcBef>
              <a:spcAft>
                <a:spcPts val="0"/>
              </a:spcAft>
              <a:buClr>
                <a:schemeClr val="dk1"/>
              </a:buClr>
              <a:buSzPts val="1800"/>
              <a:buFont typeface="Times New Roman"/>
              <a:buChar char="●"/>
            </a:pPr>
            <a:r>
              <a:rPr b="1" lang="en-US" sz="1800">
                <a:solidFill>
                  <a:schemeClr val="dk1"/>
                </a:solidFill>
                <a:latin typeface="Helvetica Neue"/>
                <a:ea typeface="Helvetica Neue"/>
                <a:cs typeface="Helvetica Neue"/>
                <a:sym typeface="Helvetica Neue"/>
              </a:rPr>
              <a:t>Create Production Deployment Pipeline</a:t>
            </a:r>
            <a:r>
              <a:rPr lang="en-US" sz="1800">
                <a:solidFill>
                  <a:schemeClr val="dk1"/>
                </a:solidFill>
                <a:latin typeface="Helvetica Neue"/>
                <a:ea typeface="Helvetica Neue"/>
                <a:cs typeface="Helvetica Neue"/>
                <a:sym typeface="Helvetica Neue"/>
              </a:rPr>
              <a:t> – Establish CI/CD infrastructure, monitoring, and feedback loops for continuous improvement in real-world academic compliance scenarios.</a:t>
            </a:r>
            <a:endParaRPr sz="1800">
              <a:solidFill>
                <a:schemeClr val="dk1"/>
              </a:solidFill>
              <a:latin typeface="Helvetica Neue"/>
              <a:ea typeface="Helvetica Neue"/>
              <a:cs typeface="Helvetica Neue"/>
              <a:sym typeface="Helvetica Neue"/>
            </a:endParaRPr>
          </a:p>
          <a:p>
            <a:pPr indent="-342900" lvl="0" marL="457200" marR="0" rtl="0" algn="just">
              <a:lnSpc>
                <a:spcPct val="150000"/>
              </a:lnSpc>
              <a:spcBef>
                <a:spcPts val="0"/>
              </a:spcBef>
              <a:spcAft>
                <a:spcPts val="0"/>
              </a:spcAft>
              <a:buClr>
                <a:schemeClr val="dk1"/>
              </a:buClr>
              <a:buSzPts val="1800"/>
              <a:buFont typeface="Times New Roman"/>
              <a:buChar char="●"/>
            </a:pPr>
            <a:r>
              <a:rPr b="1" lang="en-US" sz="1800">
                <a:solidFill>
                  <a:schemeClr val="dk1"/>
                </a:solidFill>
                <a:latin typeface="Helvetica Neue"/>
                <a:ea typeface="Helvetica Neue"/>
                <a:cs typeface="Helvetica Neue"/>
                <a:sym typeface="Helvetica Neue"/>
              </a:rPr>
              <a:t>Create a User interface</a:t>
            </a:r>
            <a:r>
              <a:rPr lang="en-US" sz="1800">
                <a:solidFill>
                  <a:schemeClr val="dk1"/>
                </a:solidFill>
                <a:latin typeface="Helvetica Neue"/>
                <a:ea typeface="Helvetica Neue"/>
                <a:cs typeface="Helvetica Neue"/>
                <a:sym typeface="Helvetica Neue"/>
              </a:rPr>
              <a:t> – Building a simple web or chat interface would make the system accessible to non‑technical users.</a:t>
            </a:r>
            <a:endParaRPr sz="1800">
              <a:solidFill>
                <a:schemeClr val="dk1"/>
              </a:solidFill>
              <a:latin typeface="Helvetica Neue"/>
              <a:ea typeface="Helvetica Neue"/>
              <a:cs typeface="Helvetica Neue"/>
              <a:sym typeface="Helvetica Neue"/>
            </a:endParaRPr>
          </a:p>
          <a:p>
            <a:pPr indent="-342900" lvl="0" marL="457200" marR="0" rtl="0" algn="just">
              <a:lnSpc>
                <a:spcPct val="150000"/>
              </a:lnSpc>
              <a:spcBef>
                <a:spcPts val="0"/>
              </a:spcBef>
              <a:spcAft>
                <a:spcPts val="0"/>
              </a:spcAft>
              <a:buClr>
                <a:schemeClr val="dk1"/>
              </a:buClr>
              <a:buSzPts val="1800"/>
              <a:buFont typeface="Times New Roman"/>
              <a:buChar char="●"/>
            </a:pPr>
            <a:r>
              <a:rPr b="1" lang="en-US" sz="1800">
                <a:solidFill>
                  <a:schemeClr val="dk1"/>
                </a:solidFill>
                <a:latin typeface="Helvetica Neue"/>
                <a:ea typeface="Helvetica Neue"/>
                <a:cs typeface="Helvetica Neue"/>
                <a:sym typeface="Helvetica Neue"/>
              </a:rPr>
              <a:t>Optimising retrieval and generation capabilities</a:t>
            </a:r>
            <a:r>
              <a:rPr lang="en-US" sz="1800">
                <a:solidFill>
                  <a:schemeClr val="dk1"/>
                </a:solidFill>
                <a:latin typeface="Helvetica Neue"/>
                <a:ea typeface="Helvetica Neue"/>
                <a:cs typeface="Helvetica Neue"/>
                <a:sym typeface="Helvetica Neue"/>
              </a:rPr>
              <a:t> – </a:t>
            </a:r>
            <a:r>
              <a:rPr lang="en-US" sz="1800">
                <a:solidFill>
                  <a:schemeClr val="dk1"/>
                </a:solidFill>
                <a:latin typeface="Helvetica Neue"/>
                <a:ea typeface="Helvetica Neue"/>
                <a:cs typeface="Helvetica Neue"/>
                <a:sym typeface="Helvetica Neue"/>
              </a:rPr>
              <a:t>Testing</a:t>
            </a:r>
            <a:r>
              <a:rPr lang="en-US" sz="1800">
                <a:solidFill>
                  <a:schemeClr val="dk1"/>
                </a:solidFill>
                <a:latin typeface="Helvetica Neue"/>
                <a:ea typeface="Helvetica Neue"/>
                <a:cs typeface="Helvetica Neue"/>
                <a:sym typeface="Helvetica Neue"/>
              </a:rPr>
              <a:t> on more LLM models to perfect </a:t>
            </a:r>
            <a:r>
              <a:rPr lang="en-US" sz="1800">
                <a:solidFill>
                  <a:schemeClr val="dk1"/>
                </a:solidFill>
                <a:latin typeface="Helvetica Neue"/>
                <a:ea typeface="Helvetica Neue"/>
                <a:cs typeface="Helvetica Neue"/>
                <a:sym typeface="Helvetica Neue"/>
              </a:rPr>
              <a:t>the generated answers and prevent hallucinations.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9"/>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Project Plan</a:t>
            </a:r>
            <a:endParaRPr/>
          </a:p>
        </p:txBody>
      </p:sp>
      <p:sp>
        <p:nvSpPr>
          <p:cNvPr id="316" name="Google Shape;316;p29"/>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457200" marR="0" rtl="0" algn="just">
              <a:lnSpc>
                <a:spcPct val="150000"/>
              </a:lnSpc>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317" name="Google Shape;317;p29"/>
          <p:cNvPicPr preferRelativeResize="0"/>
          <p:nvPr/>
        </p:nvPicPr>
        <p:blipFill>
          <a:blip r:embed="rId3">
            <a:alphaModFix/>
          </a:blip>
          <a:stretch>
            <a:fillRect/>
          </a:stretch>
        </p:blipFill>
        <p:spPr>
          <a:xfrm>
            <a:off x="186338" y="1407062"/>
            <a:ext cx="8771324" cy="4589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ae280144eb_0_386"/>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References</a:t>
            </a:r>
            <a:endParaRPr/>
          </a:p>
        </p:txBody>
      </p:sp>
      <p:sp>
        <p:nvSpPr>
          <p:cNvPr id="323" name="Google Shape;323;g3ae280144eb_0_386"/>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None/>
            </a:pPr>
            <a:r>
              <a:rPr lang="en-US" sz="1300">
                <a:solidFill>
                  <a:schemeClr val="dk1"/>
                </a:solidFill>
                <a:latin typeface="Helvetica Neue"/>
                <a:ea typeface="Helvetica Neue"/>
                <a:cs typeface="Helvetica Neue"/>
                <a:sym typeface="Helvetica Neue"/>
              </a:rPr>
              <a:t>[1] A. Bernauer and R. A. Eisenberg, "Eiger: Auditable, executable, flexible legal regulations," arXiv preprint arXiv:2205.04754, May 2022. [Online]. Available:</a:t>
            </a:r>
            <a:r>
              <a:rPr lang="en-US" sz="1300">
                <a:solidFill>
                  <a:schemeClr val="dk1"/>
                </a:solidFill>
                <a:uFill>
                  <a:noFill/>
                </a:uFill>
                <a:latin typeface="Helvetica Neue"/>
                <a:ea typeface="Helvetica Neue"/>
                <a:cs typeface="Helvetica Neue"/>
                <a:sym typeface="Helvetica Neue"/>
                <a:hlinkClick r:id="rId3">
                  <a:extLst>
                    <a:ext uri="{A12FA001-AC4F-418D-AE19-62706E023703}">
                      <ahyp:hlinkClr val="tx"/>
                    </a:ext>
                  </a:extLst>
                </a:hlinkClick>
              </a:rPr>
              <a:t> </a:t>
            </a:r>
            <a:r>
              <a:rPr lang="en-US" sz="1300" u="sng">
                <a:solidFill>
                  <a:schemeClr val="hlink"/>
                </a:solidFill>
                <a:latin typeface="Helvetica Neue"/>
                <a:ea typeface="Helvetica Neue"/>
                <a:cs typeface="Helvetica Neue"/>
                <a:sym typeface="Helvetica Neue"/>
                <a:hlinkClick r:id="rId4"/>
              </a:rPr>
              <a:t>https://arxiv.org/abs/2205.04754</a:t>
            </a:r>
            <a:endParaRPr sz="1300" u="sng">
              <a:solidFill>
                <a:schemeClr val="hlink"/>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US" sz="1300">
                <a:solidFill>
                  <a:schemeClr val="dk1"/>
                </a:solidFill>
                <a:latin typeface="Helvetica Neue"/>
                <a:ea typeface="Helvetica Neue"/>
                <a:cs typeface="Helvetica Neue"/>
                <a:sym typeface="Helvetica Neue"/>
              </a:rPr>
              <a:t>[2] H. Zhang, P.-N. Kung, M. Yoshida, G. Van den Broeck, and N. Peng, "Adaptable logical control for large language models," in Proc. Advances in Neural Information Processing Systems (NeurIPS), Vancouver, Canada, Dec. 2024, pp. 15234-15251.</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US" sz="1300">
                <a:solidFill>
                  <a:schemeClr val="dk1"/>
                </a:solidFill>
                <a:latin typeface="Helvetica Neue"/>
                <a:ea typeface="Helvetica Neue"/>
                <a:cs typeface="Helvetica Neue"/>
                <a:sym typeface="Helvetica Neue"/>
              </a:rPr>
              <a:t>[3] C. Liang, J. Berant, Q. Le, K. D. Forbus, and N. Lao, "Neural symbolic machines: Learning semantic parsers on Freebase with weak supervision," in Proc. 55th Annual Meeting of the Association for Computational Linguistics (ACL), Vancouver, Canada, Jul. 2017, pp. 23–33, doi: 10.18653/v1/P17-1003.</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US" sz="1300">
                <a:solidFill>
                  <a:schemeClr val="dk1"/>
                </a:solidFill>
                <a:latin typeface="Helvetica Neue"/>
                <a:ea typeface="Helvetica Neue"/>
                <a:cs typeface="Helvetica Neue"/>
                <a:sym typeface="Helvetica Neue"/>
              </a:rPr>
              <a:t>[4] P. Lewis, E. Perez, A. Piktus, F. Petroni, V. Karpukhin, N. Goyal, H. Küttler, M. Lewis, W.-T. Yih, T. Rocktäschel, S. Riedel, and D. Kiela, "Retrieval-augmented generation for knowledge-intensive NLP tasks," in Proc. Advances in Neural Information Processing Systems (NeurIPS), vol. 33, 2020, pp. 9459–9474.</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US" sz="1300">
                <a:solidFill>
                  <a:schemeClr val="dk1"/>
                </a:solidFill>
                <a:latin typeface="Helvetica Neue"/>
                <a:ea typeface="Helvetica Neue"/>
                <a:cs typeface="Helvetica Neue"/>
                <a:sym typeface="Helvetica Neue"/>
              </a:rPr>
              <a:t>[5] S. Geng, M. Josifoski, M. Peyrard, and R. West, "Grammar-constrained decoding for structured NLP tasks without finetuning," in Proc. 2023 Conference on Empirical Methods in Natural Language Processing (EMNLP), Singapore, Dec. 2023, pp. 4227–4243, doi: 10.18653/v1/2023.emnlp-main.260.</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US" sz="1300">
                <a:solidFill>
                  <a:schemeClr val="dk1"/>
                </a:solidFill>
                <a:latin typeface="Helvetica Neue"/>
                <a:ea typeface="Helvetica Neue"/>
                <a:cs typeface="Helvetica Neue"/>
                <a:sym typeface="Helvetica Neue"/>
              </a:rPr>
              <a:t>[6] V. Sudhi, S. Ramakanth Bhat, M. Rudat, and R. Teucher, "RAG-Ex: A generic framework for explaining retrieval augmented generation," Applied Intelligence, vol. 54, no. 8, pp. 6543–6562, Apr. 2024, doi: 10.1007/s10489-024-05398-2.</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1200"/>
              </a:spcAft>
              <a:buNone/>
            </a:pPr>
            <a:r>
              <a:rPr lang="en-US" sz="1300">
                <a:solidFill>
                  <a:schemeClr val="dk1"/>
                </a:solidFill>
                <a:latin typeface="Helvetica Neue"/>
                <a:ea typeface="Helvetica Neue"/>
                <a:cs typeface="Helvetica Neue"/>
                <a:sym typeface="Helvetica Neue"/>
              </a:rPr>
              <a:t>[7] R. Friel, M. Belyi, and A. Sanyal, "RAGBench: Explainable benchmark for retrieval-augmented generation systems," arXiv preprint arXiv:2501.03847, Jan. 2025. [Online]. Available:</a:t>
            </a:r>
            <a:r>
              <a:rPr lang="en-US" sz="1300">
                <a:solidFill>
                  <a:schemeClr val="dk1"/>
                </a:solidFill>
                <a:uFill>
                  <a:noFill/>
                </a:uFill>
                <a:latin typeface="Helvetica Neue"/>
                <a:ea typeface="Helvetica Neue"/>
                <a:cs typeface="Helvetica Neue"/>
                <a:sym typeface="Helvetica Neue"/>
                <a:hlinkClick r:id="rId5">
                  <a:extLst>
                    <a:ext uri="{A12FA001-AC4F-418D-AE19-62706E023703}">
                      <ahyp:hlinkClr val="tx"/>
                    </a:ext>
                  </a:extLst>
                </a:hlinkClick>
              </a:rPr>
              <a:t> </a:t>
            </a:r>
            <a:r>
              <a:rPr lang="en-US" sz="1300" u="sng">
                <a:solidFill>
                  <a:schemeClr val="hlink"/>
                </a:solidFill>
                <a:latin typeface="Helvetica Neue"/>
                <a:ea typeface="Helvetica Neue"/>
                <a:cs typeface="Helvetica Neue"/>
                <a:sym typeface="Helvetica Neue"/>
                <a:hlinkClick r:id="rId6"/>
              </a:rPr>
              <a:t>https://arxiv.org/abs/2501.03847</a:t>
            </a:r>
            <a:endParaRPr sz="12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ae280144eb_0_405"/>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References </a:t>
            </a:r>
            <a:r>
              <a:rPr b="0" lang="en-US" sz="2400"/>
              <a:t>(cont…)</a:t>
            </a:r>
            <a:endParaRPr/>
          </a:p>
        </p:txBody>
      </p:sp>
      <p:sp>
        <p:nvSpPr>
          <p:cNvPr id="329" name="Google Shape;329;g3ae280144eb_0_405"/>
          <p:cNvSpPr txBox="1"/>
          <p:nvPr/>
        </p:nvSpPr>
        <p:spPr>
          <a:xfrm>
            <a:off x="77125" y="804225"/>
            <a:ext cx="8956800" cy="58512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Clr>
                <a:schemeClr val="dk1"/>
              </a:buClr>
              <a:buSzPts val="1100"/>
              <a:buFont typeface="Arial"/>
              <a:buNone/>
            </a:pPr>
            <a:r>
              <a:rPr lang="en-US" sz="1300">
                <a:solidFill>
                  <a:schemeClr val="dk1"/>
                </a:solidFill>
                <a:latin typeface="Helvetica Neue"/>
                <a:ea typeface="Helvetica Neue"/>
                <a:cs typeface="Helvetica Neue"/>
                <a:sym typeface="Helvetica Neue"/>
              </a:rPr>
              <a:t>[8] </a:t>
            </a:r>
            <a:r>
              <a:rPr lang="en-US" sz="1300">
                <a:solidFill>
                  <a:schemeClr val="dk1"/>
                </a:solidFill>
                <a:latin typeface="Helvetica Neue"/>
                <a:ea typeface="Helvetica Neue"/>
                <a:cs typeface="Helvetica Neue"/>
                <a:sym typeface="Helvetica Neue"/>
              </a:rPr>
              <a:t>Zheng, L., Guha, N., Arifov, J., Zhang, S., Skreta, M., Manning, C. D., Henderson, P., &amp; Ho, D. E. (2025). A Reasoning-Focused Legal Retrieval Benchmark. In Proceedings of the 2025 Symposium on Computer Science and Law (CSLAW ’25), 169–193. DOI: 10.1145/3709025.3712219.</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US" sz="1300">
                <a:solidFill>
                  <a:schemeClr val="dk1"/>
                </a:solidFill>
                <a:latin typeface="Helvetica Neue"/>
                <a:ea typeface="Helvetica Neue"/>
                <a:cs typeface="Helvetica Neue"/>
                <a:sym typeface="Helvetica Neue"/>
              </a:rPr>
              <a:t>[9] J. N. Arellana D'Aleman and A. Perera Lluna, "Development of a RAG system to derive requirements from regulation," in Proc. 2025 IEEE International Conference on Systems, Man, and Cybernetics (SMC), Barcelona, Spain, Apr. 2025, pp. 1245-1252.</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US" sz="1300">
                <a:solidFill>
                  <a:schemeClr val="dk1"/>
                </a:solidFill>
                <a:latin typeface="Helvetica Neue"/>
                <a:ea typeface="Helvetica Neue"/>
                <a:cs typeface="Helvetica Neue"/>
                <a:sym typeface="Helvetica Neue"/>
              </a:rPr>
              <a:t>[10] Y. Amazou, F. Tayalati, H. Mensouri, A. Azmani, and M. Azman, "Accurate AI assistance in contract law using retrieval-augmented generation to advance legal technology," Artificial Intelligence and Law, vol. 33, no. 2, pp. 287–315, Jan. 2025, doi: 10.1007/s10506-024-09421-8.</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US" sz="1300">
                <a:solidFill>
                  <a:schemeClr val="dk1"/>
                </a:solidFill>
                <a:latin typeface="Helvetica Neue"/>
                <a:ea typeface="Helvetica Neue"/>
                <a:cs typeface="Helvetica Neue"/>
                <a:sym typeface="Helvetica Neue"/>
              </a:rPr>
              <a:t>[11] S. Allu, K. Raj, P. Singh, and M. Kumar, "Beyond extraction: Contextualising tabular data for efficient summarisation by language models," Information Processing &amp; Management, vol. 61, no. 4, Article 103785, Jul. 2024, doi: 10.1016/j.ipm.2024.103785.</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US" sz="1300">
                <a:solidFill>
                  <a:schemeClr val="dk1"/>
                </a:solidFill>
                <a:latin typeface="Helvetica Neue"/>
                <a:ea typeface="Helvetica Neue"/>
                <a:cs typeface="Helvetica Neue"/>
                <a:sym typeface="Helvetica Neue"/>
              </a:rPr>
              <a:t>[12] F. Romeo, L. Martini, G. Rossi, and A. Bianchi, "ARPaCCino: An agentic-RAG for policy-as-code compliance," in Proc. 2025 International Conference on Software Engineering (ICSE), Melbourne, Australia, May 2025, pp. 892-903.</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US" sz="1300">
                <a:solidFill>
                  <a:schemeClr val="dk1"/>
                </a:solidFill>
                <a:latin typeface="Helvetica Neue"/>
                <a:ea typeface="Helvetica Neue"/>
                <a:cs typeface="Helvetica Neue"/>
                <a:sym typeface="Helvetica Neue"/>
              </a:rPr>
              <a:t>[13] </a:t>
            </a:r>
            <a:r>
              <a:rPr lang="en-US" sz="1300">
                <a:solidFill>
                  <a:schemeClr val="dk1"/>
                </a:solidFill>
                <a:latin typeface="Helvetica Neue"/>
                <a:ea typeface="Helvetica Neue"/>
                <a:cs typeface="Helvetica Neue"/>
                <a:sym typeface="Helvetica Neue"/>
              </a:rPr>
              <a:t>V. Karpukhin, B. Oğuz, S. Min, P. Lewis, L. Wu, S. Edunov, D. Chen, and W. Yih, "Dense Passage Retrieval for Open-Domain Question Answering," in Proc. 2020 Conf. Empirical Methods Natural Lang. Process. (EMNLP), Online, Nov. 2020, pp. 6769–6781.</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1200"/>
              </a:spcAft>
              <a:buNone/>
            </a:pPr>
            <a:r>
              <a:rPr lang="en-US" sz="1300">
                <a:solidFill>
                  <a:schemeClr val="dk1"/>
                </a:solidFill>
                <a:latin typeface="Helvetica Neue"/>
                <a:ea typeface="Helvetica Neue"/>
                <a:cs typeface="Helvetica Neue"/>
                <a:sym typeface="Helvetica Neue"/>
              </a:rPr>
              <a:t>[14] J. Balanos, M. Thompson, R. Davis, and S. Wilson, "KGRAG-Ex: Explainable retrieval-augmented generation with knowledge graph-based perturbations," in Proc. 2025 AAAI Conference on Artificial Intelligence, Vancouver, Canada, Feb. 2025, pp. 3456-3467.</a:t>
            </a:r>
            <a:endParaRPr sz="1100">
              <a:solidFill>
                <a:schemeClr val="dk1"/>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3ae280144eb_0_424"/>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References </a:t>
            </a:r>
            <a:r>
              <a:rPr b="0" lang="en-US" sz="2400"/>
              <a:t>(cont…)</a:t>
            </a:r>
            <a:endParaRPr sz="1800"/>
          </a:p>
        </p:txBody>
      </p:sp>
      <p:sp>
        <p:nvSpPr>
          <p:cNvPr id="335" name="Google Shape;335;g3ae280144eb_0_424"/>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Clr>
                <a:schemeClr val="dk1"/>
              </a:buClr>
              <a:buSzPts val="1100"/>
              <a:buFont typeface="Arial"/>
              <a:buNone/>
            </a:pPr>
            <a:r>
              <a:rPr lang="en-US" sz="1300">
                <a:solidFill>
                  <a:schemeClr val="dk1"/>
                </a:solidFill>
                <a:latin typeface="Helvetica Neue"/>
                <a:ea typeface="Helvetica Neue"/>
                <a:cs typeface="Helvetica Neue"/>
                <a:sym typeface="Helvetica Neue"/>
              </a:rPr>
              <a:t>[15] </a:t>
            </a:r>
            <a:r>
              <a:rPr lang="en-US" sz="1300">
                <a:solidFill>
                  <a:schemeClr val="dk1"/>
                </a:solidFill>
                <a:latin typeface="Helvetica Neue"/>
                <a:ea typeface="Helvetica Neue"/>
                <a:cs typeface="Helvetica Neue"/>
                <a:sym typeface="Helvetica Neue"/>
              </a:rPr>
              <a:t>Guttikonda, D., Indran, D., Narayanan, L., Pasarad, T., &amp; Sandesh B. J. (2025). Explainable AI: A Retrieval-Augmented Generation Based Framework for Model Interpretability. In Proceedings of the 17th International Conference on Agents and Artificial Intelligence (ICAART 2025) – Volume 3, pp. 948–955. DOI: 10.5220/0013241300003890.</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Clr>
                <a:schemeClr val="dk1"/>
              </a:buClr>
              <a:buSzPts val="1100"/>
              <a:buFont typeface="Arial"/>
              <a:buNone/>
            </a:pPr>
            <a:r>
              <a:rPr lang="en-US" sz="1300">
                <a:solidFill>
                  <a:schemeClr val="dk1"/>
                </a:solidFill>
                <a:latin typeface="Helvetica Neue"/>
                <a:ea typeface="Helvetica Neue"/>
                <a:cs typeface="Helvetica Neue"/>
                <a:sym typeface="Helvetica Neue"/>
              </a:rPr>
              <a:t>[16] Y. Sang, C. Gu, J. Guo, Y. Zhan, L. Chen, and H. Wang, "Towards explainable RAG: Interpreting the influence of retrieved passages on generation," in Proc. 2025 International Conference on Learning Representations (ICLR), Vienna, Austria, May 2025, pp. 1-14.</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Clr>
                <a:schemeClr val="dk1"/>
              </a:buClr>
              <a:buSzPts val="1100"/>
              <a:buFont typeface="Arial"/>
              <a:buNone/>
            </a:pPr>
            <a:r>
              <a:rPr lang="en-US" sz="1300">
                <a:solidFill>
                  <a:schemeClr val="dk1"/>
                </a:solidFill>
                <a:latin typeface="Helvetica Neue"/>
                <a:ea typeface="Helvetica Neue"/>
                <a:cs typeface="Helvetica Neue"/>
                <a:sym typeface="Helvetica Neue"/>
              </a:rPr>
              <a:t>[17] Z. Zhang, T. Xu, H. Zhang, Y. Liu, M. Chen, and L. Zhou, "Trustworthy alignment of retrieval-augmented large language models via reinforcement learning," IEEE Transactions on Neural Networks and Learning Systems, vol. 35, no. 11, pp. 15234-15247, Nov. 2024, doi: 10.1109/TNNLS.2024.3421756.</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Clr>
                <a:schemeClr val="dk1"/>
              </a:buClr>
              <a:buSzPts val="1100"/>
              <a:buFont typeface="Arial"/>
              <a:buNone/>
            </a:pPr>
            <a:r>
              <a:rPr lang="en-US" sz="1300">
                <a:solidFill>
                  <a:schemeClr val="dk1"/>
                </a:solidFill>
                <a:latin typeface="Helvetica Neue"/>
                <a:ea typeface="Helvetica Neue"/>
                <a:cs typeface="Helvetica Neue"/>
                <a:sym typeface="Helvetica Neue"/>
              </a:rPr>
              <a:t>[18] A. Sadowski and J. A. Chudziak, "Explainable rule application via structured prompting: A neural-symbolic approach," in Proc. 2025 International Joint Conference on Artificial Intelligence (IJCAI), Montreal, Canada, Aug. 2025, pp. 2145-2153.</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Clr>
                <a:schemeClr val="dk1"/>
              </a:buClr>
              <a:buSzPts val="1100"/>
              <a:buFont typeface="Arial"/>
              <a:buNone/>
            </a:pPr>
            <a:r>
              <a:rPr lang="en-US" sz="1300">
                <a:solidFill>
                  <a:schemeClr val="dk1"/>
                </a:solidFill>
                <a:latin typeface="Helvetica Neue"/>
                <a:ea typeface="Helvetica Neue"/>
                <a:cs typeface="Helvetica Neue"/>
                <a:sym typeface="Helvetica Neue"/>
              </a:rPr>
              <a:t>[19] Z. Sun, X. Li, L. Wu, J. Chen, Y. Wang, and H. Liu, "Logic rules as explanations for legal case retrieval," Artificial Intelligence and Law, vol. 32, no. 4, pp. 567-589, Dec. 2024, doi: 10.1007/s10506-024-09387-2.</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1200"/>
              </a:spcAft>
              <a:buClr>
                <a:schemeClr val="dk1"/>
              </a:buClr>
              <a:buSzPts val="1100"/>
              <a:buFont typeface="Arial"/>
              <a:buNone/>
            </a:pPr>
            <a:r>
              <a:rPr lang="en-US" sz="1300">
                <a:solidFill>
                  <a:schemeClr val="dk1"/>
                </a:solidFill>
                <a:latin typeface="Helvetica Neue"/>
                <a:ea typeface="Helvetica Neue"/>
                <a:cs typeface="Helvetica Neue"/>
                <a:sym typeface="Helvetica Neue"/>
              </a:rPr>
              <a:t>[20] S. Perçin, M. Färber, and G. Rehm, "Investigating the robustness of retrieval-augmented generation at the query level," in Proc. Workshop on Generation, Evaluation, and Metrics (GEM), Association for Computational Linguistics (ACL), Bangkok, Thailand, Aug. 2025, pp. 98-107.</a:t>
            </a:r>
            <a:endParaRPr sz="1300">
              <a:solidFill>
                <a:schemeClr val="dk1"/>
              </a:solidFill>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3"/>
          <p:cNvSpPr txBox="1"/>
          <p:nvPr/>
        </p:nvSpPr>
        <p:spPr>
          <a:xfrm>
            <a:off x="77118" y="804231"/>
            <a:ext cx="8956714" cy="5960125"/>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ctr">
              <a:lnSpc>
                <a:spcPct val="150000"/>
              </a:lnSpc>
              <a:spcBef>
                <a:spcPts val="700"/>
              </a:spcBef>
              <a:spcAft>
                <a:spcPts val="0"/>
              </a:spcAft>
              <a:buClr>
                <a:schemeClr val="dk1"/>
              </a:buClr>
              <a:buSzPts val="2500"/>
              <a:buFont typeface="Arial"/>
              <a:buNone/>
            </a:pPr>
            <a:r>
              <a:t/>
            </a:r>
            <a:endParaRPr b="1" sz="2000">
              <a:solidFill>
                <a:schemeClr val="dk1"/>
              </a:solidFill>
              <a:latin typeface="Helvetica Neue"/>
              <a:ea typeface="Helvetica Neue"/>
              <a:cs typeface="Helvetica Neue"/>
              <a:sym typeface="Helvetica Neue"/>
            </a:endParaRPr>
          </a:p>
          <a:p>
            <a:pPr indent="0" lvl="0" marL="95250" marR="0" rtl="0" algn="ctr">
              <a:lnSpc>
                <a:spcPct val="150000"/>
              </a:lnSpc>
              <a:spcBef>
                <a:spcPts val="700"/>
              </a:spcBef>
              <a:spcAft>
                <a:spcPts val="0"/>
              </a:spcAft>
              <a:buClr>
                <a:schemeClr val="dk1"/>
              </a:buClr>
              <a:buSzPts val="2500"/>
              <a:buFont typeface="Arial"/>
              <a:buNone/>
            </a:pPr>
            <a:r>
              <a:rPr b="1" lang="en-US" sz="2000">
                <a:solidFill>
                  <a:schemeClr val="dk1"/>
                </a:solidFill>
                <a:latin typeface="Helvetica Neue"/>
                <a:ea typeface="Helvetica Neue"/>
                <a:cs typeface="Helvetica Neue"/>
                <a:sym typeface="Helvetica Neue"/>
              </a:rPr>
              <a:t>Thanks</a:t>
            </a:r>
            <a:r>
              <a:rPr lang="en-US" sz="1400">
                <a:solidFill>
                  <a:schemeClr val="dk1"/>
                </a:solidFill>
                <a:latin typeface="Helvetica Neue"/>
                <a:ea typeface="Helvetica Neue"/>
                <a:cs typeface="Helvetica Neue"/>
                <a:sym typeface="Helvetica Neue"/>
              </a:rPr>
              <a:t>.</a:t>
            </a:r>
            <a:endParaRPr/>
          </a:p>
        </p:txBody>
      </p:sp>
      <p:pic>
        <p:nvPicPr>
          <p:cNvPr descr="🙏" id="341" name="Google Shape;341;p33"/>
          <p:cNvPicPr preferRelativeResize="0"/>
          <p:nvPr/>
        </p:nvPicPr>
        <p:blipFill rotWithShape="1">
          <a:blip r:embed="rId3">
            <a:alphaModFix/>
          </a:blip>
          <a:srcRect b="0" l="0" r="0" t="0"/>
          <a:stretch/>
        </p:blipFill>
        <p:spPr>
          <a:xfrm>
            <a:off x="4189164" y="2663328"/>
            <a:ext cx="765672" cy="76567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s-8">
  <a:themeElements>
    <a:clrScheme name="Custom 1">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002060"/>
      </a:hlink>
      <a:folHlink>
        <a:srgbClr val="007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s-8">
  <a:themeElements>
    <a:clrScheme name="Custom 1">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002060"/>
      </a:hlink>
      <a:folHlink>
        <a:srgbClr val="007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2008-07-20T15:16:37Z</dcterms:created>
  <dc:creator>Marilyn Turnamian</dc:creator>
</cp:coreProperties>
</file>